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1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3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17.xml"/><Relationship Id="rId39" Type="http://schemas.openxmlformats.org/officeDocument/2006/relationships/slideLayout" Target="../slideLayouts/slideLayout7.xml"/><Relationship Id="rId38" Type="http://schemas.openxmlformats.org/officeDocument/2006/relationships/tags" Target="../tags/tag49.xml"/><Relationship Id="rId37" Type="http://schemas.openxmlformats.org/officeDocument/2006/relationships/tags" Target="../tags/tag48.xml"/><Relationship Id="rId36" Type="http://schemas.openxmlformats.org/officeDocument/2006/relationships/tags" Target="../tags/tag47.xml"/><Relationship Id="rId35" Type="http://schemas.openxmlformats.org/officeDocument/2006/relationships/tags" Target="../tags/tag46.xml"/><Relationship Id="rId34" Type="http://schemas.openxmlformats.org/officeDocument/2006/relationships/tags" Target="../tags/tag45.xml"/><Relationship Id="rId33" Type="http://schemas.openxmlformats.org/officeDocument/2006/relationships/tags" Target="../tags/tag44.xml"/><Relationship Id="rId32" Type="http://schemas.openxmlformats.org/officeDocument/2006/relationships/tags" Target="../tags/tag43.xml"/><Relationship Id="rId31" Type="http://schemas.openxmlformats.org/officeDocument/2006/relationships/tags" Target="../tags/tag42.xml"/><Relationship Id="rId30" Type="http://schemas.openxmlformats.org/officeDocument/2006/relationships/tags" Target="../tags/tag41.xml"/><Relationship Id="rId3" Type="http://schemas.openxmlformats.org/officeDocument/2006/relationships/image" Target="../media/image6.svg"/><Relationship Id="rId29" Type="http://schemas.openxmlformats.org/officeDocument/2006/relationships/tags" Target="../tags/tag40.xml"/><Relationship Id="rId28" Type="http://schemas.openxmlformats.org/officeDocument/2006/relationships/tags" Target="../tags/tag39.xml"/><Relationship Id="rId27" Type="http://schemas.openxmlformats.org/officeDocument/2006/relationships/tags" Target="../tags/tag38.xml"/><Relationship Id="rId26" Type="http://schemas.openxmlformats.org/officeDocument/2006/relationships/tags" Target="../tags/tag37.xml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image" Target="../media/image5.png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51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tags" Target="../tags/tag6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3" Type="http://schemas.openxmlformats.org/officeDocument/2006/relationships/slideLayout" Target="../slideLayouts/slideLayout7.xml"/><Relationship Id="rId42" Type="http://schemas.openxmlformats.org/officeDocument/2006/relationships/tags" Target="../tags/tag111.xml"/><Relationship Id="rId41" Type="http://schemas.openxmlformats.org/officeDocument/2006/relationships/tags" Target="../tags/tag110.xml"/><Relationship Id="rId40" Type="http://schemas.openxmlformats.org/officeDocument/2006/relationships/tags" Target="../tags/tag109.xml"/><Relationship Id="rId4" Type="http://schemas.openxmlformats.org/officeDocument/2006/relationships/tags" Target="../tags/tag77.xml"/><Relationship Id="rId39" Type="http://schemas.openxmlformats.org/officeDocument/2006/relationships/tags" Target="../tags/tag108.xml"/><Relationship Id="rId38" Type="http://schemas.openxmlformats.org/officeDocument/2006/relationships/tags" Target="../tags/tag107.xml"/><Relationship Id="rId37" Type="http://schemas.openxmlformats.org/officeDocument/2006/relationships/tags" Target="../tags/tag106.xml"/><Relationship Id="rId36" Type="http://schemas.openxmlformats.org/officeDocument/2006/relationships/tags" Target="../tags/tag105.xml"/><Relationship Id="rId35" Type="http://schemas.openxmlformats.org/officeDocument/2006/relationships/tags" Target="../tags/tag104.xml"/><Relationship Id="rId34" Type="http://schemas.openxmlformats.org/officeDocument/2006/relationships/tags" Target="../tags/tag103.xml"/><Relationship Id="rId33" Type="http://schemas.openxmlformats.org/officeDocument/2006/relationships/tags" Target="../tags/tag102.xml"/><Relationship Id="rId32" Type="http://schemas.openxmlformats.org/officeDocument/2006/relationships/tags" Target="../tags/tag101.xml"/><Relationship Id="rId31" Type="http://schemas.openxmlformats.org/officeDocument/2006/relationships/image" Target="../media/image12.svg"/><Relationship Id="rId30" Type="http://schemas.openxmlformats.org/officeDocument/2006/relationships/image" Target="../media/image11.png"/><Relationship Id="rId3" Type="http://schemas.openxmlformats.org/officeDocument/2006/relationships/tags" Target="../tags/tag76.xml"/><Relationship Id="rId29" Type="http://schemas.openxmlformats.org/officeDocument/2006/relationships/tags" Target="../tags/tag100.xml"/><Relationship Id="rId28" Type="http://schemas.openxmlformats.org/officeDocument/2006/relationships/tags" Target="../tags/tag99.xml"/><Relationship Id="rId27" Type="http://schemas.openxmlformats.org/officeDocument/2006/relationships/tags" Target="../tags/tag98.xml"/><Relationship Id="rId26" Type="http://schemas.openxmlformats.org/officeDocument/2006/relationships/tags" Target="../tags/tag97.xml"/><Relationship Id="rId25" Type="http://schemas.openxmlformats.org/officeDocument/2006/relationships/tags" Target="../tags/tag96.xml"/><Relationship Id="rId24" Type="http://schemas.openxmlformats.org/officeDocument/2006/relationships/tags" Target="../tags/tag95.xml"/><Relationship Id="rId23" Type="http://schemas.openxmlformats.org/officeDocument/2006/relationships/tags" Target="../tags/tag94.xml"/><Relationship Id="rId22" Type="http://schemas.openxmlformats.org/officeDocument/2006/relationships/tags" Target="../tags/tag93.xml"/><Relationship Id="rId21" Type="http://schemas.openxmlformats.org/officeDocument/2006/relationships/tags" Target="../tags/tag92.xml"/><Relationship Id="rId20" Type="http://schemas.openxmlformats.org/officeDocument/2006/relationships/tags" Target="../tags/tag91.xml"/><Relationship Id="rId2" Type="http://schemas.openxmlformats.org/officeDocument/2006/relationships/tags" Target="../tags/tag75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image" Target="../media/image10.svg"/><Relationship Id="rId12" Type="http://schemas.openxmlformats.org/officeDocument/2006/relationships/image" Target="../media/image9.png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20.xml"/><Relationship Id="rId8" Type="http://schemas.openxmlformats.org/officeDocument/2006/relationships/tags" Target="../tags/tag119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6" Type="http://schemas.openxmlformats.org/officeDocument/2006/relationships/slideLayout" Target="../slideLayouts/slideLayout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" Type="http://schemas.openxmlformats.org/officeDocument/2006/relationships/tags" Target="../tags/tag130.xml"/><Relationship Id="rId18" Type="http://schemas.openxmlformats.org/officeDocument/2006/relationships/tags" Target="../tags/tag129.xml"/><Relationship Id="rId17" Type="http://schemas.openxmlformats.org/officeDocument/2006/relationships/tags" Target="../tags/tag128.xml"/><Relationship Id="rId16" Type="http://schemas.openxmlformats.org/officeDocument/2006/relationships/tags" Target="../tags/tag127.xml"/><Relationship Id="rId15" Type="http://schemas.openxmlformats.org/officeDocument/2006/relationships/tags" Target="../tags/tag126.xml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tags" Target="../tags/tag122.xml"/><Relationship Id="rId10" Type="http://schemas.openxmlformats.org/officeDocument/2006/relationships/tags" Target="../tags/tag121.xml"/><Relationship Id="rId1" Type="http://schemas.openxmlformats.org/officeDocument/2006/relationships/tags" Target="../tags/tag1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168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7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8" Type="http://schemas.openxmlformats.org/officeDocument/2006/relationships/slideLayout" Target="../slideLayouts/slideLayout7.xml"/><Relationship Id="rId57" Type="http://schemas.openxmlformats.org/officeDocument/2006/relationships/tags" Target="../tags/tag240.xml"/><Relationship Id="rId56" Type="http://schemas.openxmlformats.org/officeDocument/2006/relationships/tags" Target="../tags/tag239.xml"/><Relationship Id="rId55" Type="http://schemas.openxmlformats.org/officeDocument/2006/relationships/tags" Target="../tags/tag238.xml"/><Relationship Id="rId54" Type="http://schemas.openxmlformats.org/officeDocument/2006/relationships/tags" Target="../tags/tag237.xml"/><Relationship Id="rId53" Type="http://schemas.openxmlformats.org/officeDocument/2006/relationships/tags" Target="../tags/tag236.xml"/><Relationship Id="rId52" Type="http://schemas.openxmlformats.org/officeDocument/2006/relationships/tags" Target="../tags/tag235.xml"/><Relationship Id="rId51" Type="http://schemas.openxmlformats.org/officeDocument/2006/relationships/tags" Target="../tags/tag234.xml"/><Relationship Id="rId50" Type="http://schemas.openxmlformats.org/officeDocument/2006/relationships/tags" Target="../tags/tag233.xml"/><Relationship Id="rId5" Type="http://schemas.openxmlformats.org/officeDocument/2006/relationships/tags" Target="../tags/tag194.xml"/><Relationship Id="rId49" Type="http://schemas.openxmlformats.org/officeDocument/2006/relationships/tags" Target="../tags/tag232.xml"/><Relationship Id="rId48" Type="http://schemas.openxmlformats.org/officeDocument/2006/relationships/tags" Target="../tags/tag231.xml"/><Relationship Id="rId47" Type="http://schemas.openxmlformats.org/officeDocument/2006/relationships/tags" Target="../tags/tag230.xml"/><Relationship Id="rId46" Type="http://schemas.openxmlformats.org/officeDocument/2006/relationships/tags" Target="../tags/tag229.xml"/><Relationship Id="rId45" Type="http://schemas.openxmlformats.org/officeDocument/2006/relationships/tags" Target="../tags/tag228.xml"/><Relationship Id="rId44" Type="http://schemas.openxmlformats.org/officeDocument/2006/relationships/tags" Target="../tags/tag227.xml"/><Relationship Id="rId43" Type="http://schemas.openxmlformats.org/officeDocument/2006/relationships/tags" Target="../tags/tag226.xml"/><Relationship Id="rId42" Type="http://schemas.openxmlformats.org/officeDocument/2006/relationships/image" Target="../media/image18.svg"/><Relationship Id="rId41" Type="http://schemas.openxmlformats.org/officeDocument/2006/relationships/image" Target="../media/image17.png"/><Relationship Id="rId40" Type="http://schemas.openxmlformats.org/officeDocument/2006/relationships/tags" Target="../tags/tag225.xml"/><Relationship Id="rId4" Type="http://schemas.openxmlformats.org/officeDocument/2006/relationships/tags" Target="../tags/tag193.xml"/><Relationship Id="rId39" Type="http://schemas.openxmlformats.org/officeDocument/2006/relationships/tags" Target="../tags/tag224.xml"/><Relationship Id="rId38" Type="http://schemas.openxmlformats.org/officeDocument/2006/relationships/tags" Target="../tags/tag223.xml"/><Relationship Id="rId37" Type="http://schemas.openxmlformats.org/officeDocument/2006/relationships/tags" Target="../tags/tag222.xml"/><Relationship Id="rId36" Type="http://schemas.openxmlformats.org/officeDocument/2006/relationships/tags" Target="../tags/tag221.xml"/><Relationship Id="rId35" Type="http://schemas.openxmlformats.org/officeDocument/2006/relationships/tags" Target="../tags/tag220.xml"/><Relationship Id="rId34" Type="http://schemas.openxmlformats.org/officeDocument/2006/relationships/tags" Target="../tags/tag219.xml"/><Relationship Id="rId33" Type="http://schemas.openxmlformats.org/officeDocument/2006/relationships/tags" Target="../tags/tag218.xml"/><Relationship Id="rId32" Type="http://schemas.openxmlformats.org/officeDocument/2006/relationships/tags" Target="../tags/tag217.xml"/><Relationship Id="rId31" Type="http://schemas.openxmlformats.org/officeDocument/2006/relationships/tags" Target="../tags/tag216.xml"/><Relationship Id="rId30" Type="http://schemas.openxmlformats.org/officeDocument/2006/relationships/tags" Target="../tags/tag215.xml"/><Relationship Id="rId3" Type="http://schemas.openxmlformats.org/officeDocument/2006/relationships/tags" Target="../tags/tag192.xml"/><Relationship Id="rId29" Type="http://schemas.openxmlformats.org/officeDocument/2006/relationships/tags" Target="../tags/tag214.xml"/><Relationship Id="rId28" Type="http://schemas.openxmlformats.org/officeDocument/2006/relationships/tags" Target="../tags/tag213.xml"/><Relationship Id="rId27" Type="http://schemas.openxmlformats.org/officeDocument/2006/relationships/tags" Target="../tags/tag212.xml"/><Relationship Id="rId26" Type="http://schemas.openxmlformats.org/officeDocument/2006/relationships/image" Target="../media/image16.svg"/><Relationship Id="rId25" Type="http://schemas.openxmlformats.org/officeDocument/2006/relationships/image" Target="../media/image15.png"/><Relationship Id="rId24" Type="http://schemas.openxmlformats.org/officeDocument/2006/relationships/tags" Target="../tags/tag211.xml"/><Relationship Id="rId23" Type="http://schemas.openxmlformats.org/officeDocument/2006/relationships/tags" Target="../tags/tag210.xml"/><Relationship Id="rId22" Type="http://schemas.openxmlformats.org/officeDocument/2006/relationships/tags" Target="../tags/tag209.xml"/><Relationship Id="rId21" Type="http://schemas.openxmlformats.org/officeDocument/2006/relationships/tags" Target="../tags/tag208.xml"/><Relationship Id="rId20" Type="http://schemas.openxmlformats.org/officeDocument/2006/relationships/tags" Target="../tags/tag207.xml"/><Relationship Id="rId2" Type="http://schemas.openxmlformats.org/officeDocument/2006/relationships/tags" Target="../tags/tag191.xml"/><Relationship Id="rId19" Type="http://schemas.openxmlformats.org/officeDocument/2006/relationships/tags" Target="../tags/tag206.xml"/><Relationship Id="rId18" Type="http://schemas.openxmlformats.org/officeDocument/2006/relationships/tags" Target="../tags/tag205.xml"/><Relationship Id="rId17" Type="http://schemas.openxmlformats.org/officeDocument/2006/relationships/tags" Target="../tags/tag204.xml"/><Relationship Id="rId16" Type="http://schemas.openxmlformats.org/officeDocument/2006/relationships/tags" Target="../tags/tag203.xml"/><Relationship Id="rId15" Type="http://schemas.openxmlformats.org/officeDocument/2006/relationships/tags" Target="../tags/tag202.xml"/><Relationship Id="rId14" Type="http://schemas.openxmlformats.org/officeDocument/2006/relationships/tags" Target="../tags/tag201.xml"/><Relationship Id="rId13" Type="http://schemas.openxmlformats.org/officeDocument/2006/relationships/tags" Target="../tags/tag200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tags" Target="../tags/tag199.xml"/><Relationship Id="rId1" Type="http://schemas.openxmlformats.org/officeDocument/2006/relationships/tags" Target="../tags/tag19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45.xml"/><Relationship Id="rId8" Type="http://schemas.openxmlformats.org/officeDocument/2006/relationships/tags" Target="../tags/tag244.xml"/><Relationship Id="rId7" Type="http://schemas.openxmlformats.org/officeDocument/2006/relationships/tags" Target="../tags/tag24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242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250.xml"/><Relationship Id="rId13" Type="http://schemas.openxmlformats.org/officeDocument/2006/relationships/tags" Target="../tags/tag249.xml"/><Relationship Id="rId12" Type="http://schemas.openxmlformats.org/officeDocument/2006/relationships/tags" Target="../tags/tag248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tags" Target="../tags/tag24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tags" Target="../tags/tag25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63.xml"/><Relationship Id="rId8" Type="http://schemas.openxmlformats.org/officeDocument/2006/relationships/tags" Target="../tags/tag262.xml"/><Relationship Id="rId7" Type="http://schemas.openxmlformats.org/officeDocument/2006/relationships/tags" Target="../tags/tag261.xml"/><Relationship Id="rId6" Type="http://schemas.openxmlformats.org/officeDocument/2006/relationships/tags" Target="../tags/tag260.xml"/><Relationship Id="rId5" Type="http://schemas.openxmlformats.org/officeDocument/2006/relationships/tags" Target="../tags/tag259.xml"/><Relationship Id="rId4" Type="http://schemas.openxmlformats.org/officeDocument/2006/relationships/tags" Target="../tags/tag258.xml"/><Relationship Id="rId3" Type="http://schemas.openxmlformats.org/officeDocument/2006/relationships/tags" Target="../tags/tag257.xml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282.xml"/><Relationship Id="rId27" Type="http://schemas.openxmlformats.org/officeDocument/2006/relationships/tags" Target="../tags/tag281.xml"/><Relationship Id="rId26" Type="http://schemas.openxmlformats.org/officeDocument/2006/relationships/tags" Target="../tags/tag280.xml"/><Relationship Id="rId25" Type="http://schemas.openxmlformats.org/officeDocument/2006/relationships/tags" Target="../tags/tag279.xml"/><Relationship Id="rId24" Type="http://schemas.openxmlformats.org/officeDocument/2006/relationships/tags" Target="../tags/tag278.xml"/><Relationship Id="rId23" Type="http://schemas.openxmlformats.org/officeDocument/2006/relationships/tags" Target="../tags/tag277.xml"/><Relationship Id="rId22" Type="http://schemas.openxmlformats.org/officeDocument/2006/relationships/tags" Target="../tags/tag276.xml"/><Relationship Id="rId21" Type="http://schemas.openxmlformats.org/officeDocument/2006/relationships/tags" Target="../tags/tag275.xml"/><Relationship Id="rId20" Type="http://schemas.openxmlformats.org/officeDocument/2006/relationships/tags" Target="../tags/tag274.xml"/><Relationship Id="rId2" Type="http://schemas.openxmlformats.org/officeDocument/2006/relationships/tags" Target="../tags/tag256.xml"/><Relationship Id="rId19" Type="http://schemas.openxmlformats.org/officeDocument/2006/relationships/tags" Target="../tags/tag273.xml"/><Relationship Id="rId18" Type="http://schemas.openxmlformats.org/officeDocument/2006/relationships/tags" Target="../tags/tag272.xml"/><Relationship Id="rId17" Type="http://schemas.openxmlformats.org/officeDocument/2006/relationships/tags" Target="../tags/tag271.xml"/><Relationship Id="rId16" Type="http://schemas.openxmlformats.org/officeDocument/2006/relationships/tags" Target="../tags/tag270.xml"/><Relationship Id="rId15" Type="http://schemas.openxmlformats.org/officeDocument/2006/relationships/tags" Target="../tags/tag269.xml"/><Relationship Id="rId14" Type="http://schemas.openxmlformats.org/officeDocument/2006/relationships/tags" Target="../tags/tag268.xml"/><Relationship Id="rId13" Type="http://schemas.openxmlformats.org/officeDocument/2006/relationships/tags" Target="../tags/tag267.xml"/><Relationship Id="rId12" Type="http://schemas.openxmlformats.org/officeDocument/2006/relationships/tags" Target="../tags/tag266.xml"/><Relationship Id="rId11" Type="http://schemas.openxmlformats.org/officeDocument/2006/relationships/tags" Target="../tags/tag265.xml"/><Relationship Id="rId10" Type="http://schemas.openxmlformats.org/officeDocument/2006/relationships/tags" Target="../tags/tag264.xml"/><Relationship Id="rId1" Type="http://schemas.openxmlformats.org/officeDocument/2006/relationships/tags" Target="../tags/tag255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287.xml"/><Relationship Id="rId4" Type="http://schemas.openxmlformats.org/officeDocument/2006/relationships/tags" Target="../tags/tag286.xml"/><Relationship Id="rId3" Type="http://schemas.openxmlformats.org/officeDocument/2006/relationships/tags" Target="../tags/tag285.xml"/><Relationship Id="rId2" Type="http://schemas.openxmlformats.org/officeDocument/2006/relationships/tags" Target="../tags/tag284.xml"/><Relationship Id="rId1" Type="http://schemas.openxmlformats.org/officeDocument/2006/relationships/tags" Target="../tags/tag283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291.xml"/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" Type="http://schemas.openxmlformats.org/officeDocument/2006/relationships/tags" Target="../tags/tag288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tags" Target="../tags/tag298.xml"/><Relationship Id="rId6" Type="http://schemas.openxmlformats.org/officeDocument/2006/relationships/tags" Target="../tags/tag297.xml"/><Relationship Id="rId5" Type="http://schemas.openxmlformats.org/officeDocument/2006/relationships/tags" Target="../tags/tag296.xml"/><Relationship Id="rId4" Type="http://schemas.openxmlformats.org/officeDocument/2006/relationships/tags" Target="../tags/tag295.xml"/><Relationship Id="rId3" Type="http://schemas.openxmlformats.org/officeDocument/2006/relationships/tags" Target="../tags/tag294.xml"/><Relationship Id="rId2" Type="http://schemas.openxmlformats.org/officeDocument/2006/relationships/tags" Target="../tags/tag293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05.xml"/><Relationship Id="rId17" Type="http://schemas.openxmlformats.org/officeDocument/2006/relationships/tags" Target="../tags/tag304.xml"/><Relationship Id="rId16" Type="http://schemas.openxmlformats.org/officeDocument/2006/relationships/tags" Target="../tags/tag303.xml"/><Relationship Id="rId15" Type="http://schemas.openxmlformats.org/officeDocument/2006/relationships/image" Target="../media/image22.svg"/><Relationship Id="rId14" Type="http://schemas.openxmlformats.org/officeDocument/2006/relationships/image" Target="../media/image21.png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tags" Target="../tags/tag300.xml"/><Relationship Id="rId10" Type="http://schemas.openxmlformats.org/officeDocument/2006/relationships/tags" Target="../tags/tag299.xml"/><Relationship Id="rId1" Type="http://schemas.openxmlformats.org/officeDocument/2006/relationships/tags" Target="../tags/tag29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307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315.xml"/><Relationship Id="rId13" Type="http://schemas.openxmlformats.org/officeDocument/2006/relationships/tags" Target="../tags/tag314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tags" Target="../tags/tag306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tags" Target="../tags/tag31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29.xml"/><Relationship Id="rId8" Type="http://schemas.openxmlformats.org/officeDocument/2006/relationships/tags" Target="../tags/tag328.xml"/><Relationship Id="rId7" Type="http://schemas.openxmlformats.org/officeDocument/2006/relationships/tags" Target="../tags/tag327.xml"/><Relationship Id="rId6" Type="http://schemas.openxmlformats.org/officeDocument/2006/relationships/tags" Target="../tags/tag32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9" Type="http://schemas.openxmlformats.org/officeDocument/2006/relationships/slideLayout" Target="../slideLayouts/slideLayout7.xml"/><Relationship Id="rId38" Type="http://schemas.openxmlformats.org/officeDocument/2006/relationships/tags" Target="../tags/tag358.xml"/><Relationship Id="rId37" Type="http://schemas.openxmlformats.org/officeDocument/2006/relationships/tags" Target="../tags/tag357.xml"/><Relationship Id="rId36" Type="http://schemas.openxmlformats.org/officeDocument/2006/relationships/tags" Target="../tags/tag356.xml"/><Relationship Id="rId35" Type="http://schemas.openxmlformats.org/officeDocument/2006/relationships/tags" Target="../tags/tag355.xml"/><Relationship Id="rId34" Type="http://schemas.openxmlformats.org/officeDocument/2006/relationships/tags" Target="../tags/tag354.xml"/><Relationship Id="rId33" Type="http://schemas.openxmlformats.org/officeDocument/2006/relationships/tags" Target="../tags/tag353.xml"/><Relationship Id="rId32" Type="http://schemas.openxmlformats.org/officeDocument/2006/relationships/tags" Target="../tags/tag352.xml"/><Relationship Id="rId31" Type="http://schemas.openxmlformats.org/officeDocument/2006/relationships/tags" Target="../tags/tag351.xml"/><Relationship Id="rId30" Type="http://schemas.openxmlformats.org/officeDocument/2006/relationships/tags" Target="../tags/tag350.xml"/><Relationship Id="rId3" Type="http://schemas.openxmlformats.org/officeDocument/2006/relationships/tags" Target="../tags/tag323.xml"/><Relationship Id="rId29" Type="http://schemas.openxmlformats.org/officeDocument/2006/relationships/tags" Target="../tags/tag349.xml"/><Relationship Id="rId28" Type="http://schemas.openxmlformats.org/officeDocument/2006/relationships/tags" Target="../tags/tag348.xml"/><Relationship Id="rId27" Type="http://schemas.openxmlformats.org/officeDocument/2006/relationships/tags" Target="../tags/tag347.xml"/><Relationship Id="rId26" Type="http://schemas.openxmlformats.org/officeDocument/2006/relationships/tags" Target="../tags/tag346.xml"/><Relationship Id="rId25" Type="http://schemas.openxmlformats.org/officeDocument/2006/relationships/tags" Target="../tags/tag345.xml"/><Relationship Id="rId24" Type="http://schemas.openxmlformats.org/officeDocument/2006/relationships/tags" Target="../tags/tag344.xml"/><Relationship Id="rId23" Type="http://schemas.openxmlformats.org/officeDocument/2006/relationships/tags" Target="../tags/tag343.xml"/><Relationship Id="rId22" Type="http://schemas.openxmlformats.org/officeDocument/2006/relationships/tags" Target="../tags/tag342.xml"/><Relationship Id="rId21" Type="http://schemas.openxmlformats.org/officeDocument/2006/relationships/tags" Target="../tags/tag341.xml"/><Relationship Id="rId20" Type="http://schemas.openxmlformats.org/officeDocument/2006/relationships/tags" Target="../tags/tag340.xml"/><Relationship Id="rId2" Type="http://schemas.openxmlformats.org/officeDocument/2006/relationships/tags" Target="../tags/tag322.xml"/><Relationship Id="rId19" Type="http://schemas.openxmlformats.org/officeDocument/2006/relationships/tags" Target="../tags/tag339.xml"/><Relationship Id="rId18" Type="http://schemas.openxmlformats.org/officeDocument/2006/relationships/tags" Target="../tags/tag338.xml"/><Relationship Id="rId17" Type="http://schemas.openxmlformats.org/officeDocument/2006/relationships/tags" Target="../tags/tag337.xml"/><Relationship Id="rId16" Type="http://schemas.openxmlformats.org/officeDocument/2006/relationships/tags" Target="../tags/tag336.xml"/><Relationship Id="rId15" Type="http://schemas.openxmlformats.org/officeDocument/2006/relationships/tags" Target="../tags/tag335.xml"/><Relationship Id="rId14" Type="http://schemas.openxmlformats.org/officeDocument/2006/relationships/tags" Target="../tags/tag334.xml"/><Relationship Id="rId13" Type="http://schemas.openxmlformats.org/officeDocument/2006/relationships/tags" Target="../tags/tag333.xml"/><Relationship Id="rId12" Type="http://schemas.openxmlformats.org/officeDocument/2006/relationships/tags" Target="../tags/tag332.xml"/><Relationship Id="rId11" Type="http://schemas.openxmlformats.org/officeDocument/2006/relationships/tags" Target="../tags/tag331.xml"/><Relationship Id="rId10" Type="http://schemas.openxmlformats.org/officeDocument/2006/relationships/tags" Target="../tags/tag330.xml"/><Relationship Id="rId1" Type="http://schemas.openxmlformats.org/officeDocument/2006/relationships/tags" Target="../tags/tag32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65.xml"/><Relationship Id="rId8" Type="http://schemas.openxmlformats.org/officeDocument/2006/relationships/tags" Target="../tags/tag364.xml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tags" Target="../tags/tag363.xml"/><Relationship Id="rId4" Type="http://schemas.openxmlformats.org/officeDocument/2006/relationships/tags" Target="../tags/tag362.xml"/><Relationship Id="rId3" Type="http://schemas.openxmlformats.org/officeDocument/2006/relationships/tags" Target="../tags/tag361.xml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380.xml"/><Relationship Id="rId27" Type="http://schemas.openxmlformats.org/officeDocument/2006/relationships/tags" Target="../tags/tag379.xml"/><Relationship Id="rId26" Type="http://schemas.openxmlformats.org/officeDocument/2006/relationships/tags" Target="../tags/tag378.xml"/><Relationship Id="rId25" Type="http://schemas.openxmlformats.org/officeDocument/2006/relationships/tags" Target="../tags/tag377.xml"/><Relationship Id="rId24" Type="http://schemas.openxmlformats.org/officeDocument/2006/relationships/tags" Target="../tags/tag376.xml"/><Relationship Id="rId23" Type="http://schemas.openxmlformats.org/officeDocument/2006/relationships/image" Target="../media/image28.svg"/><Relationship Id="rId22" Type="http://schemas.openxmlformats.org/officeDocument/2006/relationships/image" Target="../media/image27.png"/><Relationship Id="rId21" Type="http://schemas.openxmlformats.org/officeDocument/2006/relationships/tags" Target="../tags/tag375.xml"/><Relationship Id="rId20" Type="http://schemas.openxmlformats.org/officeDocument/2006/relationships/tags" Target="../tags/tag374.xml"/><Relationship Id="rId2" Type="http://schemas.openxmlformats.org/officeDocument/2006/relationships/tags" Target="../tags/tag360.xml"/><Relationship Id="rId19" Type="http://schemas.openxmlformats.org/officeDocument/2006/relationships/tags" Target="../tags/tag373.xml"/><Relationship Id="rId18" Type="http://schemas.openxmlformats.org/officeDocument/2006/relationships/tags" Target="../tags/tag372.xml"/><Relationship Id="rId17" Type="http://schemas.openxmlformats.org/officeDocument/2006/relationships/tags" Target="../tags/tag371.xml"/><Relationship Id="rId16" Type="http://schemas.openxmlformats.org/officeDocument/2006/relationships/tags" Target="../tags/tag370.xml"/><Relationship Id="rId15" Type="http://schemas.openxmlformats.org/officeDocument/2006/relationships/image" Target="../media/image26.svg"/><Relationship Id="rId14" Type="http://schemas.openxmlformats.org/officeDocument/2006/relationships/image" Target="../media/image25.png"/><Relationship Id="rId13" Type="http://schemas.openxmlformats.org/officeDocument/2006/relationships/tags" Target="../tags/tag369.xml"/><Relationship Id="rId12" Type="http://schemas.openxmlformats.org/officeDocument/2006/relationships/tags" Target="../tags/tag368.xml"/><Relationship Id="rId11" Type="http://schemas.openxmlformats.org/officeDocument/2006/relationships/tags" Target="../tags/tag367.xml"/><Relationship Id="rId10" Type="http://schemas.openxmlformats.org/officeDocument/2006/relationships/tags" Target="../tags/tag366.xml"/><Relationship Id="rId1" Type="http://schemas.openxmlformats.org/officeDocument/2006/relationships/tags" Target="../tags/tag359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385.xml"/><Relationship Id="rId4" Type="http://schemas.openxmlformats.org/officeDocument/2006/relationships/tags" Target="../tags/tag384.xml"/><Relationship Id="rId3" Type="http://schemas.openxmlformats.org/officeDocument/2006/relationships/tags" Target="../tags/tag383.xml"/><Relationship Id="rId2" Type="http://schemas.openxmlformats.org/officeDocument/2006/relationships/tags" Target="../tags/tag382.xml"/><Relationship Id="rId1" Type="http://schemas.openxmlformats.org/officeDocument/2006/relationships/tags" Target="../tags/tag38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90.xml"/><Relationship Id="rId8" Type="http://schemas.openxmlformats.org/officeDocument/2006/relationships/tags" Target="../tags/tag389.xml"/><Relationship Id="rId7" Type="http://schemas.openxmlformats.org/officeDocument/2006/relationships/tags" Target="../tags/tag388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387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395.xml"/><Relationship Id="rId13" Type="http://schemas.openxmlformats.org/officeDocument/2006/relationships/tags" Target="../tags/tag394.xml"/><Relationship Id="rId12" Type="http://schemas.openxmlformats.org/officeDocument/2006/relationships/tags" Target="../tags/tag393.xml"/><Relationship Id="rId11" Type="http://schemas.openxmlformats.org/officeDocument/2006/relationships/tags" Target="../tags/tag392.xml"/><Relationship Id="rId10" Type="http://schemas.openxmlformats.org/officeDocument/2006/relationships/tags" Target="../tags/tag391.xml"/><Relationship Id="rId1" Type="http://schemas.openxmlformats.org/officeDocument/2006/relationships/tags" Target="../tags/tag38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404.xml"/><Relationship Id="rId8" Type="http://schemas.openxmlformats.org/officeDocument/2006/relationships/tags" Target="../tags/tag403.xml"/><Relationship Id="rId7" Type="http://schemas.openxmlformats.org/officeDocument/2006/relationships/tags" Target="../tags/tag402.xml"/><Relationship Id="rId6" Type="http://schemas.openxmlformats.org/officeDocument/2006/relationships/tags" Target="../tags/tag401.xml"/><Relationship Id="rId5" Type="http://schemas.openxmlformats.org/officeDocument/2006/relationships/tags" Target="../tags/tag400.xml"/><Relationship Id="rId40" Type="http://schemas.openxmlformats.org/officeDocument/2006/relationships/slideLayout" Target="../slideLayouts/slideLayout7.xml"/><Relationship Id="rId4" Type="http://schemas.openxmlformats.org/officeDocument/2006/relationships/tags" Target="../tags/tag399.xml"/><Relationship Id="rId39" Type="http://schemas.openxmlformats.org/officeDocument/2006/relationships/tags" Target="../tags/tag434.xml"/><Relationship Id="rId38" Type="http://schemas.openxmlformats.org/officeDocument/2006/relationships/tags" Target="../tags/tag433.xml"/><Relationship Id="rId37" Type="http://schemas.openxmlformats.org/officeDocument/2006/relationships/tags" Target="../tags/tag432.xml"/><Relationship Id="rId36" Type="http://schemas.openxmlformats.org/officeDocument/2006/relationships/tags" Target="../tags/tag431.xml"/><Relationship Id="rId35" Type="http://schemas.openxmlformats.org/officeDocument/2006/relationships/tags" Target="../tags/tag430.xml"/><Relationship Id="rId34" Type="http://schemas.openxmlformats.org/officeDocument/2006/relationships/tags" Target="../tags/tag429.xml"/><Relationship Id="rId33" Type="http://schemas.openxmlformats.org/officeDocument/2006/relationships/tags" Target="../tags/tag428.xml"/><Relationship Id="rId32" Type="http://schemas.openxmlformats.org/officeDocument/2006/relationships/tags" Target="../tags/tag427.xml"/><Relationship Id="rId31" Type="http://schemas.openxmlformats.org/officeDocument/2006/relationships/tags" Target="../tags/tag426.xml"/><Relationship Id="rId30" Type="http://schemas.openxmlformats.org/officeDocument/2006/relationships/tags" Target="../tags/tag425.xml"/><Relationship Id="rId3" Type="http://schemas.openxmlformats.org/officeDocument/2006/relationships/tags" Target="../tags/tag398.xml"/><Relationship Id="rId29" Type="http://schemas.openxmlformats.org/officeDocument/2006/relationships/tags" Target="../tags/tag424.xml"/><Relationship Id="rId28" Type="http://schemas.openxmlformats.org/officeDocument/2006/relationships/tags" Target="../tags/tag423.xml"/><Relationship Id="rId27" Type="http://schemas.openxmlformats.org/officeDocument/2006/relationships/tags" Target="../tags/tag422.xml"/><Relationship Id="rId26" Type="http://schemas.openxmlformats.org/officeDocument/2006/relationships/tags" Target="../tags/tag421.xml"/><Relationship Id="rId25" Type="http://schemas.openxmlformats.org/officeDocument/2006/relationships/tags" Target="../tags/tag420.xml"/><Relationship Id="rId24" Type="http://schemas.openxmlformats.org/officeDocument/2006/relationships/tags" Target="../tags/tag419.xml"/><Relationship Id="rId23" Type="http://schemas.openxmlformats.org/officeDocument/2006/relationships/tags" Target="../tags/tag418.xml"/><Relationship Id="rId22" Type="http://schemas.openxmlformats.org/officeDocument/2006/relationships/tags" Target="../tags/tag417.xml"/><Relationship Id="rId21" Type="http://schemas.openxmlformats.org/officeDocument/2006/relationships/tags" Target="../tags/tag416.xml"/><Relationship Id="rId20" Type="http://schemas.openxmlformats.org/officeDocument/2006/relationships/tags" Target="../tags/tag415.xml"/><Relationship Id="rId2" Type="http://schemas.openxmlformats.org/officeDocument/2006/relationships/tags" Target="../tags/tag397.xml"/><Relationship Id="rId19" Type="http://schemas.openxmlformats.org/officeDocument/2006/relationships/tags" Target="../tags/tag414.xml"/><Relationship Id="rId18" Type="http://schemas.openxmlformats.org/officeDocument/2006/relationships/tags" Target="../tags/tag413.xml"/><Relationship Id="rId17" Type="http://schemas.openxmlformats.org/officeDocument/2006/relationships/tags" Target="../tags/tag412.xml"/><Relationship Id="rId16" Type="http://schemas.openxmlformats.org/officeDocument/2006/relationships/tags" Target="../tags/tag411.xml"/><Relationship Id="rId15" Type="http://schemas.openxmlformats.org/officeDocument/2006/relationships/tags" Target="../tags/tag410.xml"/><Relationship Id="rId14" Type="http://schemas.openxmlformats.org/officeDocument/2006/relationships/tags" Target="../tags/tag409.xml"/><Relationship Id="rId13" Type="http://schemas.openxmlformats.org/officeDocument/2006/relationships/tags" Target="../tags/tag408.xml"/><Relationship Id="rId12" Type="http://schemas.openxmlformats.org/officeDocument/2006/relationships/tags" Target="../tags/tag407.xml"/><Relationship Id="rId11" Type="http://schemas.openxmlformats.org/officeDocument/2006/relationships/tags" Target="../tags/tag406.xml"/><Relationship Id="rId10" Type="http://schemas.openxmlformats.org/officeDocument/2006/relationships/tags" Target="../tags/tag405.xml"/><Relationship Id="rId1" Type="http://schemas.openxmlformats.org/officeDocument/2006/relationships/tags" Target="../tags/tag396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438.xml"/><Relationship Id="rId3" Type="http://schemas.openxmlformats.org/officeDocument/2006/relationships/tags" Target="../tags/tag437.xml"/><Relationship Id="rId2" Type="http://schemas.openxmlformats.org/officeDocument/2006/relationships/tags" Target="../tags/tag436.xml"/><Relationship Id="rId1" Type="http://schemas.openxmlformats.org/officeDocument/2006/relationships/tags" Target="../tags/tag435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445.xml"/><Relationship Id="rId8" Type="http://schemas.openxmlformats.org/officeDocument/2006/relationships/image" Target="../media/image30.svg"/><Relationship Id="rId7" Type="http://schemas.openxmlformats.org/officeDocument/2006/relationships/image" Target="../media/image29.png"/><Relationship Id="rId64" Type="http://schemas.openxmlformats.org/officeDocument/2006/relationships/slideLayout" Target="../slideLayouts/slideLayout7.xml"/><Relationship Id="rId63" Type="http://schemas.openxmlformats.org/officeDocument/2006/relationships/tags" Target="../tags/tag497.xml"/><Relationship Id="rId62" Type="http://schemas.openxmlformats.org/officeDocument/2006/relationships/tags" Target="../tags/tag496.xml"/><Relationship Id="rId61" Type="http://schemas.openxmlformats.org/officeDocument/2006/relationships/tags" Target="../tags/tag495.xml"/><Relationship Id="rId60" Type="http://schemas.openxmlformats.org/officeDocument/2006/relationships/tags" Target="../tags/tag494.xml"/><Relationship Id="rId6" Type="http://schemas.openxmlformats.org/officeDocument/2006/relationships/tags" Target="../tags/tag444.xml"/><Relationship Id="rId59" Type="http://schemas.openxmlformats.org/officeDocument/2006/relationships/tags" Target="../tags/tag493.xml"/><Relationship Id="rId58" Type="http://schemas.openxmlformats.org/officeDocument/2006/relationships/tags" Target="../tags/tag492.xml"/><Relationship Id="rId57" Type="http://schemas.openxmlformats.org/officeDocument/2006/relationships/tags" Target="../tags/tag491.xml"/><Relationship Id="rId56" Type="http://schemas.openxmlformats.org/officeDocument/2006/relationships/tags" Target="../tags/tag490.xml"/><Relationship Id="rId55" Type="http://schemas.openxmlformats.org/officeDocument/2006/relationships/tags" Target="../tags/tag489.xml"/><Relationship Id="rId54" Type="http://schemas.openxmlformats.org/officeDocument/2006/relationships/tags" Target="../tags/tag488.xml"/><Relationship Id="rId53" Type="http://schemas.openxmlformats.org/officeDocument/2006/relationships/tags" Target="../tags/tag487.xml"/><Relationship Id="rId52" Type="http://schemas.openxmlformats.org/officeDocument/2006/relationships/tags" Target="../tags/tag486.xml"/><Relationship Id="rId51" Type="http://schemas.openxmlformats.org/officeDocument/2006/relationships/tags" Target="../tags/tag485.xml"/><Relationship Id="rId50" Type="http://schemas.openxmlformats.org/officeDocument/2006/relationships/tags" Target="../tags/tag484.xml"/><Relationship Id="rId5" Type="http://schemas.openxmlformats.org/officeDocument/2006/relationships/tags" Target="../tags/tag443.xml"/><Relationship Id="rId49" Type="http://schemas.openxmlformats.org/officeDocument/2006/relationships/tags" Target="../tags/tag483.xml"/><Relationship Id="rId48" Type="http://schemas.openxmlformats.org/officeDocument/2006/relationships/tags" Target="../tags/tag482.xml"/><Relationship Id="rId47" Type="http://schemas.openxmlformats.org/officeDocument/2006/relationships/tags" Target="../tags/tag481.xml"/><Relationship Id="rId46" Type="http://schemas.openxmlformats.org/officeDocument/2006/relationships/tags" Target="../tags/tag480.xml"/><Relationship Id="rId45" Type="http://schemas.openxmlformats.org/officeDocument/2006/relationships/tags" Target="../tags/tag479.xml"/><Relationship Id="rId44" Type="http://schemas.openxmlformats.org/officeDocument/2006/relationships/tags" Target="../tags/tag478.xml"/><Relationship Id="rId43" Type="http://schemas.openxmlformats.org/officeDocument/2006/relationships/tags" Target="../tags/tag477.xml"/><Relationship Id="rId42" Type="http://schemas.openxmlformats.org/officeDocument/2006/relationships/tags" Target="../tags/tag476.xml"/><Relationship Id="rId41" Type="http://schemas.openxmlformats.org/officeDocument/2006/relationships/tags" Target="../tags/tag475.xml"/><Relationship Id="rId40" Type="http://schemas.openxmlformats.org/officeDocument/2006/relationships/tags" Target="../tags/tag474.xml"/><Relationship Id="rId4" Type="http://schemas.openxmlformats.org/officeDocument/2006/relationships/tags" Target="../tags/tag442.xml"/><Relationship Id="rId39" Type="http://schemas.openxmlformats.org/officeDocument/2006/relationships/tags" Target="../tags/tag473.xml"/><Relationship Id="rId38" Type="http://schemas.openxmlformats.org/officeDocument/2006/relationships/image" Target="../media/image32.svg"/><Relationship Id="rId37" Type="http://schemas.openxmlformats.org/officeDocument/2006/relationships/image" Target="../media/image31.png"/><Relationship Id="rId36" Type="http://schemas.openxmlformats.org/officeDocument/2006/relationships/tags" Target="../tags/tag472.xml"/><Relationship Id="rId35" Type="http://schemas.openxmlformats.org/officeDocument/2006/relationships/tags" Target="../tags/tag471.xml"/><Relationship Id="rId34" Type="http://schemas.openxmlformats.org/officeDocument/2006/relationships/tags" Target="../tags/tag470.xml"/><Relationship Id="rId33" Type="http://schemas.openxmlformats.org/officeDocument/2006/relationships/tags" Target="../tags/tag469.xml"/><Relationship Id="rId32" Type="http://schemas.openxmlformats.org/officeDocument/2006/relationships/tags" Target="../tags/tag468.xml"/><Relationship Id="rId31" Type="http://schemas.openxmlformats.org/officeDocument/2006/relationships/tags" Target="../tags/tag467.xml"/><Relationship Id="rId30" Type="http://schemas.openxmlformats.org/officeDocument/2006/relationships/tags" Target="../tags/tag466.xml"/><Relationship Id="rId3" Type="http://schemas.openxmlformats.org/officeDocument/2006/relationships/tags" Target="../tags/tag441.xml"/><Relationship Id="rId29" Type="http://schemas.openxmlformats.org/officeDocument/2006/relationships/tags" Target="../tags/tag465.xml"/><Relationship Id="rId28" Type="http://schemas.openxmlformats.org/officeDocument/2006/relationships/tags" Target="../tags/tag464.xml"/><Relationship Id="rId27" Type="http://schemas.openxmlformats.org/officeDocument/2006/relationships/tags" Target="../tags/tag463.xml"/><Relationship Id="rId26" Type="http://schemas.openxmlformats.org/officeDocument/2006/relationships/tags" Target="../tags/tag462.xml"/><Relationship Id="rId25" Type="http://schemas.openxmlformats.org/officeDocument/2006/relationships/tags" Target="../tags/tag461.xml"/><Relationship Id="rId24" Type="http://schemas.openxmlformats.org/officeDocument/2006/relationships/tags" Target="../tags/tag460.xml"/><Relationship Id="rId23" Type="http://schemas.openxmlformats.org/officeDocument/2006/relationships/tags" Target="../tags/tag459.xml"/><Relationship Id="rId22" Type="http://schemas.openxmlformats.org/officeDocument/2006/relationships/tags" Target="../tags/tag458.xml"/><Relationship Id="rId21" Type="http://schemas.openxmlformats.org/officeDocument/2006/relationships/tags" Target="../tags/tag457.xml"/><Relationship Id="rId20" Type="http://schemas.openxmlformats.org/officeDocument/2006/relationships/tags" Target="../tags/tag456.xml"/><Relationship Id="rId2" Type="http://schemas.openxmlformats.org/officeDocument/2006/relationships/tags" Target="../tags/tag440.xml"/><Relationship Id="rId19" Type="http://schemas.openxmlformats.org/officeDocument/2006/relationships/tags" Target="../tags/tag455.xml"/><Relationship Id="rId18" Type="http://schemas.openxmlformats.org/officeDocument/2006/relationships/tags" Target="../tags/tag454.xml"/><Relationship Id="rId17" Type="http://schemas.openxmlformats.org/officeDocument/2006/relationships/tags" Target="../tags/tag453.xml"/><Relationship Id="rId16" Type="http://schemas.openxmlformats.org/officeDocument/2006/relationships/tags" Target="../tags/tag452.xml"/><Relationship Id="rId15" Type="http://schemas.openxmlformats.org/officeDocument/2006/relationships/tags" Target="../tags/tag451.xml"/><Relationship Id="rId14" Type="http://schemas.openxmlformats.org/officeDocument/2006/relationships/tags" Target="../tags/tag450.xml"/><Relationship Id="rId13" Type="http://schemas.openxmlformats.org/officeDocument/2006/relationships/tags" Target="../tags/tag449.xml"/><Relationship Id="rId12" Type="http://schemas.openxmlformats.org/officeDocument/2006/relationships/tags" Target="../tags/tag448.xml"/><Relationship Id="rId11" Type="http://schemas.openxmlformats.org/officeDocument/2006/relationships/tags" Target="../tags/tag447.xml"/><Relationship Id="rId10" Type="http://schemas.openxmlformats.org/officeDocument/2006/relationships/tags" Target="../tags/tag446.xml"/><Relationship Id="rId1" Type="http://schemas.openxmlformats.org/officeDocument/2006/relationships/tags" Target="../tags/tag439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503.xml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tags" Target="../tags/tag502.xml"/><Relationship Id="rId4" Type="http://schemas.openxmlformats.org/officeDocument/2006/relationships/tags" Target="../tags/tag501.xml"/><Relationship Id="rId3" Type="http://schemas.openxmlformats.org/officeDocument/2006/relationships/tags" Target="../tags/tag500.xml"/><Relationship Id="rId2" Type="http://schemas.openxmlformats.org/officeDocument/2006/relationships/tags" Target="../tags/tag499.xml"/><Relationship Id="rId1" Type="http://schemas.openxmlformats.org/officeDocument/2006/relationships/tags" Target="../tags/tag498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508.xml"/><Relationship Id="rId8" Type="http://schemas.openxmlformats.org/officeDocument/2006/relationships/tags" Target="../tags/tag507.xml"/><Relationship Id="rId7" Type="http://schemas.openxmlformats.org/officeDocument/2006/relationships/tags" Target="../tags/tag50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505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513.xml"/><Relationship Id="rId13" Type="http://schemas.openxmlformats.org/officeDocument/2006/relationships/tags" Target="../tags/tag512.xml"/><Relationship Id="rId12" Type="http://schemas.openxmlformats.org/officeDocument/2006/relationships/tags" Target="../tags/tag511.xml"/><Relationship Id="rId11" Type="http://schemas.openxmlformats.org/officeDocument/2006/relationships/tags" Target="../tags/tag510.xml"/><Relationship Id="rId10" Type="http://schemas.openxmlformats.org/officeDocument/2006/relationships/tags" Target="../tags/tag509.xml"/><Relationship Id="rId1" Type="http://schemas.openxmlformats.org/officeDocument/2006/relationships/tags" Target="../tags/tag504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517.xml"/><Relationship Id="rId3" Type="http://schemas.openxmlformats.org/officeDocument/2006/relationships/tags" Target="../tags/tag516.xml"/><Relationship Id="rId2" Type="http://schemas.openxmlformats.org/officeDocument/2006/relationships/tags" Target="../tags/tag515.xml"/><Relationship Id="rId1" Type="http://schemas.openxmlformats.org/officeDocument/2006/relationships/tags" Target="../tags/tag514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521.xml"/><Relationship Id="rId3" Type="http://schemas.openxmlformats.org/officeDocument/2006/relationships/tags" Target="../tags/tag520.xml"/><Relationship Id="rId2" Type="http://schemas.openxmlformats.org/officeDocument/2006/relationships/tags" Target="../tags/tag519.xml"/><Relationship Id="rId1" Type="http://schemas.openxmlformats.org/officeDocument/2006/relationships/tags" Target="../tags/tag518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529.xml"/><Relationship Id="rId7" Type="http://schemas.openxmlformats.org/officeDocument/2006/relationships/tags" Target="../tags/tag528.xml"/><Relationship Id="rId6" Type="http://schemas.openxmlformats.org/officeDocument/2006/relationships/tags" Target="../tags/tag527.xml"/><Relationship Id="rId5" Type="http://schemas.openxmlformats.org/officeDocument/2006/relationships/tags" Target="../tags/tag526.xml"/><Relationship Id="rId4" Type="http://schemas.openxmlformats.org/officeDocument/2006/relationships/tags" Target="../tags/tag525.xml"/><Relationship Id="rId3" Type="http://schemas.openxmlformats.org/officeDocument/2006/relationships/tags" Target="../tags/tag524.xml"/><Relationship Id="rId2" Type="http://schemas.openxmlformats.org/officeDocument/2006/relationships/tags" Target="../tags/tag523.xml"/><Relationship Id="rId1" Type="http://schemas.openxmlformats.org/officeDocument/2006/relationships/tags" Target="../tags/tag522.xml"/></Relationships>
</file>

<file path=ppt/slides/_rels/slide31.xml.rels><?xml version="1.0" encoding="UTF-8" standalone="yes"?>
<Relationships xmlns="http://schemas.openxmlformats.org/package/2006/relationships"><Relationship Id="rId90" Type="http://schemas.openxmlformats.org/officeDocument/2006/relationships/slideLayout" Target="../slideLayouts/slideLayout7.xml"/><Relationship Id="rId9" Type="http://schemas.openxmlformats.org/officeDocument/2006/relationships/tags" Target="../tags/tag538.xml"/><Relationship Id="rId89" Type="http://schemas.openxmlformats.org/officeDocument/2006/relationships/tags" Target="../tags/tag606.xml"/><Relationship Id="rId88" Type="http://schemas.openxmlformats.org/officeDocument/2006/relationships/tags" Target="../tags/tag605.xml"/><Relationship Id="rId87" Type="http://schemas.openxmlformats.org/officeDocument/2006/relationships/tags" Target="../tags/tag604.xml"/><Relationship Id="rId86" Type="http://schemas.openxmlformats.org/officeDocument/2006/relationships/image" Target="../media/image46.svg"/><Relationship Id="rId85" Type="http://schemas.openxmlformats.org/officeDocument/2006/relationships/image" Target="../media/image45.png"/><Relationship Id="rId84" Type="http://schemas.openxmlformats.org/officeDocument/2006/relationships/tags" Target="../tags/tag603.xml"/><Relationship Id="rId83" Type="http://schemas.openxmlformats.org/officeDocument/2006/relationships/tags" Target="../tags/tag602.xml"/><Relationship Id="rId82" Type="http://schemas.openxmlformats.org/officeDocument/2006/relationships/tags" Target="../tags/tag601.xml"/><Relationship Id="rId81" Type="http://schemas.openxmlformats.org/officeDocument/2006/relationships/tags" Target="../tags/tag600.xml"/><Relationship Id="rId80" Type="http://schemas.openxmlformats.org/officeDocument/2006/relationships/tags" Target="../tags/tag599.xml"/><Relationship Id="rId8" Type="http://schemas.openxmlformats.org/officeDocument/2006/relationships/tags" Target="../tags/tag537.xml"/><Relationship Id="rId79" Type="http://schemas.openxmlformats.org/officeDocument/2006/relationships/tags" Target="../tags/tag598.xml"/><Relationship Id="rId78" Type="http://schemas.openxmlformats.org/officeDocument/2006/relationships/tags" Target="../tags/tag597.xml"/><Relationship Id="rId77" Type="http://schemas.openxmlformats.org/officeDocument/2006/relationships/tags" Target="../tags/tag596.xml"/><Relationship Id="rId76" Type="http://schemas.openxmlformats.org/officeDocument/2006/relationships/image" Target="../media/image44.svg"/><Relationship Id="rId75" Type="http://schemas.openxmlformats.org/officeDocument/2006/relationships/image" Target="../media/image43.png"/><Relationship Id="rId74" Type="http://schemas.openxmlformats.org/officeDocument/2006/relationships/tags" Target="../tags/tag595.xml"/><Relationship Id="rId73" Type="http://schemas.openxmlformats.org/officeDocument/2006/relationships/tags" Target="../tags/tag594.xml"/><Relationship Id="rId72" Type="http://schemas.openxmlformats.org/officeDocument/2006/relationships/tags" Target="../tags/tag593.xml"/><Relationship Id="rId71" Type="http://schemas.openxmlformats.org/officeDocument/2006/relationships/tags" Target="../tags/tag592.xml"/><Relationship Id="rId70" Type="http://schemas.openxmlformats.org/officeDocument/2006/relationships/tags" Target="../tags/tag591.xml"/><Relationship Id="rId7" Type="http://schemas.openxmlformats.org/officeDocument/2006/relationships/tags" Target="../tags/tag536.xml"/><Relationship Id="rId69" Type="http://schemas.openxmlformats.org/officeDocument/2006/relationships/tags" Target="../tags/tag590.xml"/><Relationship Id="rId68" Type="http://schemas.openxmlformats.org/officeDocument/2006/relationships/tags" Target="../tags/tag589.xml"/><Relationship Id="rId67" Type="http://schemas.openxmlformats.org/officeDocument/2006/relationships/tags" Target="../tags/tag588.xml"/><Relationship Id="rId66" Type="http://schemas.openxmlformats.org/officeDocument/2006/relationships/image" Target="../media/image42.svg"/><Relationship Id="rId65" Type="http://schemas.openxmlformats.org/officeDocument/2006/relationships/image" Target="../media/image41.png"/><Relationship Id="rId64" Type="http://schemas.openxmlformats.org/officeDocument/2006/relationships/tags" Target="../tags/tag587.xml"/><Relationship Id="rId63" Type="http://schemas.openxmlformats.org/officeDocument/2006/relationships/tags" Target="../tags/tag586.xml"/><Relationship Id="rId62" Type="http://schemas.openxmlformats.org/officeDocument/2006/relationships/tags" Target="../tags/tag585.xml"/><Relationship Id="rId61" Type="http://schemas.openxmlformats.org/officeDocument/2006/relationships/tags" Target="../tags/tag584.xml"/><Relationship Id="rId60" Type="http://schemas.openxmlformats.org/officeDocument/2006/relationships/tags" Target="../tags/tag583.xml"/><Relationship Id="rId6" Type="http://schemas.openxmlformats.org/officeDocument/2006/relationships/tags" Target="../tags/tag535.xml"/><Relationship Id="rId59" Type="http://schemas.openxmlformats.org/officeDocument/2006/relationships/tags" Target="../tags/tag582.xml"/><Relationship Id="rId58" Type="http://schemas.openxmlformats.org/officeDocument/2006/relationships/tags" Target="../tags/tag581.xml"/><Relationship Id="rId57" Type="http://schemas.openxmlformats.org/officeDocument/2006/relationships/tags" Target="../tags/tag580.xml"/><Relationship Id="rId56" Type="http://schemas.openxmlformats.org/officeDocument/2006/relationships/image" Target="../media/image40.svg"/><Relationship Id="rId55" Type="http://schemas.openxmlformats.org/officeDocument/2006/relationships/image" Target="../media/image39.png"/><Relationship Id="rId54" Type="http://schemas.openxmlformats.org/officeDocument/2006/relationships/tags" Target="../tags/tag579.xml"/><Relationship Id="rId53" Type="http://schemas.openxmlformats.org/officeDocument/2006/relationships/tags" Target="../tags/tag578.xml"/><Relationship Id="rId52" Type="http://schemas.openxmlformats.org/officeDocument/2006/relationships/tags" Target="../tags/tag577.xml"/><Relationship Id="rId51" Type="http://schemas.openxmlformats.org/officeDocument/2006/relationships/tags" Target="../tags/tag576.xml"/><Relationship Id="rId50" Type="http://schemas.openxmlformats.org/officeDocument/2006/relationships/tags" Target="../tags/tag575.xml"/><Relationship Id="rId5" Type="http://schemas.openxmlformats.org/officeDocument/2006/relationships/tags" Target="../tags/tag534.xml"/><Relationship Id="rId49" Type="http://schemas.openxmlformats.org/officeDocument/2006/relationships/tags" Target="../tags/tag574.xml"/><Relationship Id="rId48" Type="http://schemas.openxmlformats.org/officeDocument/2006/relationships/tags" Target="../tags/tag573.xml"/><Relationship Id="rId47" Type="http://schemas.openxmlformats.org/officeDocument/2006/relationships/tags" Target="../tags/tag572.xml"/><Relationship Id="rId46" Type="http://schemas.openxmlformats.org/officeDocument/2006/relationships/image" Target="../media/image38.svg"/><Relationship Id="rId45" Type="http://schemas.openxmlformats.org/officeDocument/2006/relationships/image" Target="../media/image37.png"/><Relationship Id="rId44" Type="http://schemas.openxmlformats.org/officeDocument/2006/relationships/tags" Target="../tags/tag571.xml"/><Relationship Id="rId43" Type="http://schemas.openxmlformats.org/officeDocument/2006/relationships/tags" Target="../tags/tag570.xml"/><Relationship Id="rId42" Type="http://schemas.openxmlformats.org/officeDocument/2006/relationships/tags" Target="../tags/tag569.xml"/><Relationship Id="rId41" Type="http://schemas.openxmlformats.org/officeDocument/2006/relationships/tags" Target="../tags/tag568.xml"/><Relationship Id="rId40" Type="http://schemas.openxmlformats.org/officeDocument/2006/relationships/tags" Target="../tags/tag567.xml"/><Relationship Id="rId4" Type="http://schemas.openxmlformats.org/officeDocument/2006/relationships/tags" Target="../tags/tag533.xml"/><Relationship Id="rId39" Type="http://schemas.openxmlformats.org/officeDocument/2006/relationships/tags" Target="../tags/tag566.xml"/><Relationship Id="rId38" Type="http://schemas.openxmlformats.org/officeDocument/2006/relationships/tags" Target="../tags/tag565.xml"/><Relationship Id="rId37" Type="http://schemas.openxmlformats.org/officeDocument/2006/relationships/tags" Target="../tags/tag564.xml"/><Relationship Id="rId36" Type="http://schemas.openxmlformats.org/officeDocument/2006/relationships/image" Target="../media/image36.svg"/><Relationship Id="rId35" Type="http://schemas.openxmlformats.org/officeDocument/2006/relationships/image" Target="../media/image35.png"/><Relationship Id="rId34" Type="http://schemas.openxmlformats.org/officeDocument/2006/relationships/tags" Target="../tags/tag563.xml"/><Relationship Id="rId33" Type="http://schemas.openxmlformats.org/officeDocument/2006/relationships/tags" Target="../tags/tag562.xml"/><Relationship Id="rId32" Type="http://schemas.openxmlformats.org/officeDocument/2006/relationships/tags" Target="../tags/tag561.xml"/><Relationship Id="rId31" Type="http://schemas.openxmlformats.org/officeDocument/2006/relationships/tags" Target="../tags/tag560.xml"/><Relationship Id="rId30" Type="http://schemas.openxmlformats.org/officeDocument/2006/relationships/tags" Target="../tags/tag559.xml"/><Relationship Id="rId3" Type="http://schemas.openxmlformats.org/officeDocument/2006/relationships/tags" Target="../tags/tag532.xml"/><Relationship Id="rId29" Type="http://schemas.openxmlformats.org/officeDocument/2006/relationships/tags" Target="../tags/tag558.xml"/><Relationship Id="rId28" Type="http://schemas.openxmlformats.org/officeDocument/2006/relationships/tags" Target="../tags/tag557.xml"/><Relationship Id="rId27" Type="http://schemas.openxmlformats.org/officeDocument/2006/relationships/tags" Target="../tags/tag556.xml"/><Relationship Id="rId26" Type="http://schemas.openxmlformats.org/officeDocument/2006/relationships/tags" Target="../tags/tag555.xml"/><Relationship Id="rId25" Type="http://schemas.openxmlformats.org/officeDocument/2006/relationships/tags" Target="../tags/tag554.xml"/><Relationship Id="rId24" Type="http://schemas.openxmlformats.org/officeDocument/2006/relationships/tags" Target="../tags/tag553.xml"/><Relationship Id="rId23" Type="http://schemas.openxmlformats.org/officeDocument/2006/relationships/tags" Target="../tags/tag552.xml"/><Relationship Id="rId22" Type="http://schemas.openxmlformats.org/officeDocument/2006/relationships/tags" Target="../tags/tag551.xml"/><Relationship Id="rId21" Type="http://schemas.openxmlformats.org/officeDocument/2006/relationships/tags" Target="../tags/tag550.xml"/><Relationship Id="rId20" Type="http://schemas.openxmlformats.org/officeDocument/2006/relationships/tags" Target="../tags/tag549.xml"/><Relationship Id="rId2" Type="http://schemas.openxmlformats.org/officeDocument/2006/relationships/tags" Target="../tags/tag531.xml"/><Relationship Id="rId19" Type="http://schemas.openxmlformats.org/officeDocument/2006/relationships/tags" Target="../tags/tag548.xml"/><Relationship Id="rId18" Type="http://schemas.openxmlformats.org/officeDocument/2006/relationships/tags" Target="../tags/tag547.xml"/><Relationship Id="rId17" Type="http://schemas.openxmlformats.org/officeDocument/2006/relationships/tags" Target="../tags/tag546.xml"/><Relationship Id="rId16" Type="http://schemas.openxmlformats.org/officeDocument/2006/relationships/tags" Target="../tags/tag545.xml"/><Relationship Id="rId15" Type="http://schemas.openxmlformats.org/officeDocument/2006/relationships/tags" Target="../tags/tag544.xml"/><Relationship Id="rId14" Type="http://schemas.openxmlformats.org/officeDocument/2006/relationships/tags" Target="../tags/tag543.xml"/><Relationship Id="rId13" Type="http://schemas.openxmlformats.org/officeDocument/2006/relationships/tags" Target="../tags/tag542.xml"/><Relationship Id="rId12" Type="http://schemas.openxmlformats.org/officeDocument/2006/relationships/tags" Target="../tags/tag541.xml"/><Relationship Id="rId11" Type="http://schemas.openxmlformats.org/officeDocument/2006/relationships/tags" Target="../tags/tag540.xml"/><Relationship Id="rId10" Type="http://schemas.openxmlformats.org/officeDocument/2006/relationships/tags" Target="../tags/tag539.xml"/><Relationship Id="rId1" Type="http://schemas.openxmlformats.org/officeDocument/2006/relationships/tags" Target="../tags/tag530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611.xml"/><Relationship Id="rId8" Type="http://schemas.openxmlformats.org/officeDocument/2006/relationships/tags" Target="../tags/tag610.xml"/><Relationship Id="rId7" Type="http://schemas.openxmlformats.org/officeDocument/2006/relationships/tags" Target="../tags/tag609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tags" Target="../tags/tag608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615.xml"/><Relationship Id="rId12" Type="http://schemas.openxmlformats.org/officeDocument/2006/relationships/tags" Target="../tags/tag614.xml"/><Relationship Id="rId11" Type="http://schemas.openxmlformats.org/officeDocument/2006/relationships/tags" Target="../tags/tag613.xml"/><Relationship Id="rId10" Type="http://schemas.openxmlformats.org/officeDocument/2006/relationships/tags" Target="../tags/tag612.xml"/><Relationship Id="rId1" Type="http://schemas.openxmlformats.org/officeDocument/2006/relationships/tags" Target="../tags/tag6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8801100" y="-685800"/>
            <a:ext cx="4000500" cy="4000500"/>
          </a:xfrm>
          <a:custGeom>
            <a:avLst/>
            <a:gdLst>
              <a:gd name="sw" fmla="*/ 1 w 6300"/>
              <a:gd name="sh" fmla="*/ 1 h 6300"/>
              <a:gd name="mins" fmla="min sw sh"/>
              <a:gd name="dsw" fmla="+- 0 sw mins"/>
              <a:gd name="dsh" fmla="+- 0 sh mins"/>
              <a:gd name="p0x0" fmla="*/ 3150 w 6300"/>
              <a:gd name="p0y0" fmla="*/ 0 h 6300"/>
              <a:gd name="p0x1" fmla="*/ 4889 w 6300"/>
              <a:gd name="p0y1" fmla="*/ 0 h 6300"/>
              <a:gd name="p0x2" fmla="*/ 6300 w 6300"/>
              <a:gd name="p0y2" fmla="*/ 1410 h 6300"/>
              <a:gd name="p0x3" fmla="*/ 6300 w 6300"/>
              <a:gd name="p0y3" fmla="*/ 3150 h 6300"/>
              <a:gd name="p0x4" fmla="*/ 6300 w 6300"/>
              <a:gd name="p0y4" fmla="*/ 4889 h 6300"/>
              <a:gd name="p0x5" fmla="*/ 4889 w 6300"/>
              <a:gd name="p0y5" fmla="*/ 6300 h 6300"/>
              <a:gd name="p0x6" fmla="*/ 3150 w 6300"/>
              <a:gd name="p0y6" fmla="*/ 6300 h 6300"/>
              <a:gd name="p0x7" fmla="*/ 1410 w 6300"/>
              <a:gd name="p0y7" fmla="*/ 6300 h 6300"/>
              <a:gd name="p0x8" fmla="*/ 0 w 6300"/>
              <a:gd name="p0y8" fmla="*/ 4889 h 6300"/>
              <a:gd name="p0x9" fmla="*/ 0 w 6300"/>
              <a:gd name="p0y9" fmla="*/ 3150 h 6300"/>
              <a:gd name="p0x10" fmla="*/ 0 w 6300"/>
              <a:gd name="p0y10" fmla="*/ 1410 h 6300"/>
              <a:gd name="p0x11" fmla="*/ 1410 w 6300"/>
              <a:gd name="p0y11" fmla="*/ 0 h 6300"/>
              <a:gd name="p0x12" fmla="*/ 3150 w 6300"/>
              <a:gd name="p0y12" fmla="*/ 0 h 6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571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4"/>
            </p:custDataLst>
          </p:nvPr>
        </p:nvSpPr>
        <p:spPr>
          <a:xfrm>
            <a:off x="-365125" y="3977005"/>
            <a:ext cx="3428365" cy="3429000"/>
          </a:xfrm>
          <a:custGeom>
            <a:avLst/>
            <a:gdLst>
              <a:gd name="sw" fmla="*/ 1 w 5400"/>
              <a:gd name="sh" fmla="*/ 1 h 5400"/>
              <a:gd name="mins" fmla="min sw sh"/>
              <a:gd name="dsw" fmla="+- 0 sw mins"/>
              <a:gd name="dsh" fmla="+- 0 sh mins"/>
              <a:gd name="p0x0" fmla="*/ 2700 w 5400"/>
              <a:gd name="p0y0" fmla="*/ 0 h 5400"/>
              <a:gd name="p0x1" fmla="*/ 4191 w 5400"/>
              <a:gd name="p0y1" fmla="*/ 0 h 5400"/>
              <a:gd name="p0x2" fmla="*/ 5400 w 5400"/>
              <a:gd name="p0y2" fmla="*/ 1208 h 5400"/>
              <a:gd name="p0x3" fmla="*/ 5400 w 5400"/>
              <a:gd name="p0y3" fmla="*/ 2700 h 5400"/>
              <a:gd name="p0x4" fmla="*/ 5400 w 5400"/>
              <a:gd name="p0y4" fmla="*/ 4191 h 5400"/>
              <a:gd name="p0x5" fmla="*/ 4191 w 5400"/>
              <a:gd name="p0y5" fmla="*/ 5400 h 5400"/>
              <a:gd name="p0x6" fmla="*/ 2700 w 5400"/>
              <a:gd name="p0y6" fmla="*/ 5400 h 5400"/>
              <a:gd name="p0x7" fmla="*/ 1208 w 5400"/>
              <a:gd name="p0y7" fmla="*/ 5400 h 5400"/>
              <a:gd name="p0x8" fmla="*/ 0 w 5400"/>
              <a:gd name="p0y8" fmla="*/ 4191 h 5400"/>
              <a:gd name="p0x9" fmla="*/ 0 w 5400"/>
              <a:gd name="p0y9" fmla="*/ 2700 h 5400"/>
              <a:gd name="p0x10" fmla="*/ 0 w 5400"/>
              <a:gd name="p0y10" fmla="*/ 1208 h 5400"/>
              <a:gd name="p0x11" fmla="*/ 1208 w 5400"/>
              <a:gd name="p0y11" fmla="*/ 0 h 5400"/>
              <a:gd name="p0x12" fmla="*/ 2700 w 5400"/>
              <a:gd name="p0y12" fmla="*/ 0 h 54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47625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809625" y="1057799"/>
            <a:ext cx="1346892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企业级解决方案</a:t>
            </a:r>
            <a:endParaRPr sz="1050" b="1" spc="315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666750" y="1461659"/>
            <a:ext cx="5429250" cy="23593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48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海睿星</a:t>
            </a:r>
            <a:r>
              <a:rPr lang="en-US" altLang="zh-CN" sz="48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 · </a:t>
            </a:r>
            <a:endParaRPr lang="en-US" altLang="zh-CN" sz="48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  <a:p>
            <a:pPr algn="l">
              <a:lnSpc>
                <a:spcPct val="104000"/>
              </a:lnSpc>
            </a:pPr>
            <a:r>
              <a:rPr lang="zh-CN" altLang="zh-CN" sz="4800" b="1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智能客服</a:t>
            </a:r>
            <a:r>
              <a:rPr lang="en-US" altLang="zh-CN" sz="4800" b="1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AI</a:t>
            </a:r>
            <a:r>
              <a:rPr lang="zh-CN" altLang="en-US" sz="4800" b="1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助手</a:t>
            </a:r>
            <a:endParaRPr lang="zh-CN" altLang="en-US" sz="4800" b="1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  <a:p>
            <a:pPr algn="l">
              <a:lnSpc>
                <a:spcPct val="104000"/>
              </a:lnSpc>
            </a:pPr>
            <a:r>
              <a:rPr lang="zh-CN" altLang="en-US" sz="48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（</a:t>
            </a:r>
            <a:r>
              <a:rPr lang="en-US" altLang="zh-CN" sz="48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SmartCS</a:t>
            </a:r>
            <a:r>
              <a:rPr lang="zh-CN" altLang="en-US" sz="48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）</a:t>
            </a:r>
            <a:endParaRPr lang="zh-CN" altLang="en-US" sz="48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666750" y="4510405"/>
            <a:ext cx="5429250" cy="9525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0"/>
            </p:custDataLst>
          </p:nvPr>
        </p:nvSpPr>
        <p:spPr>
          <a:xfrm>
            <a:off x="666750" y="4001024"/>
            <a:ext cx="3077547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基于</a:t>
            </a:r>
            <a:r>
              <a:rPr lang="en-US" altLang="zh-CN" sz="1500" spc="30">
                <a:solidFill>
                  <a:srgbClr val="4A6B8A"/>
                </a:solidFill>
                <a:cs typeface="+mn-lt"/>
              </a:rPr>
              <a:t> RAG </a:t>
            </a: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的企业级智能客服系统</a:t>
            </a:r>
            <a:endParaRPr lang="zh-CN" altLang="en-US"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666750" y="4809696"/>
            <a:ext cx="69614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spc="27">
                <a:solidFill>
                  <a:srgbClr val="6B8AAA"/>
                </a:solidFill>
                <a:cs typeface="+mn-lt"/>
              </a:rPr>
              <a:t>汇报人</a:t>
            </a:r>
            <a:endParaRPr sz="1350" spc="27">
              <a:solidFill>
                <a:srgbClr val="6B8AAA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1305744" y="4809696"/>
            <a:ext cx="51048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wzp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666750" y="5160188"/>
            <a:ext cx="5212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spc="27">
                <a:solidFill>
                  <a:srgbClr val="6B8AAA"/>
                </a:solidFill>
                <a:cs typeface="+mn-lt"/>
              </a:rPr>
              <a:t>版本</a:t>
            </a:r>
            <a:endParaRPr sz="1350" spc="27">
              <a:solidFill>
                <a:srgbClr val="6B8AAA"/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1130875" y="5160188"/>
            <a:ext cx="54233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V1.0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666750" y="5510679"/>
            <a:ext cx="5212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spc="27">
                <a:solidFill>
                  <a:srgbClr val="6B8AAA"/>
                </a:solidFill>
                <a:cs typeface="+mn-lt"/>
              </a:rPr>
              <a:t>日期</a:t>
            </a:r>
            <a:endParaRPr sz="1350" spc="27">
              <a:solidFill>
                <a:srgbClr val="6B8AAA"/>
              </a:solidFill>
              <a:cs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130875" y="5510679"/>
            <a:ext cx="85828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2026.08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4" name="矩形 3"/>
          <p:cNvSpPr/>
          <p:nvPr>
            <p:custDataLst>
              <p:tags r:id="rId17"/>
            </p:custDataLst>
          </p:nvPr>
        </p:nvSpPr>
        <p:spPr>
          <a:xfrm rot="2700000">
            <a:off x="666115" y="1122045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8"/>
            </p:custDataLst>
          </p:nvPr>
        </p:nvSpPr>
        <p:spPr>
          <a:xfrm>
            <a:off x="2118360" y="114109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8801100" y="-685800"/>
            <a:ext cx="4000500" cy="4000500"/>
          </a:xfrm>
          <a:custGeom>
            <a:avLst/>
            <a:gdLst>
              <a:gd name="sw" fmla="*/ 1 w 6300"/>
              <a:gd name="sh" fmla="*/ 1 h 6300"/>
              <a:gd name="mins" fmla="min sw sh"/>
              <a:gd name="dsw" fmla="+- 0 sw mins"/>
              <a:gd name="dsh" fmla="+- 0 sh mins"/>
              <a:gd name="p0x0" fmla="*/ 3150 w 6300"/>
              <a:gd name="p0y0" fmla="*/ 0 h 6300"/>
              <a:gd name="p0x1" fmla="*/ 4889 w 6300"/>
              <a:gd name="p0y1" fmla="*/ 0 h 6300"/>
              <a:gd name="p0x2" fmla="*/ 6300 w 6300"/>
              <a:gd name="p0y2" fmla="*/ 1410 h 6300"/>
              <a:gd name="p0x3" fmla="*/ 6300 w 6300"/>
              <a:gd name="p0y3" fmla="*/ 3150 h 6300"/>
              <a:gd name="p0x4" fmla="*/ 6300 w 6300"/>
              <a:gd name="p0y4" fmla="*/ 4889 h 6300"/>
              <a:gd name="p0x5" fmla="*/ 4889 w 6300"/>
              <a:gd name="p0y5" fmla="*/ 6300 h 6300"/>
              <a:gd name="p0x6" fmla="*/ 3150 w 6300"/>
              <a:gd name="p0y6" fmla="*/ 6300 h 6300"/>
              <a:gd name="p0x7" fmla="*/ 1410 w 6300"/>
              <a:gd name="p0y7" fmla="*/ 6300 h 6300"/>
              <a:gd name="p0x8" fmla="*/ 0 w 6300"/>
              <a:gd name="p0y8" fmla="*/ 4889 h 6300"/>
              <a:gd name="p0x9" fmla="*/ 0 w 6300"/>
              <a:gd name="p0y9" fmla="*/ 3150 h 6300"/>
              <a:gd name="p0x10" fmla="*/ 0 w 6300"/>
              <a:gd name="p0y10" fmla="*/ 1410 h 6300"/>
              <a:gd name="p0x11" fmla="*/ 1410 w 6300"/>
              <a:gd name="p0y11" fmla="*/ 0 h 6300"/>
              <a:gd name="p0x12" fmla="*/ 3150 w 6300"/>
              <a:gd name="p0y12" fmla="*/ 0 h 6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571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4"/>
            </p:custDataLst>
          </p:nvPr>
        </p:nvSpPr>
        <p:spPr>
          <a:xfrm>
            <a:off x="-365125" y="3977005"/>
            <a:ext cx="3428365" cy="3429000"/>
          </a:xfrm>
          <a:custGeom>
            <a:avLst/>
            <a:gdLst>
              <a:gd name="sw" fmla="*/ 1 w 5400"/>
              <a:gd name="sh" fmla="*/ 1 h 5400"/>
              <a:gd name="mins" fmla="min sw sh"/>
              <a:gd name="dsw" fmla="+- 0 sw mins"/>
              <a:gd name="dsh" fmla="+- 0 sh mins"/>
              <a:gd name="p0x0" fmla="*/ 2700 w 5400"/>
              <a:gd name="p0y0" fmla="*/ 0 h 5400"/>
              <a:gd name="p0x1" fmla="*/ 4191 w 5400"/>
              <a:gd name="p0y1" fmla="*/ 0 h 5400"/>
              <a:gd name="p0x2" fmla="*/ 5400 w 5400"/>
              <a:gd name="p0y2" fmla="*/ 1208 h 5400"/>
              <a:gd name="p0x3" fmla="*/ 5400 w 5400"/>
              <a:gd name="p0y3" fmla="*/ 2700 h 5400"/>
              <a:gd name="p0x4" fmla="*/ 5400 w 5400"/>
              <a:gd name="p0y4" fmla="*/ 4191 h 5400"/>
              <a:gd name="p0x5" fmla="*/ 4191 w 5400"/>
              <a:gd name="p0y5" fmla="*/ 5400 h 5400"/>
              <a:gd name="p0x6" fmla="*/ 2700 w 5400"/>
              <a:gd name="p0y6" fmla="*/ 5400 h 5400"/>
              <a:gd name="p0x7" fmla="*/ 1208 w 5400"/>
              <a:gd name="p0y7" fmla="*/ 5400 h 5400"/>
              <a:gd name="p0x8" fmla="*/ 0 w 5400"/>
              <a:gd name="p0y8" fmla="*/ 4191 h 5400"/>
              <a:gd name="p0x9" fmla="*/ 0 w 5400"/>
              <a:gd name="p0y9" fmla="*/ 2700 h 5400"/>
              <a:gd name="p0x10" fmla="*/ 0 w 5400"/>
              <a:gd name="p0y10" fmla="*/ 1208 h 5400"/>
              <a:gd name="p0x11" fmla="*/ 1208 w 5400"/>
              <a:gd name="p0y11" fmla="*/ 0 h 5400"/>
              <a:gd name="p0x12" fmla="*/ 2700 w 5400"/>
              <a:gd name="p0y12" fmla="*/ 0 h 54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47625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533400" y="501015"/>
            <a:ext cx="2667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</a:rPr>
              <a:t>内容导航</a:t>
            </a:r>
            <a:endParaRPr sz="4200" b="1">
              <a:solidFill>
                <a:srgbClr val="1B3A5C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5" name="矩形 4"/>
          <p:cNvSpPr/>
          <p:nvPr>
            <p:custDataLst>
              <p:tags r:id="rId8"/>
            </p:custDataLst>
          </p:nvPr>
        </p:nvSpPr>
        <p:spPr>
          <a:xfrm>
            <a:off x="2895600" y="857250"/>
            <a:ext cx="19050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9"/>
            </p:custDataLst>
          </p:nvPr>
        </p:nvSpPr>
        <p:spPr>
          <a:xfrm>
            <a:off x="53784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40 w 8595"/>
              <a:gd name="p0y0" fmla="*/ 0 h 2355"/>
              <a:gd name="p0x1" fmla="*/ 8355 w 8595"/>
              <a:gd name="p0y1" fmla="*/ 0 h 2355"/>
              <a:gd name="p0x2" fmla="*/ 8487 w 8595"/>
              <a:gd name="p0y2" fmla="*/ 0 h 2355"/>
              <a:gd name="p0x3" fmla="*/ 8595 w 8595"/>
              <a:gd name="p0y3" fmla="*/ 107 h 2355"/>
              <a:gd name="p0x4" fmla="*/ 8595 w 8595"/>
              <a:gd name="p0y4" fmla="*/ 240 h 2355"/>
              <a:gd name="p0x5" fmla="*/ 8595 w 8595"/>
              <a:gd name="p0y5" fmla="*/ 2115 h 2355"/>
              <a:gd name="p0x6" fmla="*/ 8595 w 8595"/>
              <a:gd name="p0y6" fmla="*/ 2247 h 2355"/>
              <a:gd name="p0x7" fmla="*/ 8487 w 8595"/>
              <a:gd name="p0y7" fmla="*/ 2355 h 2355"/>
              <a:gd name="p0x8" fmla="*/ 8355 w 8595"/>
              <a:gd name="p0y8" fmla="*/ 2355 h 2355"/>
              <a:gd name="p0x9" fmla="*/ 240 w 8595"/>
              <a:gd name="p0y9" fmla="*/ 2355 h 2355"/>
              <a:gd name="p0x10" fmla="*/ 107 w 8595"/>
              <a:gd name="p0y10" fmla="*/ 2355 h 2355"/>
              <a:gd name="p0x11" fmla="*/ 0 w 8595"/>
              <a:gd name="p0y11" fmla="*/ 2247 h 2355"/>
              <a:gd name="p0x12" fmla="*/ 0 w 8595"/>
              <a:gd name="p0y12" fmla="*/ 2115 h 2355"/>
              <a:gd name="p0x13" fmla="*/ 0 w 8595"/>
              <a:gd name="p0y13" fmla="*/ 240 h 2355"/>
              <a:gd name="p0x14" fmla="*/ 0 w 8595"/>
              <a:gd name="p0y14" fmla="*/ 107 h 2355"/>
              <a:gd name="p0x15" fmla="*/ 107 w 8595"/>
              <a:gd name="p0y15" fmla="*/ 0 h 2355"/>
              <a:gd name="p0x16" fmla="*/ 24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86714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01</a:t>
            </a:r>
            <a:endParaRPr sz="3300" b="1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1542415" y="1918970"/>
            <a:ext cx="9525" cy="52387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1876425" y="18721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业务背景</a:t>
            </a:r>
            <a:r>
              <a:rPr sz="2100"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</a:rPr>
              <a:t>与目标</a:t>
            </a:r>
            <a:endParaRPr sz="2100" b="1">
              <a:solidFill>
                <a:srgbClr val="1B3A5C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1876425" y="22459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4A6B8A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还原客服现状，量化</a:t>
            </a:r>
            <a:r>
              <a:rPr lang="en-US" altLang="zh-CN" sz="1350">
                <a:solidFill>
                  <a:srgbClr val="4A6B8A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AI</a:t>
            </a:r>
            <a:r>
              <a:rPr lang="zh-CN" altLang="en-US" sz="1350">
                <a:solidFill>
                  <a:srgbClr val="4A6B8A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价值</a:t>
            </a:r>
            <a:endParaRPr lang="zh-CN" altLang="en-US" sz="1350">
              <a:solidFill>
                <a:srgbClr val="4A6B8A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6195695" y="14331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40 w 8595"/>
              <a:gd name="p0y0" fmla="*/ 0 h 2355"/>
              <a:gd name="p0x1" fmla="*/ 8355 w 8595"/>
              <a:gd name="p0y1" fmla="*/ 0 h 2355"/>
              <a:gd name="p0x2" fmla="*/ 8487 w 8595"/>
              <a:gd name="p0y2" fmla="*/ 0 h 2355"/>
              <a:gd name="p0x3" fmla="*/ 8595 w 8595"/>
              <a:gd name="p0y3" fmla="*/ 107 h 2355"/>
              <a:gd name="p0x4" fmla="*/ 8595 w 8595"/>
              <a:gd name="p0y4" fmla="*/ 240 h 2355"/>
              <a:gd name="p0x5" fmla="*/ 8595 w 8595"/>
              <a:gd name="p0y5" fmla="*/ 2115 h 2355"/>
              <a:gd name="p0x6" fmla="*/ 8595 w 8595"/>
              <a:gd name="p0y6" fmla="*/ 2247 h 2355"/>
              <a:gd name="p0x7" fmla="*/ 8487 w 8595"/>
              <a:gd name="p0y7" fmla="*/ 2355 h 2355"/>
              <a:gd name="p0x8" fmla="*/ 8355 w 8595"/>
              <a:gd name="p0y8" fmla="*/ 2355 h 2355"/>
              <a:gd name="p0x9" fmla="*/ 240 w 8595"/>
              <a:gd name="p0y9" fmla="*/ 2355 h 2355"/>
              <a:gd name="p0x10" fmla="*/ 107 w 8595"/>
              <a:gd name="p0y10" fmla="*/ 2355 h 2355"/>
              <a:gd name="p0x11" fmla="*/ 0 w 8595"/>
              <a:gd name="p0y11" fmla="*/ 2247 h 2355"/>
              <a:gd name="p0x12" fmla="*/ 0 w 8595"/>
              <a:gd name="p0y12" fmla="*/ 2115 h 2355"/>
              <a:gd name="p0x13" fmla="*/ 0 w 8595"/>
              <a:gd name="p0y13" fmla="*/ 240 h 2355"/>
              <a:gd name="p0x14" fmla="*/ 0 w 8595"/>
              <a:gd name="p0y14" fmla="*/ 107 h 2355"/>
              <a:gd name="p0x15" fmla="*/ 107 w 8595"/>
              <a:gd name="p0y15" fmla="*/ 0 h 2355"/>
              <a:gd name="p0x16" fmla="*/ 24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6524996" y="1894523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02</a:t>
            </a:r>
            <a:endParaRPr sz="3300" b="1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4" name="矩形 13"/>
          <p:cNvSpPr/>
          <p:nvPr>
            <p:custDataLst>
              <p:tags r:id="rId16"/>
            </p:custDataLst>
          </p:nvPr>
        </p:nvSpPr>
        <p:spPr>
          <a:xfrm>
            <a:off x="7200265" y="1918970"/>
            <a:ext cx="9525" cy="52387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7534275" y="18721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技术选型</a:t>
            </a:r>
            <a:r>
              <a:rPr lang="zh-CN" sz="2100"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与</a:t>
            </a:r>
            <a:r>
              <a:rPr lang="en-US" altLang="zh-CN" sz="2100"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AI</a:t>
            </a:r>
            <a:r>
              <a:rPr lang="zh-CN" altLang="en-US" sz="2100"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能力</a:t>
            </a:r>
            <a:endParaRPr lang="zh-CN" altLang="en-US" sz="2100" b="1">
              <a:solidFill>
                <a:srgbClr val="1B3A5C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7534275" y="22459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A6B8A"/>
                </a:solidFill>
                <a:latin typeface="MiSans Demibold" panose="00000700000000000000" charset="-122"/>
                <a:ea typeface="MiSans Demibold" panose="00000700000000000000" charset="-122"/>
              </a:rPr>
              <a:t>从问题类型到能力边界</a:t>
            </a:r>
            <a:endParaRPr sz="1350">
              <a:solidFill>
                <a:srgbClr val="4A6B8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9"/>
            </p:custDataLst>
          </p:nvPr>
        </p:nvSpPr>
        <p:spPr>
          <a:xfrm>
            <a:off x="53784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40 w 8595"/>
              <a:gd name="p0y0" fmla="*/ 0 h 2355"/>
              <a:gd name="p0x1" fmla="*/ 8355 w 8595"/>
              <a:gd name="p0y1" fmla="*/ 0 h 2355"/>
              <a:gd name="p0x2" fmla="*/ 8487 w 8595"/>
              <a:gd name="p0y2" fmla="*/ 0 h 2355"/>
              <a:gd name="p0x3" fmla="*/ 8595 w 8595"/>
              <a:gd name="p0y3" fmla="*/ 107 h 2355"/>
              <a:gd name="p0x4" fmla="*/ 8595 w 8595"/>
              <a:gd name="p0y4" fmla="*/ 240 h 2355"/>
              <a:gd name="p0x5" fmla="*/ 8595 w 8595"/>
              <a:gd name="p0y5" fmla="*/ 2115 h 2355"/>
              <a:gd name="p0x6" fmla="*/ 8595 w 8595"/>
              <a:gd name="p0y6" fmla="*/ 2247 h 2355"/>
              <a:gd name="p0x7" fmla="*/ 8487 w 8595"/>
              <a:gd name="p0y7" fmla="*/ 2355 h 2355"/>
              <a:gd name="p0x8" fmla="*/ 8355 w 8595"/>
              <a:gd name="p0y8" fmla="*/ 2355 h 2355"/>
              <a:gd name="p0x9" fmla="*/ 240 w 8595"/>
              <a:gd name="p0y9" fmla="*/ 2355 h 2355"/>
              <a:gd name="p0x10" fmla="*/ 107 w 8595"/>
              <a:gd name="p0y10" fmla="*/ 2355 h 2355"/>
              <a:gd name="p0x11" fmla="*/ 0 w 8595"/>
              <a:gd name="p0y11" fmla="*/ 2247 h 2355"/>
              <a:gd name="p0x12" fmla="*/ 0 w 8595"/>
              <a:gd name="p0y12" fmla="*/ 2115 h 2355"/>
              <a:gd name="p0x13" fmla="*/ 0 w 8595"/>
              <a:gd name="p0y13" fmla="*/ 240 h 2355"/>
              <a:gd name="p0x14" fmla="*/ 0 w 8595"/>
              <a:gd name="p0y14" fmla="*/ 107 h 2355"/>
              <a:gd name="p0x15" fmla="*/ 107 w 8595"/>
              <a:gd name="p0y15" fmla="*/ 0 h 2355"/>
              <a:gd name="p0x16" fmla="*/ 24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0"/>
            </p:custDataLst>
          </p:nvPr>
        </p:nvSpPr>
        <p:spPr>
          <a:xfrm>
            <a:off x="86714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03</a:t>
            </a:r>
            <a:endParaRPr sz="3300" b="1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0" name="矩形 19"/>
          <p:cNvSpPr/>
          <p:nvPr>
            <p:custDataLst>
              <p:tags r:id="rId21"/>
            </p:custDataLst>
          </p:nvPr>
        </p:nvSpPr>
        <p:spPr>
          <a:xfrm>
            <a:off x="1542415" y="3614420"/>
            <a:ext cx="9525" cy="52387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1876425" y="356758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数据来源</a:t>
            </a:r>
            <a:r>
              <a:rPr sz="2100"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</a:rPr>
              <a:t>与标注</a:t>
            </a:r>
            <a:endParaRPr sz="2100" b="1">
              <a:solidFill>
                <a:srgbClr val="1B3A5C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1876425" y="394144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rgbClr val="4A6B8A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知识库质量决定</a:t>
            </a:r>
            <a:r>
              <a:rPr lang="en-US" altLang="zh-CN" sz="1350">
                <a:solidFill>
                  <a:srgbClr val="4A6B8A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AI</a:t>
            </a:r>
            <a:r>
              <a:rPr lang="zh-CN" altLang="en-US" sz="1350">
                <a:solidFill>
                  <a:srgbClr val="4A6B8A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上限</a:t>
            </a:r>
            <a:endParaRPr lang="zh-CN" altLang="en-US" sz="1350">
              <a:solidFill>
                <a:srgbClr val="4A6B8A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4"/>
            </p:custDataLst>
          </p:nvPr>
        </p:nvSpPr>
        <p:spPr>
          <a:xfrm>
            <a:off x="6195695" y="312864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40 w 8595"/>
              <a:gd name="p0y0" fmla="*/ 0 h 2355"/>
              <a:gd name="p0x1" fmla="*/ 8355 w 8595"/>
              <a:gd name="p0y1" fmla="*/ 0 h 2355"/>
              <a:gd name="p0x2" fmla="*/ 8487 w 8595"/>
              <a:gd name="p0y2" fmla="*/ 0 h 2355"/>
              <a:gd name="p0x3" fmla="*/ 8595 w 8595"/>
              <a:gd name="p0y3" fmla="*/ 107 h 2355"/>
              <a:gd name="p0x4" fmla="*/ 8595 w 8595"/>
              <a:gd name="p0y4" fmla="*/ 240 h 2355"/>
              <a:gd name="p0x5" fmla="*/ 8595 w 8595"/>
              <a:gd name="p0y5" fmla="*/ 2115 h 2355"/>
              <a:gd name="p0x6" fmla="*/ 8595 w 8595"/>
              <a:gd name="p0y6" fmla="*/ 2247 h 2355"/>
              <a:gd name="p0x7" fmla="*/ 8487 w 8595"/>
              <a:gd name="p0y7" fmla="*/ 2355 h 2355"/>
              <a:gd name="p0x8" fmla="*/ 8355 w 8595"/>
              <a:gd name="p0y8" fmla="*/ 2355 h 2355"/>
              <a:gd name="p0x9" fmla="*/ 240 w 8595"/>
              <a:gd name="p0y9" fmla="*/ 2355 h 2355"/>
              <a:gd name="p0x10" fmla="*/ 107 w 8595"/>
              <a:gd name="p0y10" fmla="*/ 2355 h 2355"/>
              <a:gd name="p0x11" fmla="*/ 0 w 8595"/>
              <a:gd name="p0y11" fmla="*/ 2247 h 2355"/>
              <a:gd name="p0x12" fmla="*/ 0 w 8595"/>
              <a:gd name="p0y12" fmla="*/ 2115 h 2355"/>
              <a:gd name="p0x13" fmla="*/ 0 w 8595"/>
              <a:gd name="p0y13" fmla="*/ 240 h 2355"/>
              <a:gd name="p0x14" fmla="*/ 0 w 8595"/>
              <a:gd name="p0y14" fmla="*/ 107 h 2355"/>
              <a:gd name="p0x15" fmla="*/ 107 w 8595"/>
              <a:gd name="p0y15" fmla="*/ 0 h 2355"/>
              <a:gd name="p0x16" fmla="*/ 24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5"/>
            </p:custDataLst>
          </p:nvPr>
        </p:nvSpPr>
        <p:spPr>
          <a:xfrm>
            <a:off x="6524996" y="358997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04</a:t>
            </a:r>
            <a:endParaRPr sz="3300" b="1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6" name="矩形 25"/>
          <p:cNvSpPr/>
          <p:nvPr>
            <p:custDataLst>
              <p:tags r:id="rId26"/>
            </p:custDataLst>
          </p:nvPr>
        </p:nvSpPr>
        <p:spPr>
          <a:xfrm>
            <a:off x="7200265" y="3614420"/>
            <a:ext cx="9525" cy="52387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7"/>
            </p:custDataLst>
          </p:nvPr>
        </p:nvSpPr>
        <p:spPr>
          <a:xfrm>
            <a:off x="7534275" y="356758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产品入口</a:t>
            </a:r>
            <a:r>
              <a:rPr sz="2100"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</a:rPr>
              <a:t>与落地方案</a:t>
            </a:r>
            <a:endParaRPr sz="2100" b="1">
              <a:solidFill>
                <a:srgbClr val="1B3A5C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8"/>
            </p:custDataLst>
          </p:nvPr>
        </p:nvSpPr>
        <p:spPr>
          <a:xfrm>
            <a:off x="7534275" y="394144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A6B8A"/>
                </a:solidFill>
                <a:latin typeface="MiSans Demibold" panose="00000700000000000000" charset="-122"/>
                <a:ea typeface="MiSans Demibold" panose="00000700000000000000" charset="-122"/>
              </a:rPr>
              <a:t>入口选择与处理链路</a:t>
            </a:r>
            <a:endParaRPr sz="1350">
              <a:solidFill>
                <a:srgbClr val="4A6B8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9"/>
            </p:custDataLst>
          </p:nvPr>
        </p:nvSpPr>
        <p:spPr>
          <a:xfrm>
            <a:off x="53784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40 w 8595"/>
              <a:gd name="p0y0" fmla="*/ 0 h 2355"/>
              <a:gd name="p0x1" fmla="*/ 8355 w 8595"/>
              <a:gd name="p0y1" fmla="*/ 0 h 2355"/>
              <a:gd name="p0x2" fmla="*/ 8487 w 8595"/>
              <a:gd name="p0y2" fmla="*/ 0 h 2355"/>
              <a:gd name="p0x3" fmla="*/ 8595 w 8595"/>
              <a:gd name="p0y3" fmla="*/ 107 h 2355"/>
              <a:gd name="p0x4" fmla="*/ 8595 w 8595"/>
              <a:gd name="p0y4" fmla="*/ 240 h 2355"/>
              <a:gd name="p0x5" fmla="*/ 8595 w 8595"/>
              <a:gd name="p0y5" fmla="*/ 2115 h 2355"/>
              <a:gd name="p0x6" fmla="*/ 8595 w 8595"/>
              <a:gd name="p0y6" fmla="*/ 2247 h 2355"/>
              <a:gd name="p0x7" fmla="*/ 8487 w 8595"/>
              <a:gd name="p0y7" fmla="*/ 2355 h 2355"/>
              <a:gd name="p0x8" fmla="*/ 8355 w 8595"/>
              <a:gd name="p0y8" fmla="*/ 2355 h 2355"/>
              <a:gd name="p0x9" fmla="*/ 240 w 8595"/>
              <a:gd name="p0y9" fmla="*/ 2355 h 2355"/>
              <a:gd name="p0x10" fmla="*/ 107 w 8595"/>
              <a:gd name="p0y10" fmla="*/ 2355 h 2355"/>
              <a:gd name="p0x11" fmla="*/ 0 w 8595"/>
              <a:gd name="p0y11" fmla="*/ 2247 h 2355"/>
              <a:gd name="p0x12" fmla="*/ 0 w 8595"/>
              <a:gd name="p0y12" fmla="*/ 2115 h 2355"/>
              <a:gd name="p0x13" fmla="*/ 0 w 8595"/>
              <a:gd name="p0y13" fmla="*/ 240 h 2355"/>
              <a:gd name="p0x14" fmla="*/ 0 w 8595"/>
              <a:gd name="p0y14" fmla="*/ 107 h 2355"/>
              <a:gd name="p0x15" fmla="*/ 107 w 8595"/>
              <a:gd name="p0y15" fmla="*/ 0 h 2355"/>
              <a:gd name="p0x16" fmla="*/ 24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86714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05</a:t>
            </a:r>
            <a:endParaRPr sz="3300" b="1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2" name="矩形 31"/>
          <p:cNvSpPr/>
          <p:nvPr>
            <p:custDataLst>
              <p:tags r:id="rId31"/>
            </p:custDataLst>
          </p:nvPr>
        </p:nvSpPr>
        <p:spPr>
          <a:xfrm>
            <a:off x="1542415" y="5309870"/>
            <a:ext cx="9525" cy="52387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2"/>
            </p:custDataLst>
          </p:nvPr>
        </p:nvSpPr>
        <p:spPr>
          <a:xfrm>
            <a:off x="1876425" y="52630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人机协作</a:t>
            </a:r>
            <a:r>
              <a:rPr sz="2100"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</a:rPr>
              <a:t>设计</a:t>
            </a:r>
            <a:endParaRPr sz="2100" b="1">
              <a:solidFill>
                <a:srgbClr val="1B3A5C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3"/>
            </p:custDataLst>
          </p:nvPr>
        </p:nvSpPr>
        <p:spPr>
          <a:xfrm>
            <a:off x="187642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350">
                <a:solidFill>
                  <a:srgbClr val="4A6B8A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AI</a:t>
            </a:r>
            <a:r>
              <a:rPr lang="zh-CN" sz="1350">
                <a:solidFill>
                  <a:srgbClr val="4A6B8A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做信息，人做决策</a:t>
            </a:r>
            <a:endParaRPr lang="zh-CN" sz="1350">
              <a:solidFill>
                <a:srgbClr val="4A6B8A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4"/>
            </p:custDataLst>
          </p:nvPr>
        </p:nvSpPr>
        <p:spPr>
          <a:xfrm>
            <a:off x="6195695" y="4824095"/>
            <a:ext cx="5457825" cy="1495425"/>
          </a:xfrm>
          <a:custGeom>
            <a:avLst/>
            <a:gdLst>
              <a:gd name="sw" fmla="*/ 1 w 8595"/>
              <a:gd name="sh" fmla="*/ 1 h 2355"/>
              <a:gd name="mins" fmla="min sw sh"/>
              <a:gd name="dsw" fmla="+- 0 sw mins"/>
              <a:gd name="dsh" fmla="+- 0 sh mins"/>
              <a:gd name="p0x0" fmla="*/ 240 w 8595"/>
              <a:gd name="p0y0" fmla="*/ 0 h 2355"/>
              <a:gd name="p0x1" fmla="*/ 8355 w 8595"/>
              <a:gd name="p0y1" fmla="*/ 0 h 2355"/>
              <a:gd name="p0x2" fmla="*/ 8487 w 8595"/>
              <a:gd name="p0y2" fmla="*/ 0 h 2355"/>
              <a:gd name="p0x3" fmla="*/ 8595 w 8595"/>
              <a:gd name="p0y3" fmla="*/ 107 h 2355"/>
              <a:gd name="p0x4" fmla="*/ 8595 w 8595"/>
              <a:gd name="p0y4" fmla="*/ 240 h 2355"/>
              <a:gd name="p0x5" fmla="*/ 8595 w 8595"/>
              <a:gd name="p0y5" fmla="*/ 2115 h 2355"/>
              <a:gd name="p0x6" fmla="*/ 8595 w 8595"/>
              <a:gd name="p0y6" fmla="*/ 2247 h 2355"/>
              <a:gd name="p0x7" fmla="*/ 8487 w 8595"/>
              <a:gd name="p0y7" fmla="*/ 2355 h 2355"/>
              <a:gd name="p0x8" fmla="*/ 8355 w 8595"/>
              <a:gd name="p0y8" fmla="*/ 2355 h 2355"/>
              <a:gd name="p0x9" fmla="*/ 240 w 8595"/>
              <a:gd name="p0y9" fmla="*/ 2355 h 2355"/>
              <a:gd name="p0x10" fmla="*/ 107 w 8595"/>
              <a:gd name="p0y10" fmla="*/ 2355 h 2355"/>
              <a:gd name="p0x11" fmla="*/ 0 w 8595"/>
              <a:gd name="p0y11" fmla="*/ 2247 h 2355"/>
              <a:gd name="p0x12" fmla="*/ 0 w 8595"/>
              <a:gd name="p0y12" fmla="*/ 2115 h 2355"/>
              <a:gd name="p0x13" fmla="*/ 0 w 8595"/>
              <a:gd name="p0y13" fmla="*/ 240 h 2355"/>
              <a:gd name="p0x14" fmla="*/ 0 w 8595"/>
              <a:gd name="p0y14" fmla="*/ 107 h 2355"/>
              <a:gd name="p0x15" fmla="*/ 107 w 8595"/>
              <a:gd name="p0y15" fmla="*/ 0 h 2355"/>
              <a:gd name="p0x16" fmla="*/ 240 w 8595"/>
              <a:gd name="p0y16" fmla="*/ 0 h 23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6524996" y="5285422"/>
            <a:ext cx="94215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300" b="1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06</a:t>
            </a:r>
            <a:endParaRPr sz="3300" b="1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8" name="矩形 37"/>
          <p:cNvSpPr/>
          <p:nvPr>
            <p:custDataLst>
              <p:tags r:id="rId36"/>
            </p:custDataLst>
          </p:nvPr>
        </p:nvSpPr>
        <p:spPr>
          <a:xfrm>
            <a:off x="7200265" y="5309870"/>
            <a:ext cx="9525" cy="52387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7534275" y="5263039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chemeClr val="accent1"/>
                </a:solidFill>
                <a:latin typeface="MiSans Demibold" panose="00000700000000000000" charset="-122"/>
                <a:ea typeface="MiSans Demibold" panose="00000700000000000000" charset="-122"/>
              </a:rPr>
              <a:t>评估体系</a:t>
            </a:r>
            <a:r>
              <a:rPr sz="2100"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</a:rPr>
              <a:t>与迭代</a:t>
            </a:r>
            <a:endParaRPr sz="2100" b="1">
              <a:solidFill>
                <a:srgbClr val="1B3A5C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8"/>
            </p:custDataLst>
          </p:nvPr>
        </p:nvSpPr>
        <p:spPr>
          <a:xfrm>
            <a:off x="7534275" y="5636895"/>
            <a:ext cx="411480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4A6B8A"/>
                </a:solidFill>
                <a:latin typeface="MiSans Demibold" panose="00000700000000000000" charset="-122"/>
                <a:ea typeface="MiSans Demibold" panose="00000700000000000000" charset="-122"/>
              </a:rPr>
              <a:t>验收标准与飞轮机制</a:t>
            </a:r>
            <a:endParaRPr sz="1350">
              <a:solidFill>
                <a:srgbClr val="4A6B8A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8801100" y="-685800"/>
            <a:ext cx="4000500" cy="4000500"/>
          </a:xfrm>
          <a:custGeom>
            <a:avLst/>
            <a:gdLst>
              <a:gd name="sw" fmla="*/ 1 w 6300"/>
              <a:gd name="sh" fmla="*/ 1 h 6300"/>
              <a:gd name="mins" fmla="min sw sh"/>
              <a:gd name="dsw" fmla="+- 0 sw mins"/>
              <a:gd name="dsh" fmla="+- 0 sh mins"/>
              <a:gd name="p0x0" fmla="*/ 3150 w 6300"/>
              <a:gd name="p0y0" fmla="*/ 0 h 6300"/>
              <a:gd name="p0x1" fmla="*/ 4889 w 6300"/>
              <a:gd name="p0y1" fmla="*/ 0 h 6300"/>
              <a:gd name="p0x2" fmla="*/ 6300 w 6300"/>
              <a:gd name="p0y2" fmla="*/ 1410 h 6300"/>
              <a:gd name="p0x3" fmla="*/ 6300 w 6300"/>
              <a:gd name="p0y3" fmla="*/ 3150 h 6300"/>
              <a:gd name="p0x4" fmla="*/ 6300 w 6300"/>
              <a:gd name="p0y4" fmla="*/ 4889 h 6300"/>
              <a:gd name="p0x5" fmla="*/ 4889 w 6300"/>
              <a:gd name="p0y5" fmla="*/ 6300 h 6300"/>
              <a:gd name="p0x6" fmla="*/ 3150 w 6300"/>
              <a:gd name="p0y6" fmla="*/ 6300 h 6300"/>
              <a:gd name="p0x7" fmla="*/ 1410 w 6300"/>
              <a:gd name="p0y7" fmla="*/ 6300 h 6300"/>
              <a:gd name="p0x8" fmla="*/ 0 w 6300"/>
              <a:gd name="p0y8" fmla="*/ 4889 h 6300"/>
              <a:gd name="p0x9" fmla="*/ 0 w 6300"/>
              <a:gd name="p0y9" fmla="*/ 3150 h 6300"/>
              <a:gd name="p0x10" fmla="*/ 0 w 6300"/>
              <a:gd name="p0y10" fmla="*/ 1410 h 6300"/>
              <a:gd name="p0x11" fmla="*/ 1410 w 6300"/>
              <a:gd name="p0y11" fmla="*/ 0 h 6300"/>
              <a:gd name="p0x12" fmla="*/ 3150 w 6300"/>
              <a:gd name="p0y12" fmla="*/ 0 h 6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571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4"/>
            </p:custDataLst>
          </p:nvPr>
        </p:nvSpPr>
        <p:spPr>
          <a:xfrm>
            <a:off x="-365125" y="3977005"/>
            <a:ext cx="3428365" cy="3429000"/>
          </a:xfrm>
          <a:custGeom>
            <a:avLst/>
            <a:gdLst>
              <a:gd name="sw" fmla="*/ 1 w 5400"/>
              <a:gd name="sh" fmla="*/ 1 h 5400"/>
              <a:gd name="mins" fmla="min sw sh"/>
              <a:gd name="dsw" fmla="+- 0 sw mins"/>
              <a:gd name="dsh" fmla="+- 0 sh mins"/>
              <a:gd name="p0x0" fmla="*/ 2700 w 5400"/>
              <a:gd name="p0y0" fmla="*/ 0 h 5400"/>
              <a:gd name="p0x1" fmla="*/ 4191 w 5400"/>
              <a:gd name="p0y1" fmla="*/ 0 h 5400"/>
              <a:gd name="p0x2" fmla="*/ 5400 w 5400"/>
              <a:gd name="p0y2" fmla="*/ 1208 h 5400"/>
              <a:gd name="p0x3" fmla="*/ 5400 w 5400"/>
              <a:gd name="p0y3" fmla="*/ 2700 h 5400"/>
              <a:gd name="p0x4" fmla="*/ 5400 w 5400"/>
              <a:gd name="p0y4" fmla="*/ 4191 h 5400"/>
              <a:gd name="p0x5" fmla="*/ 4191 w 5400"/>
              <a:gd name="p0y5" fmla="*/ 5400 h 5400"/>
              <a:gd name="p0x6" fmla="*/ 2700 w 5400"/>
              <a:gd name="p0y6" fmla="*/ 5400 h 5400"/>
              <a:gd name="p0x7" fmla="*/ 1208 w 5400"/>
              <a:gd name="p0y7" fmla="*/ 5400 h 5400"/>
              <a:gd name="p0x8" fmla="*/ 0 w 5400"/>
              <a:gd name="p0y8" fmla="*/ 4191 h 5400"/>
              <a:gd name="p0x9" fmla="*/ 0 w 5400"/>
              <a:gd name="p0y9" fmla="*/ 2700 h 5400"/>
              <a:gd name="p0x10" fmla="*/ 0 w 5400"/>
              <a:gd name="p0y10" fmla="*/ 1208 h 5400"/>
              <a:gd name="p0x11" fmla="*/ 1208 w 5400"/>
              <a:gd name="p0y11" fmla="*/ 0 h 5400"/>
              <a:gd name="p0x12" fmla="*/ 2700 w 5400"/>
              <a:gd name="p0y12" fmla="*/ 0 h 54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47625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809625" y="16502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666750" y="3508534"/>
            <a:ext cx="42672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业务背景与目标</a:t>
            </a:r>
            <a:endParaRPr sz="42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666750" y="4436110"/>
            <a:ext cx="3298825" cy="9525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666750" y="4583906"/>
            <a:ext cx="348964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spc="30">
                <a:solidFill>
                  <a:srgbClr val="4A6B8A"/>
                </a:solidFill>
                <a:cs typeface="+mn-lt"/>
              </a:rPr>
              <a:t>AI</a:t>
            </a:r>
            <a:r>
              <a:rPr lang="zh-CN" sz="1500" spc="30">
                <a:solidFill>
                  <a:srgbClr val="4A6B8A"/>
                </a:solidFill>
                <a:cs typeface="+mn-lt"/>
              </a:rPr>
              <a:t>省的是重复判断，人做有温度的沟通</a:t>
            </a:r>
            <a:endParaRPr lang="zh-CN"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666750" y="4888706"/>
            <a:ext cx="329914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还原客服现状，量化</a:t>
            </a:r>
            <a:r>
              <a:rPr lang="en-US" altLang="zh-CN" sz="1500" spc="30">
                <a:solidFill>
                  <a:srgbClr val="4A6B8A"/>
                </a:solidFill>
                <a:cs typeface="+mn-lt"/>
              </a:rPr>
              <a:t>AI</a:t>
            </a: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价值</a:t>
            </a:r>
            <a:endParaRPr lang="zh-CN" altLang="en-US"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 rot="2700000">
            <a:off x="666115" y="1714500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3"/>
            </p:custDataLst>
          </p:nvPr>
        </p:nvSpPr>
        <p:spPr>
          <a:xfrm>
            <a:off x="1819910" y="173355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4"/>
            </p:custDataLst>
          </p:nvPr>
        </p:nvSpPr>
        <p:spPr>
          <a:xfrm>
            <a:off x="666750" y="2097881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1A73E8">
                    <a:alpha val="12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01</a:t>
            </a:r>
            <a:endParaRPr sz="9000" b="1">
              <a:solidFill>
                <a:srgbClr val="1A73E8">
                  <a:alpha val="12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客服现状：繁琐低效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6B8A"/>
                </a:solidFill>
                <a:cs typeface="+mn-lt"/>
              </a:rPr>
              <a:t>以日均咨询量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 2000+ </a:t>
            </a:r>
            <a:r>
              <a:rPr lang="zh-CN" altLang="en-US" sz="1500">
                <a:solidFill>
                  <a:srgbClr val="4A6B8A"/>
                </a:solidFill>
                <a:cs typeface="+mn-lt"/>
              </a:rPr>
              <a:t>的中型电商平台为例，现有客服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 20</a:t>
            </a:r>
            <a:r>
              <a:rPr lang="zh-CN" altLang="en-US" sz="1500">
                <a:solidFill>
                  <a:srgbClr val="4A6B8A"/>
                </a:solidFill>
                <a:cs typeface="+mn-lt"/>
              </a:rPr>
              <a:t>人、平均工龄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 1.5</a:t>
            </a:r>
            <a:r>
              <a:rPr lang="zh-CN" altLang="en-US" sz="1500">
                <a:solidFill>
                  <a:srgbClr val="4A6B8A"/>
                </a:solidFill>
                <a:cs typeface="+mn-lt"/>
              </a:rPr>
              <a:t>年，当前运营现状如下</a:t>
            </a:r>
            <a:endParaRPr lang="zh-CN" altLang="en-US" sz="1500">
              <a:solidFill>
                <a:srgbClr val="4A6B8A"/>
              </a:solidFill>
              <a:cs typeface="+mn-lt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3"/>
            </p:custDataLst>
          </p:nvPr>
        </p:nvGraphicFramePr>
        <p:xfrm>
          <a:off x="571500" y="2400300"/>
          <a:ext cx="11049000" cy="325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910"/>
                <a:gridCol w="9479089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维度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现状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</a:tr>
              <a:tr h="913135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操作流程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手动切换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lang="en-US" altLang="zh-CN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CRM / </a:t>
                      </a:r>
                      <a:r>
                        <a:rPr lang="zh-CN" altLang="en-US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知识库</a:t>
                      </a:r>
                      <a:r>
                        <a:rPr lang="en-US" altLang="zh-CN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 / </a:t>
                      </a:r>
                      <a:r>
                        <a:rPr lang="zh-CN" altLang="en-US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订单</a:t>
                      </a:r>
                      <a:r>
                        <a:rPr lang="en-US" altLang="zh-CN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 / </a:t>
                      </a:r>
                      <a:r>
                        <a:rPr lang="zh-CN" altLang="en-US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话术</a:t>
                      </a:r>
                      <a:r>
                        <a:rPr 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4 </a:t>
                      </a:r>
                      <a:r>
                        <a:rPr 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个系统</a:t>
                      </a:r>
                      <a:r>
                        <a:rPr lang="zh-CN" sz="1500" b="0">
                          <a:solidFill>
                            <a:schemeClr val="tx2"/>
                          </a:solidFill>
                          <a:cs typeface="+mn-lt"/>
                        </a:rPr>
                        <a:t>，单问题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6-8 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步</a:t>
                      </a:r>
                      <a:endParaRPr lang="zh-CN" altLang="en-US"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913135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时间成本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简单问题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3-5 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分钟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，复杂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15-20 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分钟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，排队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8 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分钟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，月人力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16 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万</a:t>
                      </a:r>
                      <a:endParaRPr lang="zh-CN" altLang="en-US"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3135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服务质量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满意度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3.8/5</a:t>
                      </a:r>
                      <a:r>
                        <a:rPr lang="zh-CN" sz="1500" b="0">
                          <a:solidFill>
                            <a:schemeClr val="tx2"/>
                          </a:solidFill>
                          <a:cs typeface="+mn-lt"/>
                        </a:rPr>
                        <a:t>，首响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4.2 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分钟</a:t>
                      </a:r>
                      <a:r>
                        <a:rPr lang="zh-CN" altLang="en-US" sz="1500" b="0">
                          <a:solidFill>
                            <a:schemeClr val="tx2"/>
                          </a:solidFill>
                          <a:cs typeface="+mn-lt"/>
                        </a:rPr>
                        <a:t>，一次解决率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62%</a:t>
                      </a:r>
                      <a:r>
                        <a:rPr lang="zh-CN" sz="1500" b="0">
                          <a:solidFill>
                            <a:schemeClr val="tx2"/>
                          </a:solidFill>
                          <a:cs typeface="+mn-lt"/>
                        </a:rPr>
                        <a:t>，高峰流失率</a:t>
                      </a:r>
                      <a:r>
                        <a:rPr lang="en-US" altLang="zh-CN" sz="1500" b="0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15%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152400" marB="152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575945" y="1452245"/>
            <a:ext cx="3571875" cy="790575"/>
          </a:xfrm>
          <a:custGeom>
            <a:avLst/>
            <a:gdLst>
              <a:gd name="sw" fmla="*/ 1 w 5625"/>
              <a:gd name="sh" fmla="*/ 1 h 1245"/>
              <a:gd name="mins" fmla="min sw sh"/>
              <a:gd name="dsw" fmla="+- 0 sw mins"/>
              <a:gd name="dsh" fmla="+- 0 sh mins"/>
              <a:gd name="p0x0" fmla="*/ 240 w 5625"/>
              <a:gd name="p0y0" fmla="*/ 0 h 1245"/>
              <a:gd name="p0x1" fmla="*/ 5385 w 5625"/>
              <a:gd name="p0y1" fmla="*/ 0 h 1245"/>
              <a:gd name="p0x2" fmla="*/ 5517 w 5625"/>
              <a:gd name="p0y2" fmla="*/ 0 h 1245"/>
              <a:gd name="p0x3" fmla="*/ 5625 w 5625"/>
              <a:gd name="p0y3" fmla="*/ 107 h 1245"/>
              <a:gd name="p0x4" fmla="*/ 5625 w 5625"/>
              <a:gd name="p0y4" fmla="*/ 240 h 1245"/>
              <a:gd name="p0x5" fmla="*/ 5625 w 5625"/>
              <a:gd name="p0y5" fmla="*/ 1005 h 1245"/>
              <a:gd name="p0x6" fmla="*/ 5625 w 5625"/>
              <a:gd name="p0y6" fmla="*/ 1137 h 1245"/>
              <a:gd name="p0x7" fmla="*/ 5517 w 5625"/>
              <a:gd name="p0y7" fmla="*/ 1245 h 1245"/>
              <a:gd name="p0x8" fmla="*/ 5385 w 5625"/>
              <a:gd name="p0y8" fmla="*/ 1245 h 1245"/>
              <a:gd name="p0x9" fmla="*/ 240 w 5625"/>
              <a:gd name="p0y9" fmla="*/ 1245 h 1245"/>
              <a:gd name="p0x10" fmla="*/ 107 w 5625"/>
              <a:gd name="p0y10" fmla="*/ 1245 h 1245"/>
              <a:gd name="p0x11" fmla="*/ 0 w 5625"/>
              <a:gd name="p0y11" fmla="*/ 1137 h 1245"/>
              <a:gd name="p0x12" fmla="*/ 0 w 5625"/>
              <a:gd name="p0y12" fmla="*/ 1005 h 1245"/>
              <a:gd name="p0x13" fmla="*/ 0 w 5625"/>
              <a:gd name="p0y13" fmla="*/ 240 h 1245"/>
              <a:gd name="p0x14" fmla="*/ 0 w 5625"/>
              <a:gd name="p0y14" fmla="*/ 107 h 1245"/>
              <a:gd name="p0x15" fmla="*/ 107 w 5625"/>
              <a:gd name="p0y15" fmla="*/ 0 h 1245"/>
              <a:gd name="p0x16" fmla="*/ 240 w 5625"/>
              <a:gd name="p0y16" fmla="*/ 0 h 12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215333" y="1585913"/>
            <a:ext cx="1569768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chemeClr val="tx2"/>
                </a:solidFill>
                <a:cs typeface="+mn-lt"/>
              </a:rPr>
              <a:t>2000+</a:t>
            </a:r>
            <a:endParaRPr sz="30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556491" y="1721644"/>
            <a:ext cx="114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chemeClr val="tx2"/>
                </a:solidFill>
                <a:cs typeface="+mn-lt"/>
              </a:rPr>
              <a:t>日均咨询量</a:t>
            </a:r>
            <a:endParaRPr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4309745" y="1452245"/>
            <a:ext cx="3571875" cy="790575"/>
          </a:xfrm>
          <a:custGeom>
            <a:avLst/>
            <a:gdLst>
              <a:gd name="sw" fmla="*/ 1 w 5625"/>
              <a:gd name="sh" fmla="*/ 1 h 1245"/>
              <a:gd name="mins" fmla="min sw sh"/>
              <a:gd name="dsw" fmla="+- 0 sw mins"/>
              <a:gd name="dsh" fmla="+- 0 sh mins"/>
              <a:gd name="p0x0" fmla="*/ 240 w 5625"/>
              <a:gd name="p0y0" fmla="*/ 0 h 1245"/>
              <a:gd name="p0x1" fmla="*/ 5385 w 5625"/>
              <a:gd name="p0y1" fmla="*/ 0 h 1245"/>
              <a:gd name="p0x2" fmla="*/ 5517 w 5625"/>
              <a:gd name="p0y2" fmla="*/ 0 h 1245"/>
              <a:gd name="p0x3" fmla="*/ 5625 w 5625"/>
              <a:gd name="p0y3" fmla="*/ 107 h 1245"/>
              <a:gd name="p0x4" fmla="*/ 5625 w 5625"/>
              <a:gd name="p0y4" fmla="*/ 240 h 1245"/>
              <a:gd name="p0x5" fmla="*/ 5625 w 5625"/>
              <a:gd name="p0y5" fmla="*/ 1005 h 1245"/>
              <a:gd name="p0x6" fmla="*/ 5625 w 5625"/>
              <a:gd name="p0y6" fmla="*/ 1137 h 1245"/>
              <a:gd name="p0x7" fmla="*/ 5517 w 5625"/>
              <a:gd name="p0y7" fmla="*/ 1245 h 1245"/>
              <a:gd name="p0x8" fmla="*/ 5385 w 5625"/>
              <a:gd name="p0y8" fmla="*/ 1245 h 1245"/>
              <a:gd name="p0x9" fmla="*/ 240 w 5625"/>
              <a:gd name="p0y9" fmla="*/ 1245 h 1245"/>
              <a:gd name="p0x10" fmla="*/ 107 w 5625"/>
              <a:gd name="p0y10" fmla="*/ 1245 h 1245"/>
              <a:gd name="p0x11" fmla="*/ 0 w 5625"/>
              <a:gd name="p0y11" fmla="*/ 1137 h 1245"/>
              <a:gd name="p0x12" fmla="*/ 0 w 5625"/>
              <a:gd name="p0y12" fmla="*/ 1005 h 1245"/>
              <a:gd name="p0x13" fmla="*/ 0 w 5625"/>
              <a:gd name="p0y13" fmla="*/ 240 h 1245"/>
              <a:gd name="p0x14" fmla="*/ 0 w 5625"/>
              <a:gd name="p0y14" fmla="*/ 107 h 1245"/>
              <a:gd name="p0x15" fmla="*/ 107 w 5625"/>
              <a:gd name="p0y15" fmla="*/ 0 h 1245"/>
              <a:gd name="p0x16" fmla="*/ 240 w 5625"/>
              <a:gd name="p0y16" fmla="*/ 0 h 12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5210546" y="1585913"/>
            <a:ext cx="1237507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chemeClr val="tx2"/>
                </a:solidFill>
                <a:cs typeface="+mn-lt"/>
              </a:rPr>
              <a:t>20</a:t>
            </a:r>
            <a:r>
              <a:rPr lang="zh-CN" sz="3000" b="1">
                <a:solidFill>
                  <a:schemeClr val="tx2"/>
                </a:solidFill>
                <a:cs typeface="+mn-lt"/>
              </a:rPr>
              <a:t>人</a:t>
            </a:r>
            <a:endParaRPr lang="zh-CN" sz="30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6219454" y="1721644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chemeClr val="tx2"/>
                </a:solidFill>
                <a:cs typeface="+mn-lt"/>
              </a:rPr>
              <a:t>现有客服</a:t>
            </a:r>
            <a:endParaRPr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8043545" y="1452245"/>
            <a:ext cx="3571875" cy="790575"/>
          </a:xfrm>
          <a:custGeom>
            <a:avLst/>
            <a:gdLst>
              <a:gd name="sw" fmla="*/ 1 w 5625"/>
              <a:gd name="sh" fmla="*/ 1 h 1245"/>
              <a:gd name="mins" fmla="min sw sh"/>
              <a:gd name="dsw" fmla="+- 0 sw mins"/>
              <a:gd name="dsh" fmla="+- 0 sh mins"/>
              <a:gd name="p0x0" fmla="*/ 240 w 5625"/>
              <a:gd name="p0y0" fmla="*/ 0 h 1245"/>
              <a:gd name="p0x1" fmla="*/ 5385 w 5625"/>
              <a:gd name="p0y1" fmla="*/ 0 h 1245"/>
              <a:gd name="p0x2" fmla="*/ 5517 w 5625"/>
              <a:gd name="p0y2" fmla="*/ 0 h 1245"/>
              <a:gd name="p0x3" fmla="*/ 5625 w 5625"/>
              <a:gd name="p0y3" fmla="*/ 107 h 1245"/>
              <a:gd name="p0x4" fmla="*/ 5625 w 5625"/>
              <a:gd name="p0y4" fmla="*/ 240 h 1245"/>
              <a:gd name="p0x5" fmla="*/ 5625 w 5625"/>
              <a:gd name="p0y5" fmla="*/ 1005 h 1245"/>
              <a:gd name="p0x6" fmla="*/ 5625 w 5625"/>
              <a:gd name="p0y6" fmla="*/ 1137 h 1245"/>
              <a:gd name="p0x7" fmla="*/ 5517 w 5625"/>
              <a:gd name="p0y7" fmla="*/ 1245 h 1245"/>
              <a:gd name="p0x8" fmla="*/ 5385 w 5625"/>
              <a:gd name="p0y8" fmla="*/ 1245 h 1245"/>
              <a:gd name="p0x9" fmla="*/ 240 w 5625"/>
              <a:gd name="p0y9" fmla="*/ 1245 h 1245"/>
              <a:gd name="p0x10" fmla="*/ 107 w 5625"/>
              <a:gd name="p0y10" fmla="*/ 1245 h 1245"/>
              <a:gd name="p0x11" fmla="*/ 0 w 5625"/>
              <a:gd name="p0y11" fmla="*/ 1137 h 1245"/>
              <a:gd name="p0x12" fmla="*/ 0 w 5625"/>
              <a:gd name="p0y12" fmla="*/ 1005 h 1245"/>
              <a:gd name="p0x13" fmla="*/ 0 w 5625"/>
              <a:gd name="p0y13" fmla="*/ 240 h 1245"/>
              <a:gd name="p0x14" fmla="*/ 0 w 5625"/>
              <a:gd name="p0y14" fmla="*/ 107 h 1245"/>
              <a:gd name="p0x15" fmla="*/ 107 w 5625"/>
              <a:gd name="p0y15" fmla="*/ 0 h 1245"/>
              <a:gd name="p0x16" fmla="*/ 240 w 5625"/>
              <a:gd name="p0y16" fmla="*/ 0 h 12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8894417" y="1585913"/>
            <a:ext cx="1337367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3000" b="1">
                <a:solidFill>
                  <a:schemeClr val="tx2"/>
                </a:solidFill>
                <a:cs typeface="+mn-lt"/>
              </a:rPr>
              <a:t>1.5</a:t>
            </a:r>
            <a:r>
              <a:rPr lang="zh-CN" sz="3000" b="1">
                <a:solidFill>
                  <a:schemeClr val="tx2"/>
                </a:solidFill>
                <a:cs typeface="+mn-lt"/>
              </a:rPr>
              <a:t>年</a:t>
            </a:r>
            <a:endParaRPr lang="zh-CN" sz="30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10003183" y="1721644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chemeClr val="tx2"/>
                </a:solidFill>
                <a:cs typeface="+mn-lt"/>
              </a:rPr>
              <a:t>平均工龄</a:t>
            </a:r>
            <a:endParaRPr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571500" y="581025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762000" y="5985510"/>
            <a:ext cx="8915629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cs typeface="+mn-lt"/>
              </a:rPr>
              <a:t>客服把大量时间消耗在</a:t>
            </a:r>
            <a:r>
              <a:rPr b="1">
                <a:solidFill>
                  <a:srgbClr val="0A1E33"/>
                </a:solidFill>
                <a:cs typeface="+mn-lt"/>
              </a:rPr>
              <a:t>重复性查找和判断</a:t>
            </a:r>
            <a:r>
              <a:rPr>
                <a:solidFill>
                  <a:srgbClr val="FFFFFF"/>
                </a:solidFill>
                <a:cs typeface="+mn-lt"/>
              </a:rPr>
              <a:t>上，复杂沟通价值被淹没在系统切换之中。</a:t>
            </a:r>
            <a:endParaRPr>
              <a:solidFill>
                <a:srgbClr val="FFFFFF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AI</a:t>
            </a:r>
            <a:r>
              <a:rPr lang="zh-CN"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目标流程与人机权责</a:t>
            </a:r>
            <a:endParaRPr lang="zh-CN"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graphicFrame>
        <p:nvGraphicFramePr>
          <p:cNvPr id="43" name="表格 42"/>
          <p:cNvGraphicFramePr/>
          <p:nvPr>
            <p:custDataLst>
              <p:tags r:id="rId2"/>
            </p:custDataLst>
          </p:nvPr>
        </p:nvGraphicFramePr>
        <p:xfrm>
          <a:off x="571500" y="3998595"/>
          <a:ext cx="11049000" cy="17578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2682"/>
                <a:gridCol w="8176317"/>
              </a:tblGrid>
              <a:tr h="46099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权责分层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内容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</a:tr>
              <a:tr h="432271"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rgbClr val="27AE60"/>
                          </a:solidFill>
                          <a:cs typeface="+mn-lt"/>
                        </a:rPr>
                        <a:t>AI </a:t>
                      </a:r>
                      <a:r>
                        <a:rPr lang="zh-CN" sz="1500" b="1">
                          <a:solidFill>
                            <a:srgbClr val="27AE60"/>
                          </a:solidFill>
                          <a:cs typeface="+mn-lt"/>
                        </a:rPr>
                        <a:t>自动</a:t>
                      </a:r>
                      <a:endParaRPr lang="zh-CN" sz="1500" b="1">
                        <a:solidFill>
                          <a:srgbClr val="27AE60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查物流、查政策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FAQ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、查会员权益、话术生成、工单分类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432271">
                <a:tc>
                  <a:txBody>
                    <a:bodyPr wrap="square"/>
                    <a:p>
                      <a:pPr algn="l"/>
                      <a:r>
                        <a:rPr lang="en-US" altLang="en-US" sz="1500" b="1">
                          <a:solidFill>
                            <a:srgbClr val="F39C12"/>
                          </a:solidFill>
                          <a:cs typeface="+mn-lt"/>
                        </a:rPr>
                        <a:t>AI </a:t>
                      </a:r>
                      <a:r>
                        <a:rPr lang="zh-CN" altLang="en-US" sz="1500" b="1">
                          <a:solidFill>
                            <a:srgbClr val="F39C12"/>
                          </a:solidFill>
                          <a:cs typeface="+mn-lt"/>
                        </a:rPr>
                        <a:t>建议</a:t>
                      </a:r>
                      <a:r>
                        <a:rPr lang="en-US" altLang="zh-CN" sz="1500" b="1">
                          <a:solidFill>
                            <a:srgbClr val="F39C12"/>
                          </a:solidFill>
                          <a:cs typeface="+mn-lt"/>
                        </a:rPr>
                        <a:t> + </a:t>
                      </a:r>
                      <a:r>
                        <a:rPr lang="zh-CN" altLang="en-US" sz="1500" b="1">
                          <a:solidFill>
                            <a:srgbClr val="F39C12"/>
                          </a:solidFill>
                          <a:cs typeface="+mn-lt"/>
                        </a:rPr>
                        <a:t>人确认</a:t>
                      </a:r>
                      <a:endParaRPr lang="zh-CN" altLang="en-US" sz="1500" b="1">
                        <a:solidFill>
                          <a:srgbClr val="F39C12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退款金额计算、赔偿方案、投诉升级判断、敏感回复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2345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E74C3C"/>
                          </a:solidFill>
                          <a:cs typeface="+mn-lt"/>
                        </a:rPr>
                        <a:t>纯人工</a:t>
                      </a:r>
                      <a:endParaRPr sz="1500" b="1">
                        <a:solidFill>
                          <a:srgbClr val="E74C3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大客户投诉、舆情风险、法律纠纷、跨部门协调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44" name="任意多边形 43"/>
          <p:cNvSpPr/>
          <p:nvPr>
            <p:custDataLst>
              <p:tags r:id="rId3"/>
            </p:custDataLst>
          </p:nvPr>
        </p:nvSpPr>
        <p:spPr>
          <a:xfrm>
            <a:off x="571500" y="5984875"/>
            <a:ext cx="11049000" cy="491490"/>
          </a:xfrm>
          <a:custGeom>
            <a:avLst/>
            <a:gdLst>
              <a:gd name="sw" fmla="*/ 1 w 17400"/>
              <a:gd name="sh" fmla="*/ 1 h 774"/>
              <a:gd name="mins" fmla="min sw sh"/>
              <a:gd name="dsw" fmla="+- 0 sw mins"/>
              <a:gd name="dsh" fmla="+- 0 sh mins"/>
              <a:gd name="p0x0" fmla="*/ 240 w 17400"/>
              <a:gd name="p0y0" fmla="*/ 0 h 774"/>
              <a:gd name="p0x1" fmla="*/ 17160 w 17400"/>
              <a:gd name="p0y1" fmla="*/ 0 h 774"/>
              <a:gd name="p0x2" fmla="*/ 17292 w 17400"/>
              <a:gd name="p0y2" fmla="*/ 0 h 774"/>
              <a:gd name="p0x3" fmla="*/ 17400 w 17400"/>
              <a:gd name="p0y3" fmla="*/ 107 h 774"/>
              <a:gd name="p0x4" fmla="*/ 17400 w 17400"/>
              <a:gd name="p0y4" fmla="*/ 240 h 774"/>
              <a:gd name="p0x5" fmla="*/ 17400 w 17400"/>
              <a:gd name="p0y5" fmla="*/ 534 h 774"/>
              <a:gd name="p0x6" fmla="*/ 17400 w 17400"/>
              <a:gd name="p0y6" fmla="*/ 666 h 774"/>
              <a:gd name="p0x7" fmla="*/ 17292 w 17400"/>
              <a:gd name="p0y7" fmla="*/ 774 h 774"/>
              <a:gd name="p0x8" fmla="*/ 17160 w 17400"/>
              <a:gd name="p0y8" fmla="*/ 774 h 774"/>
              <a:gd name="p0x9" fmla="*/ 240 w 17400"/>
              <a:gd name="p0y9" fmla="*/ 774 h 774"/>
              <a:gd name="p0x10" fmla="*/ 107 w 17400"/>
              <a:gd name="p0y10" fmla="*/ 774 h 774"/>
              <a:gd name="p0x11" fmla="*/ 0 w 17400"/>
              <a:gd name="p0y11" fmla="*/ 666 h 774"/>
              <a:gd name="p0x12" fmla="*/ 0 w 17400"/>
              <a:gd name="p0y12" fmla="*/ 534 h 774"/>
              <a:gd name="p0x13" fmla="*/ 0 w 17400"/>
              <a:gd name="p0y13" fmla="*/ 240 h 774"/>
              <a:gd name="p0x14" fmla="*/ 0 w 17400"/>
              <a:gd name="p0y14" fmla="*/ 107 h 774"/>
              <a:gd name="p0x15" fmla="*/ 107 w 17400"/>
              <a:gd name="p0y15" fmla="*/ 0 h 774"/>
              <a:gd name="p0x16" fmla="*/ 240 w 17400"/>
              <a:gd name="p0y16" fmla="*/ 0 h 7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"/>
            </p:custDataLst>
          </p:nvPr>
        </p:nvSpPr>
        <p:spPr>
          <a:xfrm>
            <a:off x="723900" y="6045498"/>
            <a:ext cx="10744200" cy="38004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i="1">
                <a:solidFill>
                  <a:srgbClr val="4A6B8A"/>
                </a:solidFill>
                <a:cs typeface="+mn-lt"/>
              </a:rPr>
              <a:t>“省时间、省判断力、省体力，让复杂沟通回归价值。”</a:t>
            </a:r>
            <a:endParaRPr i="1">
              <a:solidFill>
                <a:srgbClr val="4A6B8A"/>
              </a:solidFill>
              <a:cs typeface="+mn-lt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1500" y="1104900"/>
            <a:ext cx="11049000" cy="491490"/>
          </a:xfrm>
          <a:custGeom>
            <a:avLst/>
            <a:gdLst>
              <a:gd name="sw" fmla="*/ 1 w 17400"/>
              <a:gd name="sh" fmla="*/ 1 h 774"/>
              <a:gd name="mins" fmla="min sw sh"/>
              <a:gd name="dsw" fmla="+- 0 sw mins"/>
              <a:gd name="dsh" fmla="+- 0 sh mins"/>
              <a:gd name="p0x0" fmla="*/ 240 w 17400"/>
              <a:gd name="p0y0" fmla="*/ 0 h 774"/>
              <a:gd name="p0x1" fmla="*/ 17160 w 17400"/>
              <a:gd name="p0y1" fmla="*/ 0 h 774"/>
              <a:gd name="p0x2" fmla="*/ 17292 w 17400"/>
              <a:gd name="p0y2" fmla="*/ 0 h 774"/>
              <a:gd name="p0x3" fmla="*/ 17400 w 17400"/>
              <a:gd name="p0y3" fmla="*/ 107 h 774"/>
              <a:gd name="p0x4" fmla="*/ 17400 w 17400"/>
              <a:gd name="p0y4" fmla="*/ 240 h 774"/>
              <a:gd name="p0x5" fmla="*/ 17400 w 17400"/>
              <a:gd name="p0y5" fmla="*/ 534 h 774"/>
              <a:gd name="p0x6" fmla="*/ 17400 w 17400"/>
              <a:gd name="p0y6" fmla="*/ 666 h 774"/>
              <a:gd name="p0x7" fmla="*/ 17292 w 17400"/>
              <a:gd name="p0y7" fmla="*/ 774 h 774"/>
              <a:gd name="p0x8" fmla="*/ 17160 w 17400"/>
              <a:gd name="p0y8" fmla="*/ 774 h 774"/>
              <a:gd name="p0x9" fmla="*/ 240 w 17400"/>
              <a:gd name="p0y9" fmla="*/ 774 h 774"/>
              <a:gd name="p0x10" fmla="*/ 107 w 17400"/>
              <a:gd name="p0y10" fmla="*/ 774 h 774"/>
              <a:gd name="p0x11" fmla="*/ 0 w 17400"/>
              <a:gd name="p0y11" fmla="*/ 666 h 774"/>
              <a:gd name="p0x12" fmla="*/ 0 w 17400"/>
              <a:gd name="p0y12" fmla="*/ 534 h 774"/>
              <a:gd name="p0x13" fmla="*/ 0 w 17400"/>
              <a:gd name="p0y13" fmla="*/ 240 h 774"/>
              <a:gd name="p0x14" fmla="*/ 0 w 17400"/>
              <a:gd name="p0y14" fmla="*/ 107 h 774"/>
              <a:gd name="p0x15" fmla="*/ 107 w 17400"/>
              <a:gd name="p0y15" fmla="*/ 0 h 774"/>
              <a:gd name="p0x16" fmla="*/ 240 w 17400"/>
              <a:gd name="p0y16" fmla="*/ 0 h 7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762000" y="1192501"/>
            <a:ext cx="561997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>
                <a:solidFill>
                  <a:srgbClr val="FFFFFF"/>
                </a:solidFill>
                <a:cs typeface="+mn-lt"/>
              </a:rPr>
              <a:t>AI </a:t>
            </a:r>
            <a:r>
              <a:rPr lang="zh-CN">
                <a:solidFill>
                  <a:srgbClr val="FFFFFF"/>
                </a:solidFill>
                <a:cs typeface="+mn-lt"/>
              </a:rPr>
              <a:t>替客服省三件事：</a:t>
            </a:r>
            <a:r>
              <a:rPr b="1">
                <a:solidFill>
                  <a:srgbClr val="0A1E33"/>
                </a:solidFill>
                <a:cs typeface="+mn-lt"/>
              </a:rPr>
              <a:t>省时间</a:t>
            </a:r>
            <a:r>
              <a:rPr>
                <a:solidFill>
                  <a:srgbClr val="FFFFFF"/>
                </a:solidFill>
                <a:cs typeface="+mn-lt"/>
              </a:rPr>
              <a:t> · </a:t>
            </a:r>
            <a:r>
              <a:rPr b="1">
                <a:solidFill>
                  <a:srgbClr val="0A1E33"/>
                </a:solidFill>
                <a:cs typeface="+mn-lt"/>
              </a:rPr>
              <a:t>省判断力</a:t>
            </a:r>
            <a:r>
              <a:rPr>
                <a:solidFill>
                  <a:srgbClr val="FFFFFF"/>
                </a:solidFill>
                <a:cs typeface="+mn-lt"/>
              </a:rPr>
              <a:t> · </a:t>
            </a:r>
            <a:r>
              <a:rPr b="1">
                <a:solidFill>
                  <a:srgbClr val="0A1E33"/>
                </a:solidFill>
                <a:cs typeface="+mn-lt"/>
              </a:rPr>
              <a:t>省体力</a:t>
            </a:r>
            <a:endParaRPr b="1">
              <a:solidFill>
                <a:srgbClr val="0A1E33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7"/>
            </p:custDataLst>
          </p:nvPr>
        </p:nvSpPr>
        <p:spPr>
          <a:xfrm>
            <a:off x="575945" y="1829435"/>
            <a:ext cx="5438775" cy="2012315"/>
          </a:xfrm>
          <a:custGeom>
            <a:avLst/>
            <a:gdLst>
              <a:gd name="sw" fmla="*/ 1 w 8565"/>
              <a:gd name="sh" fmla="*/ 1 h 3168"/>
              <a:gd name="mins" fmla="min sw sh"/>
              <a:gd name="dsw" fmla="+- 0 sw mins"/>
              <a:gd name="dsh" fmla="+- 0 sh mins"/>
              <a:gd name="p0x0" fmla="*/ 300 w 8565"/>
              <a:gd name="p0y0" fmla="*/ 0 h 3168"/>
              <a:gd name="p0x1" fmla="*/ 8265 w 8565"/>
              <a:gd name="p0y1" fmla="*/ 0 h 3168"/>
              <a:gd name="p0x2" fmla="*/ 8430 w 8565"/>
              <a:gd name="p0y2" fmla="*/ 0 h 3168"/>
              <a:gd name="p0x3" fmla="*/ 8565 w 8565"/>
              <a:gd name="p0y3" fmla="*/ 134 h 3168"/>
              <a:gd name="p0x4" fmla="*/ 8565 w 8565"/>
              <a:gd name="p0y4" fmla="*/ 300 h 3168"/>
              <a:gd name="p0x5" fmla="*/ 8565 w 8565"/>
              <a:gd name="p0y5" fmla="*/ 2868 h 3168"/>
              <a:gd name="p0x6" fmla="*/ 8565 w 8565"/>
              <a:gd name="p0y6" fmla="*/ 3034 h 3168"/>
              <a:gd name="p0x7" fmla="*/ 8430 w 8565"/>
              <a:gd name="p0y7" fmla="*/ 3168 h 3168"/>
              <a:gd name="p0x8" fmla="*/ 8265 w 8565"/>
              <a:gd name="p0y8" fmla="*/ 3168 h 3168"/>
              <a:gd name="p0x9" fmla="*/ 300 w 8565"/>
              <a:gd name="p0y9" fmla="*/ 3168 h 3168"/>
              <a:gd name="p0x10" fmla="*/ 134 w 8565"/>
              <a:gd name="p0y10" fmla="*/ 3168 h 3168"/>
              <a:gd name="p0x11" fmla="*/ 0 w 8565"/>
              <a:gd name="p0y11" fmla="*/ 3034 h 3168"/>
              <a:gd name="p0x12" fmla="*/ 0 w 8565"/>
              <a:gd name="p0y12" fmla="*/ 2868 h 3168"/>
              <a:gd name="p0x13" fmla="*/ 0 w 8565"/>
              <a:gd name="p0y13" fmla="*/ 300 h 3168"/>
              <a:gd name="p0x14" fmla="*/ 0 w 8565"/>
              <a:gd name="p0y14" fmla="*/ 134 h 3168"/>
              <a:gd name="p0x15" fmla="*/ 134 w 8565"/>
              <a:gd name="p0y15" fmla="*/ 0 h 3168"/>
              <a:gd name="p0x16" fmla="*/ 300 w 8565"/>
              <a:gd name="p0y16" fmla="*/ 0 h 316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771525" y="1986915"/>
            <a:ext cx="5048250" cy="427990"/>
            <a:chOff x="1215" y="3129"/>
            <a:chExt cx="7950" cy="674"/>
          </a:xfrm>
        </p:grpSpPr>
        <p:sp>
          <p:nvSpPr>
            <p:cNvPr id="8" name="任意多边形 7"/>
            <p:cNvSpPr/>
            <p:nvPr>
              <p:custDataLst>
                <p:tags r:id="rId8"/>
              </p:custDataLst>
            </p:nvPr>
          </p:nvSpPr>
          <p:spPr>
            <a:xfrm>
              <a:off x="1215" y="3129"/>
              <a:ext cx="7950" cy="675"/>
            </a:xfrm>
            <a:custGeom>
              <a:avLst/>
              <a:gdLst>
                <a:gd name="sw" fmla="*/ 1 w 7950"/>
                <a:gd name="sh" fmla="*/ 1 h 675"/>
                <a:gd name="mins" fmla="min sw sh"/>
                <a:gd name="dsw" fmla="+- 0 sw mins"/>
                <a:gd name="dsh" fmla="+- 0 sh mins"/>
                <a:gd name="p0x0" fmla="*/ 0 w 7950"/>
                <a:gd name="p0y0" fmla="*/ 0 h 675"/>
                <a:gd name="p0x1" fmla="*/ 7950 w 7950"/>
                <a:gd name="p0y1" fmla="*/ 0 h 675"/>
                <a:gd name="p0x2" fmla="*/ 7950 w 7950"/>
                <a:gd name="p0y2" fmla="*/ 675 h 675"/>
                <a:gd name="p0x3" fmla="*/ 0 w 7950"/>
                <a:gd name="p0y3" fmla="*/ 675 h 675"/>
                <a:gd name="p0x4" fmla="*/ 0 w 795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>
              <a:off x="1215" y="3789"/>
              <a:ext cx="7950" cy="15"/>
            </a:xfrm>
            <a:custGeom>
              <a:avLst/>
              <a:gdLst>
                <a:gd name="sw" fmla="*/ 1 w 7950"/>
                <a:gd name="sh" fmla="*/ 1 h 15"/>
                <a:gd name="mins" fmla="min sw sh"/>
                <a:gd name="dsw" fmla="+- 0 sw mins"/>
                <a:gd name="dsh" fmla="+- 0 sh mins"/>
                <a:gd name="p0x0" fmla="*/ 7950 w 7950"/>
                <a:gd name="p0y0" fmla="*/ 15 h 15"/>
                <a:gd name="p0x1" fmla="*/ 0 w 7950"/>
                <a:gd name="p0y1" fmla="*/ 15 h 15"/>
                <a:gd name="p0x2" fmla="*/ 0 w 7950"/>
                <a:gd name="p0y2" fmla="*/ 0 h 15"/>
                <a:gd name="p0x3" fmla="*/ 7950 w 7950"/>
                <a:gd name="p0y3" fmla="*/ 0 h 15"/>
                <a:gd name="p0x4" fmla="*/ 7950 w 795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771525" y="19869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5473" r="-5473"/>
          <a:stretch>
            <a:fillRect/>
          </a:stretch>
        </p:blipFill>
        <p:spPr>
          <a:xfrm>
            <a:off x="823595" y="2048510"/>
            <a:ext cx="238125" cy="2146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1228725" y="1975504"/>
            <a:ext cx="189897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B3A5C"/>
                </a:solidFill>
                <a:cs typeface="+mn-lt"/>
              </a:rPr>
              <a:t>标准问题流程</a:t>
            </a:r>
            <a:endParaRPr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5058410" y="2019935"/>
            <a:ext cx="760730" cy="276225"/>
          </a:xfrm>
          <a:custGeom>
            <a:avLst/>
            <a:gdLst>
              <a:gd name="sw" fmla="*/ 1 w 1198"/>
              <a:gd name="sh" fmla="*/ 1 h 435"/>
              <a:gd name="mins" fmla="min sw sh"/>
              <a:gd name="dsw" fmla="+- 0 sw mins"/>
              <a:gd name="dsh" fmla="+- 0 sh mins"/>
              <a:gd name="p0x0" fmla="*/ 217 w 1198"/>
              <a:gd name="p0y0" fmla="*/ 0 h 435"/>
              <a:gd name="p0x1" fmla="*/ 980 w 1198"/>
              <a:gd name="p0y1" fmla="*/ 0 h 435"/>
              <a:gd name="p0x2" fmla="*/ 1100 w 1198"/>
              <a:gd name="p0y2" fmla="*/ 0 h 435"/>
              <a:gd name="p0x3" fmla="*/ 1198 w 1198"/>
              <a:gd name="p0y3" fmla="*/ 97 h 435"/>
              <a:gd name="p0x4" fmla="*/ 1198 w 1198"/>
              <a:gd name="p0y4" fmla="*/ 217 h 435"/>
              <a:gd name="p0x5" fmla="*/ 1198 w 1198"/>
              <a:gd name="p0y5" fmla="*/ 337 h 435"/>
              <a:gd name="p0x6" fmla="*/ 1100 w 1198"/>
              <a:gd name="p0y6" fmla="*/ 435 h 435"/>
              <a:gd name="p0x7" fmla="*/ 980 w 1198"/>
              <a:gd name="p0y7" fmla="*/ 435 h 435"/>
              <a:gd name="p0x8" fmla="*/ 217 w 1198"/>
              <a:gd name="p0y8" fmla="*/ 435 h 435"/>
              <a:gd name="p0x9" fmla="*/ 97 w 1198"/>
              <a:gd name="p0y9" fmla="*/ 435 h 435"/>
              <a:gd name="p0x10" fmla="*/ 0 w 1198"/>
              <a:gd name="p0y10" fmla="*/ 337 h 435"/>
              <a:gd name="p0x11" fmla="*/ 0 w 1198"/>
              <a:gd name="p0y11" fmla="*/ 217 h 435"/>
              <a:gd name="p0x12" fmla="*/ 0 w 1198"/>
              <a:gd name="p0y12" fmla="*/ 97 h 435"/>
              <a:gd name="p0x13" fmla="*/ 97 w 1198"/>
              <a:gd name="p0y13" fmla="*/ 0 h 435"/>
              <a:gd name="p0x14" fmla="*/ 217 w 119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5173113" y="2058372"/>
            <a:ext cx="68476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约</a:t>
            </a:r>
            <a:r>
              <a:rPr lang="en-US" altLang="zh-CN"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 70%</a:t>
            </a:r>
            <a:endParaRPr lang="en-US" altLang="zh-CN" sz="1200" b="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17"/>
            </p:custDataLst>
          </p:nvPr>
        </p:nvSpPr>
        <p:spPr>
          <a:xfrm>
            <a:off x="771525" y="259651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B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904875" y="2491759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cs typeface="+mn-lt"/>
              </a:rPr>
              <a:t>用户提问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771525" y="286512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B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0"/>
            </p:custDataLst>
          </p:nvPr>
        </p:nvSpPr>
        <p:spPr>
          <a:xfrm>
            <a:off x="904875" y="2760840"/>
            <a:ext cx="182068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4A6B8A"/>
                </a:solidFill>
                <a:cs typeface="+mn-lt"/>
              </a:rPr>
              <a:t>AI </a:t>
            </a:r>
            <a:r>
              <a:rPr lang="zh-CN" sz="1500" b="1">
                <a:solidFill>
                  <a:schemeClr val="tx2"/>
                </a:solidFill>
                <a:cs typeface="+mn-lt"/>
              </a:rPr>
              <a:t>意图识别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 + 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检索</a:t>
            </a:r>
            <a:endParaRPr lang="zh-CN" altLang="en-US"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21"/>
            </p:custDataLst>
          </p:nvPr>
        </p:nvSpPr>
        <p:spPr>
          <a:xfrm>
            <a:off x="771525" y="313436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B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904875" y="3029922"/>
            <a:ext cx="195723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4A6B8A"/>
                </a:solidFill>
                <a:cs typeface="+mn-lt"/>
              </a:rPr>
              <a:t>生成回答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 + </a:t>
            </a:r>
            <a:r>
              <a:rPr sz="1500" b="1">
                <a:solidFill>
                  <a:schemeClr val="tx2"/>
                </a:solidFill>
                <a:cs typeface="+mn-lt"/>
              </a:rPr>
              <a:t>引用来源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3" name="任意多边形 22"/>
          <p:cNvSpPr/>
          <p:nvPr>
            <p:custDataLst>
              <p:tags r:id="rId23"/>
            </p:custDataLst>
          </p:nvPr>
        </p:nvSpPr>
        <p:spPr>
          <a:xfrm>
            <a:off x="771525" y="340360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B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904875" y="3299003"/>
            <a:ext cx="4776635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4A6B8A"/>
                </a:solidFill>
                <a:cs typeface="+mn-lt"/>
              </a:rPr>
              <a:t>高置信度</a:t>
            </a:r>
            <a:r>
              <a:rPr sz="1500" b="1">
                <a:solidFill>
                  <a:schemeClr val="tx2"/>
                </a:solidFill>
                <a:cs typeface="+mn-lt"/>
              </a:rPr>
              <a:t>自动发送</a:t>
            </a:r>
            <a:r>
              <a:rPr lang="en-US" sz="1500">
                <a:solidFill>
                  <a:srgbClr val="4A6B8A"/>
                </a:solidFill>
                <a:cs typeface="+mn-lt"/>
              </a:rPr>
              <a:t> / </a:t>
            </a:r>
            <a:r>
              <a:rPr lang="zh-CN" altLang="en-US" sz="1500">
                <a:solidFill>
                  <a:srgbClr val="4A6B8A"/>
                </a:solidFill>
                <a:cs typeface="+mn-lt"/>
              </a:rPr>
              <a:t>中置信度</a:t>
            </a:r>
            <a:r>
              <a:rPr sz="1500" b="1">
                <a:solidFill>
                  <a:schemeClr val="tx2"/>
                </a:solidFill>
                <a:cs typeface="+mn-lt"/>
              </a:rPr>
              <a:t>推客服确认</a:t>
            </a:r>
            <a:r>
              <a:rPr lang="en-US" sz="1500">
                <a:solidFill>
                  <a:srgbClr val="4A6B8A"/>
                </a:solidFill>
                <a:cs typeface="+mn-lt"/>
              </a:rPr>
              <a:t> / </a:t>
            </a:r>
            <a:r>
              <a:rPr lang="zh-CN" altLang="en-US" sz="1500">
                <a:solidFill>
                  <a:srgbClr val="4A6B8A"/>
                </a:solidFill>
                <a:cs typeface="+mn-lt"/>
              </a:rPr>
              <a:t>低置信度</a:t>
            </a:r>
            <a:r>
              <a:rPr sz="1500" b="1">
                <a:solidFill>
                  <a:schemeClr val="tx2"/>
                </a:solidFill>
                <a:cs typeface="+mn-lt"/>
              </a:rPr>
              <a:t>转人工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5" name="任意多边形 24"/>
          <p:cNvSpPr/>
          <p:nvPr>
            <p:custDataLst>
              <p:tags r:id="rId25"/>
            </p:custDataLst>
          </p:nvPr>
        </p:nvSpPr>
        <p:spPr>
          <a:xfrm>
            <a:off x="6176645" y="1829435"/>
            <a:ext cx="5438775" cy="2012315"/>
          </a:xfrm>
          <a:custGeom>
            <a:avLst/>
            <a:gdLst>
              <a:gd name="sw" fmla="*/ 1 w 8565"/>
              <a:gd name="sh" fmla="*/ 1 h 3168"/>
              <a:gd name="mins" fmla="min sw sh"/>
              <a:gd name="dsw" fmla="+- 0 sw mins"/>
              <a:gd name="dsh" fmla="+- 0 sh mins"/>
              <a:gd name="p0x0" fmla="*/ 300 w 8565"/>
              <a:gd name="p0y0" fmla="*/ 0 h 3168"/>
              <a:gd name="p0x1" fmla="*/ 8265 w 8565"/>
              <a:gd name="p0y1" fmla="*/ 0 h 3168"/>
              <a:gd name="p0x2" fmla="*/ 8430 w 8565"/>
              <a:gd name="p0y2" fmla="*/ 0 h 3168"/>
              <a:gd name="p0x3" fmla="*/ 8565 w 8565"/>
              <a:gd name="p0y3" fmla="*/ 134 h 3168"/>
              <a:gd name="p0x4" fmla="*/ 8565 w 8565"/>
              <a:gd name="p0y4" fmla="*/ 300 h 3168"/>
              <a:gd name="p0x5" fmla="*/ 8565 w 8565"/>
              <a:gd name="p0y5" fmla="*/ 2868 h 3168"/>
              <a:gd name="p0x6" fmla="*/ 8565 w 8565"/>
              <a:gd name="p0y6" fmla="*/ 3034 h 3168"/>
              <a:gd name="p0x7" fmla="*/ 8430 w 8565"/>
              <a:gd name="p0y7" fmla="*/ 3168 h 3168"/>
              <a:gd name="p0x8" fmla="*/ 8265 w 8565"/>
              <a:gd name="p0y8" fmla="*/ 3168 h 3168"/>
              <a:gd name="p0x9" fmla="*/ 300 w 8565"/>
              <a:gd name="p0y9" fmla="*/ 3168 h 3168"/>
              <a:gd name="p0x10" fmla="*/ 134 w 8565"/>
              <a:gd name="p0y10" fmla="*/ 3168 h 3168"/>
              <a:gd name="p0x11" fmla="*/ 0 w 8565"/>
              <a:gd name="p0y11" fmla="*/ 3034 h 3168"/>
              <a:gd name="p0x12" fmla="*/ 0 w 8565"/>
              <a:gd name="p0y12" fmla="*/ 2868 h 3168"/>
              <a:gd name="p0x13" fmla="*/ 0 w 8565"/>
              <a:gd name="p0y13" fmla="*/ 300 h 3168"/>
              <a:gd name="p0x14" fmla="*/ 0 w 8565"/>
              <a:gd name="p0y14" fmla="*/ 134 h 3168"/>
              <a:gd name="p0x15" fmla="*/ 134 w 8565"/>
              <a:gd name="p0y15" fmla="*/ 0 h 3168"/>
              <a:gd name="p0x16" fmla="*/ 300 w 8565"/>
              <a:gd name="p0y16" fmla="*/ 0 h 316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7" name="组合 46"/>
          <p:cNvGrpSpPr/>
          <p:nvPr/>
        </p:nvGrpSpPr>
        <p:grpSpPr>
          <a:xfrm>
            <a:off x="6372225" y="1986915"/>
            <a:ext cx="5048250" cy="427990"/>
            <a:chOff x="10035" y="3129"/>
            <a:chExt cx="7950" cy="674"/>
          </a:xfrm>
        </p:grpSpPr>
        <p:sp>
          <p:nvSpPr>
            <p:cNvPr id="26" name="任意多边形 25"/>
            <p:cNvSpPr/>
            <p:nvPr>
              <p:custDataLst>
                <p:tags r:id="rId26"/>
              </p:custDataLst>
            </p:nvPr>
          </p:nvSpPr>
          <p:spPr>
            <a:xfrm>
              <a:off x="10035" y="3129"/>
              <a:ext cx="7950" cy="675"/>
            </a:xfrm>
            <a:custGeom>
              <a:avLst/>
              <a:gdLst>
                <a:gd name="sw" fmla="*/ 1 w 7950"/>
                <a:gd name="sh" fmla="*/ 1 h 675"/>
                <a:gd name="mins" fmla="min sw sh"/>
                <a:gd name="dsw" fmla="+- 0 sw mins"/>
                <a:gd name="dsh" fmla="+- 0 sh mins"/>
                <a:gd name="p0x0" fmla="*/ 0 w 7950"/>
                <a:gd name="p0y0" fmla="*/ 0 h 675"/>
                <a:gd name="p0x1" fmla="*/ 7950 w 7950"/>
                <a:gd name="p0y1" fmla="*/ 0 h 675"/>
                <a:gd name="p0x2" fmla="*/ 7950 w 7950"/>
                <a:gd name="p0y2" fmla="*/ 675 h 675"/>
                <a:gd name="p0x3" fmla="*/ 0 w 7950"/>
                <a:gd name="p0y3" fmla="*/ 675 h 675"/>
                <a:gd name="p0x4" fmla="*/ 0 w 795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7"/>
              </p:custDataLst>
            </p:nvPr>
          </p:nvSpPr>
          <p:spPr>
            <a:xfrm>
              <a:off x="10035" y="3789"/>
              <a:ext cx="7950" cy="15"/>
            </a:xfrm>
            <a:custGeom>
              <a:avLst/>
              <a:gdLst>
                <a:gd name="sw" fmla="*/ 1 w 7950"/>
                <a:gd name="sh" fmla="*/ 1 h 15"/>
                <a:gd name="mins" fmla="min sw sh"/>
                <a:gd name="dsw" fmla="+- 0 sw mins"/>
                <a:gd name="dsh" fmla="+- 0 sh mins"/>
                <a:gd name="p0x0" fmla="*/ 7950 w 7950"/>
                <a:gd name="p0y0" fmla="*/ 15 h 15"/>
                <a:gd name="p0x1" fmla="*/ 0 w 7950"/>
                <a:gd name="p0y1" fmla="*/ 15 h 15"/>
                <a:gd name="p0x2" fmla="*/ 0 w 7950"/>
                <a:gd name="p0y2" fmla="*/ 0 h 15"/>
                <a:gd name="p0x3" fmla="*/ 7950 w 7950"/>
                <a:gd name="p0y3" fmla="*/ 0 h 15"/>
                <a:gd name="p0x4" fmla="*/ 7950 w 795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任意多边形 28"/>
          <p:cNvSpPr/>
          <p:nvPr>
            <p:custDataLst>
              <p:tags r:id="rId28"/>
            </p:custDataLst>
          </p:nvPr>
        </p:nvSpPr>
        <p:spPr>
          <a:xfrm>
            <a:off x="6372225" y="19869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2">
              <a:lumMod val="16774"/>
              <a:lumOff val="8322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6438900" y="2048510"/>
            <a:ext cx="209550" cy="2146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32"/>
            </p:custDataLst>
          </p:nvPr>
        </p:nvSpPr>
        <p:spPr>
          <a:xfrm>
            <a:off x="6829425" y="1975504"/>
            <a:ext cx="189897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B3A5C"/>
                </a:solidFill>
                <a:cs typeface="+mn-lt"/>
              </a:rPr>
              <a:t>复杂问题流程</a:t>
            </a:r>
            <a:endParaRPr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33" name="任意多边形 32"/>
          <p:cNvSpPr/>
          <p:nvPr>
            <p:custDataLst>
              <p:tags r:id="rId33"/>
            </p:custDataLst>
          </p:nvPr>
        </p:nvSpPr>
        <p:spPr>
          <a:xfrm>
            <a:off x="10659110" y="2019935"/>
            <a:ext cx="760730" cy="276225"/>
          </a:xfrm>
          <a:custGeom>
            <a:avLst/>
            <a:gdLst>
              <a:gd name="sw" fmla="*/ 1 w 1198"/>
              <a:gd name="sh" fmla="*/ 1 h 435"/>
              <a:gd name="mins" fmla="min sw sh"/>
              <a:gd name="dsw" fmla="+- 0 sw mins"/>
              <a:gd name="dsh" fmla="+- 0 sh mins"/>
              <a:gd name="p0x0" fmla="*/ 217 w 1198"/>
              <a:gd name="p0y0" fmla="*/ 0 h 435"/>
              <a:gd name="p0x1" fmla="*/ 980 w 1198"/>
              <a:gd name="p0y1" fmla="*/ 0 h 435"/>
              <a:gd name="p0x2" fmla="*/ 1100 w 1198"/>
              <a:gd name="p0y2" fmla="*/ 0 h 435"/>
              <a:gd name="p0x3" fmla="*/ 1198 w 1198"/>
              <a:gd name="p0y3" fmla="*/ 97 h 435"/>
              <a:gd name="p0x4" fmla="*/ 1198 w 1198"/>
              <a:gd name="p0y4" fmla="*/ 217 h 435"/>
              <a:gd name="p0x5" fmla="*/ 1198 w 1198"/>
              <a:gd name="p0y5" fmla="*/ 337 h 435"/>
              <a:gd name="p0x6" fmla="*/ 1100 w 1198"/>
              <a:gd name="p0y6" fmla="*/ 435 h 435"/>
              <a:gd name="p0x7" fmla="*/ 980 w 1198"/>
              <a:gd name="p0y7" fmla="*/ 435 h 435"/>
              <a:gd name="p0x8" fmla="*/ 217 w 1198"/>
              <a:gd name="p0y8" fmla="*/ 435 h 435"/>
              <a:gd name="p0x9" fmla="*/ 97 w 1198"/>
              <a:gd name="p0y9" fmla="*/ 435 h 435"/>
              <a:gd name="p0x10" fmla="*/ 0 w 1198"/>
              <a:gd name="p0y10" fmla="*/ 337 h 435"/>
              <a:gd name="p0x11" fmla="*/ 0 w 1198"/>
              <a:gd name="p0y11" fmla="*/ 217 h 435"/>
              <a:gd name="p0x12" fmla="*/ 0 w 1198"/>
              <a:gd name="p0y12" fmla="*/ 97 h 435"/>
              <a:gd name="p0x13" fmla="*/ 97 w 1198"/>
              <a:gd name="p0y13" fmla="*/ 0 h 435"/>
              <a:gd name="p0x14" fmla="*/ 217 w 1198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2">
              <a:lumMod val="16774"/>
              <a:lumOff val="8322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4"/>
            </p:custDataLst>
          </p:nvPr>
        </p:nvSpPr>
        <p:spPr>
          <a:xfrm>
            <a:off x="10773813" y="2058372"/>
            <a:ext cx="68476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 b="1">
                <a:solidFill>
                  <a:schemeClr val="accent2">
                    <a:lumMod val="63000"/>
                  </a:schemeClr>
                </a:solidFill>
                <a:cs typeface="+mn-lt"/>
              </a:rPr>
              <a:t>约</a:t>
            </a:r>
            <a:r>
              <a:rPr lang="en-US" altLang="zh-CN" sz="1200" b="1">
                <a:solidFill>
                  <a:schemeClr val="accent2">
                    <a:lumMod val="63000"/>
                  </a:schemeClr>
                </a:solidFill>
                <a:cs typeface="+mn-lt"/>
              </a:rPr>
              <a:t> 30%</a:t>
            </a:r>
            <a:endParaRPr lang="en-US" altLang="zh-CN" sz="1200" b="1">
              <a:solidFill>
                <a:schemeClr val="accent2">
                  <a:lumMod val="63000"/>
                </a:schemeClr>
              </a:solidFill>
              <a:cs typeface="+mn-lt"/>
            </a:endParaRPr>
          </a:p>
        </p:txBody>
      </p:sp>
      <p:sp>
        <p:nvSpPr>
          <p:cNvPr id="35" name="任意多边形 34"/>
          <p:cNvSpPr/>
          <p:nvPr>
            <p:custDataLst>
              <p:tags r:id="rId35"/>
            </p:custDataLst>
          </p:nvPr>
        </p:nvSpPr>
        <p:spPr>
          <a:xfrm>
            <a:off x="6372225" y="259651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B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6"/>
            </p:custDataLst>
          </p:nvPr>
        </p:nvSpPr>
        <p:spPr>
          <a:xfrm>
            <a:off x="6505575" y="2491759"/>
            <a:ext cx="29114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rgbClr val="4A6B8A"/>
                </a:solidFill>
                <a:cs typeface="+mn-lt"/>
              </a:rPr>
              <a:t>AI </a:t>
            </a:r>
            <a:r>
              <a:rPr lang="zh-CN" sz="1500">
                <a:solidFill>
                  <a:srgbClr val="4A6B8A"/>
                </a:solidFill>
                <a:cs typeface="+mn-lt"/>
              </a:rPr>
              <a:t>读取</a:t>
            </a:r>
            <a:r>
              <a:rPr sz="1500" b="1">
                <a:solidFill>
                  <a:schemeClr val="tx2"/>
                </a:solidFill>
                <a:cs typeface="+mn-lt"/>
              </a:rPr>
              <a:t>订单、历史工单、知识库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7" name="任意多边形 36"/>
          <p:cNvSpPr/>
          <p:nvPr>
            <p:custDataLst>
              <p:tags r:id="rId37"/>
            </p:custDataLst>
          </p:nvPr>
        </p:nvSpPr>
        <p:spPr>
          <a:xfrm>
            <a:off x="6372225" y="29133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B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38"/>
            </p:custDataLst>
          </p:nvPr>
        </p:nvSpPr>
        <p:spPr>
          <a:xfrm>
            <a:off x="6505575" y="2809065"/>
            <a:ext cx="195723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4A6B8A"/>
                </a:solidFill>
                <a:cs typeface="+mn-lt"/>
              </a:rPr>
              <a:t>生成</a:t>
            </a:r>
            <a:r>
              <a:rPr lang="zh-CN" sz="1500" b="1">
                <a:solidFill>
                  <a:schemeClr val="tx2"/>
                </a:solidFill>
                <a:cs typeface="+mn-lt"/>
              </a:rPr>
              <a:t>建议方案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 + 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话术</a:t>
            </a:r>
            <a:endParaRPr lang="zh-CN" altLang="en-US"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9" name="任意多边形 38"/>
          <p:cNvSpPr/>
          <p:nvPr>
            <p:custDataLst>
              <p:tags r:id="rId39"/>
            </p:custDataLst>
          </p:nvPr>
        </p:nvSpPr>
        <p:spPr>
          <a:xfrm>
            <a:off x="6372225" y="32308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B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0"/>
            </p:custDataLst>
          </p:nvPr>
        </p:nvSpPr>
        <p:spPr>
          <a:xfrm>
            <a:off x="6505575" y="3126362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4A6B8A"/>
                </a:solidFill>
                <a:cs typeface="+mn-lt"/>
              </a:rPr>
              <a:t>推</a:t>
            </a:r>
            <a:r>
              <a:rPr sz="1500" b="1">
                <a:solidFill>
                  <a:schemeClr val="tx2"/>
                </a:solidFill>
                <a:cs typeface="+mn-lt"/>
              </a:rPr>
              <a:t>工作台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41" name="任意多边形 40"/>
          <p:cNvSpPr/>
          <p:nvPr>
            <p:custDataLst>
              <p:tags r:id="rId41"/>
            </p:custDataLst>
          </p:nvPr>
        </p:nvSpPr>
        <p:spPr>
          <a:xfrm>
            <a:off x="6372225" y="35483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6B8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2"/>
            </p:custDataLst>
          </p:nvPr>
        </p:nvSpPr>
        <p:spPr>
          <a:xfrm>
            <a:off x="6505575" y="3443668"/>
            <a:ext cx="1524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cs typeface="+mn-lt"/>
              </a:rPr>
              <a:t>客服审核后</a:t>
            </a:r>
            <a:r>
              <a:rPr sz="1500">
                <a:solidFill>
                  <a:srgbClr val="4A6B8A"/>
                </a:solidFill>
                <a:cs typeface="+mn-lt"/>
              </a:rPr>
              <a:t>发送</a:t>
            </a:r>
            <a:endParaRPr sz="1500">
              <a:solidFill>
                <a:srgbClr val="4A6B8A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业务量化目标：六指标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33400" y="862013"/>
            <a:ext cx="111252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6B8A"/>
                </a:solidFill>
                <a:cs typeface="+mn-lt"/>
              </a:rPr>
              <a:t>六项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KPI</a:t>
            </a:r>
            <a:r>
              <a:rPr lang="zh-CN" altLang="en-US" sz="1500">
                <a:solidFill>
                  <a:srgbClr val="4A6B8A"/>
                </a:solidFill>
                <a:cs typeface="+mn-lt"/>
              </a:rPr>
              <a:t>从当前基线到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V1.0</a:t>
            </a:r>
            <a:r>
              <a:rPr lang="zh-CN" altLang="en-US" sz="1500">
                <a:solidFill>
                  <a:srgbClr val="4A6B8A"/>
                </a:solidFill>
                <a:cs typeface="+mn-lt"/>
              </a:rPr>
              <a:t>目标的量化对照，标注达成时限，并以电梯演讲收束业务价值。</a:t>
            </a:r>
            <a:endParaRPr lang="zh-CN" altLang="en-US"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5945" y="1452245"/>
            <a:ext cx="1736725" cy="1814830"/>
          </a:xfrm>
          <a:custGeom>
            <a:avLst/>
            <a:gdLst>
              <a:gd name="sw" fmla="*/ 1 w 2735"/>
              <a:gd name="sh" fmla="*/ 1 h 2857"/>
              <a:gd name="mins" fmla="min sw sh"/>
              <a:gd name="dsw" fmla="+- 0 sw mins"/>
              <a:gd name="dsh" fmla="+- 0 sh mins"/>
              <a:gd name="p0x0" fmla="*/ 240 w 2735"/>
              <a:gd name="p0y0" fmla="*/ 0 h 2857"/>
              <a:gd name="p0x1" fmla="*/ 2495 w 2735"/>
              <a:gd name="p0y1" fmla="*/ 0 h 2857"/>
              <a:gd name="p0x2" fmla="*/ 2627 w 2735"/>
              <a:gd name="p0y2" fmla="*/ 0 h 2857"/>
              <a:gd name="p0x3" fmla="*/ 2735 w 2735"/>
              <a:gd name="p0y3" fmla="*/ 107 h 2857"/>
              <a:gd name="p0x4" fmla="*/ 2735 w 2735"/>
              <a:gd name="p0y4" fmla="*/ 240 h 2857"/>
              <a:gd name="p0x5" fmla="*/ 2735 w 2735"/>
              <a:gd name="p0y5" fmla="*/ 2617 h 2857"/>
              <a:gd name="p0x6" fmla="*/ 2735 w 2735"/>
              <a:gd name="p0y6" fmla="*/ 2750 h 2857"/>
              <a:gd name="p0x7" fmla="*/ 2627 w 2735"/>
              <a:gd name="p0y7" fmla="*/ 2857 h 2857"/>
              <a:gd name="p0x8" fmla="*/ 2495 w 2735"/>
              <a:gd name="p0y8" fmla="*/ 2857 h 2857"/>
              <a:gd name="p0x9" fmla="*/ 240 w 2735"/>
              <a:gd name="p0y9" fmla="*/ 2857 h 2857"/>
              <a:gd name="p0x10" fmla="*/ 107 w 2735"/>
              <a:gd name="p0y10" fmla="*/ 2857 h 2857"/>
              <a:gd name="p0x11" fmla="*/ 0 w 2735"/>
              <a:gd name="p0y11" fmla="*/ 2750 h 2857"/>
              <a:gd name="p0x12" fmla="*/ 0 w 2735"/>
              <a:gd name="p0y12" fmla="*/ 2617 h 2857"/>
              <a:gd name="p0x13" fmla="*/ 0 w 2735"/>
              <a:gd name="p0y13" fmla="*/ 240 h 2857"/>
              <a:gd name="p0x14" fmla="*/ 0 w 2735"/>
              <a:gd name="p0y14" fmla="*/ 107 h 2857"/>
              <a:gd name="p0x15" fmla="*/ 107 w 2735"/>
              <a:gd name="p0y15" fmla="*/ 0 h 2857"/>
              <a:gd name="p0x16" fmla="*/ 240 w 2735"/>
              <a:gd name="p0y16" fmla="*/ 0 h 28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95325" y="1557338"/>
            <a:ext cx="14986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首次响应时间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95325" y="1834039"/>
            <a:ext cx="1498625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chemeClr val="tx2"/>
                </a:solidFill>
                <a:cs typeface="+mn-lt"/>
              </a:rPr>
              <a:t>当前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4.2 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分钟</a:t>
            </a:r>
            <a:endParaRPr lang="zh-CN" altLang="en-US"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95325" y="2088833"/>
            <a:ext cx="1498625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chemeClr val="tx2"/>
                </a:solidFill>
                <a:cs typeface="+mn-lt"/>
              </a:rPr>
              <a:t>↓</a:t>
            </a:r>
            <a:endParaRPr sz="13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695325" y="2294573"/>
            <a:ext cx="149862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/>
                </a:solidFill>
                <a:cs typeface="+mn-lt"/>
              </a:rPr>
              <a:t>≤30 </a:t>
            </a:r>
            <a:r>
              <a:rPr lang="zh-CN" b="1">
                <a:solidFill>
                  <a:schemeClr val="tx2"/>
                </a:solidFill>
                <a:cs typeface="+mn-lt"/>
              </a:rPr>
              <a:t>秒</a:t>
            </a:r>
            <a:endParaRPr lang="zh-CN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699770" y="2638425"/>
            <a:ext cx="1194435" cy="238125"/>
          </a:xfrm>
          <a:custGeom>
            <a:avLst/>
            <a:gdLst>
              <a:gd name="sw" fmla="*/ 1 w 1880"/>
              <a:gd name="sh" fmla="*/ 1 h 375"/>
              <a:gd name="mins" fmla="min sw sh"/>
              <a:gd name="dsw" fmla="+- 0 sw mins"/>
              <a:gd name="dsh" fmla="+- 0 sh mins"/>
              <a:gd name="p0x0" fmla="*/ 187 w 1880"/>
              <a:gd name="p0y0" fmla="*/ 0 h 375"/>
              <a:gd name="p0x1" fmla="*/ 1693 w 1880"/>
              <a:gd name="p0y1" fmla="*/ 0 h 375"/>
              <a:gd name="p0x2" fmla="*/ 1796 w 1880"/>
              <a:gd name="p0y2" fmla="*/ 0 h 375"/>
              <a:gd name="p0x3" fmla="*/ 1880 w 1880"/>
              <a:gd name="p0y3" fmla="*/ 83 h 375"/>
              <a:gd name="p0x4" fmla="*/ 1880 w 1880"/>
              <a:gd name="p0y4" fmla="*/ 187 h 375"/>
              <a:gd name="p0x5" fmla="*/ 1880 w 1880"/>
              <a:gd name="p0y5" fmla="*/ 291 h 375"/>
              <a:gd name="p0x6" fmla="*/ 1796 w 1880"/>
              <a:gd name="p0y6" fmla="*/ 375 h 375"/>
              <a:gd name="p0x7" fmla="*/ 1693 w 1880"/>
              <a:gd name="p0y7" fmla="*/ 375 h 375"/>
              <a:gd name="p0x8" fmla="*/ 187 w 1880"/>
              <a:gd name="p0y8" fmla="*/ 375 h 375"/>
              <a:gd name="p0x9" fmla="*/ 83 w 1880"/>
              <a:gd name="p0y9" fmla="*/ 375 h 375"/>
              <a:gd name="p0x10" fmla="*/ 0 w 1880"/>
              <a:gd name="p0y10" fmla="*/ 291 h 375"/>
              <a:gd name="p0x11" fmla="*/ 0 w 1880"/>
              <a:gd name="p0y11" fmla="*/ 187 h 375"/>
              <a:gd name="p0x12" fmla="*/ 0 w 1880"/>
              <a:gd name="p0y12" fmla="*/ 83 h 375"/>
              <a:gd name="p0x13" fmla="*/ 83 w 1880"/>
              <a:gd name="p0y13" fmla="*/ 0 h 375"/>
              <a:gd name="p0x14" fmla="*/ 187 w 188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lumMod val="16268"/>
                <a:lumOff val="83732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819150" y="2672715"/>
            <a:ext cx="1108624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200">
                <a:solidFill>
                  <a:srgbClr val="0A3D7A"/>
                </a:solidFill>
                <a:cs typeface="+mn-lt"/>
              </a:rPr>
              <a:t>周期</a:t>
            </a:r>
            <a:r>
              <a:rPr lang="en-US" altLang="zh-CN" sz="1200">
                <a:solidFill>
                  <a:srgbClr val="0A3D7A"/>
                </a:solidFill>
                <a:cs typeface="+mn-lt"/>
              </a:rPr>
              <a:t> · 1</a:t>
            </a:r>
            <a:r>
              <a:rPr lang="zh-CN" altLang="en-US" sz="1200">
                <a:solidFill>
                  <a:srgbClr val="0A3D7A"/>
                </a:solidFill>
                <a:cs typeface="+mn-lt"/>
              </a:rPr>
              <a:t>个月</a:t>
            </a:r>
            <a:endParaRPr lang="zh-CN" altLang="en-US" sz="1200">
              <a:solidFill>
                <a:srgbClr val="0A3D7A"/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2436495" y="1452245"/>
            <a:ext cx="1736725" cy="1814830"/>
          </a:xfrm>
          <a:custGeom>
            <a:avLst/>
            <a:gdLst>
              <a:gd name="sw" fmla="*/ 1 w 2735"/>
              <a:gd name="sh" fmla="*/ 1 h 2857"/>
              <a:gd name="mins" fmla="min sw sh"/>
              <a:gd name="dsw" fmla="+- 0 sw mins"/>
              <a:gd name="dsh" fmla="+- 0 sh mins"/>
              <a:gd name="p0x0" fmla="*/ 240 w 2735"/>
              <a:gd name="p0y0" fmla="*/ 0 h 2857"/>
              <a:gd name="p0x1" fmla="*/ 2495 w 2735"/>
              <a:gd name="p0y1" fmla="*/ 0 h 2857"/>
              <a:gd name="p0x2" fmla="*/ 2627 w 2735"/>
              <a:gd name="p0y2" fmla="*/ 0 h 2857"/>
              <a:gd name="p0x3" fmla="*/ 2735 w 2735"/>
              <a:gd name="p0y3" fmla="*/ 107 h 2857"/>
              <a:gd name="p0x4" fmla="*/ 2735 w 2735"/>
              <a:gd name="p0y4" fmla="*/ 240 h 2857"/>
              <a:gd name="p0x5" fmla="*/ 2735 w 2735"/>
              <a:gd name="p0y5" fmla="*/ 2617 h 2857"/>
              <a:gd name="p0x6" fmla="*/ 2735 w 2735"/>
              <a:gd name="p0y6" fmla="*/ 2750 h 2857"/>
              <a:gd name="p0x7" fmla="*/ 2627 w 2735"/>
              <a:gd name="p0y7" fmla="*/ 2857 h 2857"/>
              <a:gd name="p0x8" fmla="*/ 2495 w 2735"/>
              <a:gd name="p0y8" fmla="*/ 2857 h 2857"/>
              <a:gd name="p0x9" fmla="*/ 240 w 2735"/>
              <a:gd name="p0y9" fmla="*/ 2857 h 2857"/>
              <a:gd name="p0x10" fmla="*/ 107 w 2735"/>
              <a:gd name="p0y10" fmla="*/ 2857 h 2857"/>
              <a:gd name="p0x11" fmla="*/ 0 w 2735"/>
              <a:gd name="p0y11" fmla="*/ 2750 h 2857"/>
              <a:gd name="p0x12" fmla="*/ 0 w 2735"/>
              <a:gd name="p0y12" fmla="*/ 2617 h 2857"/>
              <a:gd name="p0x13" fmla="*/ 0 w 2735"/>
              <a:gd name="p0y13" fmla="*/ 240 h 2857"/>
              <a:gd name="p0x14" fmla="*/ 0 w 2735"/>
              <a:gd name="p0y14" fmla="*/ 107 h 2857"/>
              <a:gd name="p0x15" fmla="*/ 107 w 2735"/>
              <a:gd name="p0y15" fmla="*/ 0 h 2857"/>
              <a:gd name="p0x16" fmla="*/ 240 w 2735"/>
              <a:gd name="p0y16" fmla="*/ 0 h 28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2555900" y="1557338"/>
            <a:ext cx="1524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人工处理量占比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2555900" y="1834039"/>
            <a:ext cx="1498625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chemeClr val="tx2"/>
                </a:solidFill>
                <a:cs typeface="+mn-lt"/>
              </a:rPr>
              <a:t>当前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100%</a:t>
            </a:r>
            <a:endParaRPr lang="en-US" altLang="zh-CN"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2555900" y="2088833"/>
            <a:ext cx="1498625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chemeClr val="tx2"/>
                </a:solidFill>
                <a:cs typeface="+mn-lt"/>
              </a:rPr>
              <a:t>↓</a:t>
            </a:r>
            <a:endParaRPr sz="13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2555900" y="2294573"/>
            <a:ext cx="149862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≤40%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2560320" y="2638425"/>
            <a:ext cx="1194435" cy="238125"/>
          </a:xfrm>
          <a:custGeom>
            <a:avLst/>
            <a:gdLst>
              <a:gd name="sw" fmla="*/ 1 w 1880"/>
              <a:gd name="sh" fmla="*/ 1 h 375"/>
              <a:gd name="mins" fmla="min sw sh"/>
              <a:gd name="dsw" fmla="+- 0 sw mins"/>
              <a:gd name="dsh" fmla="+- 0 sh mins"/>
              <a:gd name="p0x0" fmla="*/ 187 w 1880"/>
              <a:gd name="p0y0" fmla="*/ 0 h 375"/>
              <a:gd name="p0x1" fmla="*/ 1693 w 1880"/>
              <a:gd name="p0y1" fmla="*/ 0 h 375"/>
              <a:gd name="p0x2" fmla="*/ 1796 w 1880"/>
              <a:gd name="p0y2" fmla="*/ 0 h 375"/>
              <a:gd name="p0x3" fmla="*/ 1880 w 1880"/>
              <a:gd name="p0y3" fmla="*/ 83 h 375"/>
              <a:gd name="p0x4" fmla="*/ 1880 w 1880"/>
              <a:gd name="p0y4" fmla="*/ 187 h 375"/>
              <a:gd name="p0x5" fmla="*/ 1880 w 1880"/>
              <a:gd name="p0y5" fmla="*/ 291 h 375"/>
              <a:gd name="p0x6" fmla="*/ 1796 w 1880"/>
              <a:gd name="p0y6" fmla="*/ 375 h 375"/>
              <a:gd name="p0x7" fmla="*/ 1693 w 1880"/>
              <a:gd name="p0y7" fmla="*/ 375 h 375"/>
              <a:gd name="p0x8" fmla="*/ 187 w 1880"/>
              <a:gd name="p0y8" fmla="*/ 375 h 375"/>
              <a:gd name="p0x9" fmla="*/ 83 w 1880"/>
              <a:gd name="p0y9" fmla="*/ 375 h 375"/>
              <a:gd name="p0x10" fmla="*/ 0 w 1880"/>
              <a:gd name="p0y10" fmla="*/ 291 h 375"/>
              <a:gd name="p0x11" fmla="*/ 0 w 1880"/>
              <a:gd name="p0y11" fmla="*/ 187 h 375"/>
              <a:gd name="p0x12" fmla="*/ 0 w 1880"/>
              <a:gd name="p0y12" fmla="*/ 83 h 375"/>
              <a:gd name="p0x13" fmla="*/ 83 w 1880"/>
              <a:gd name="p0y13" fmla="*/ 0 h 375"/>
              <a:gd name="p0x14" fmla="*/ 187 w 188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lumMod val="16268"/>
                <a:lumOff val="83732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2679725" y="2672715"/>
            <a:ext cx="1108624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200">
                <a:solidFill>
                  <a:srgbClr val="0A3D7A"/>
                </a:solidFill>
                <a:cs typeface="+mn-lt"/>
              </a:rPr>
              <a:t>周期</a:t>
            </a:r>
            <a:r>
              <a:rPr lang="en-US" altLang="zh-CN" sz="1200">
                <a:solidFill>
                  <a:srgbClr val="0A3D7A"/>
                </a:solidFill>
                <a:cs typeface="+mn-lt"/>
              </a:rPr>
              <a:t> · 3</a:t>
            </a:r>
            <a:r>
              <a:rPr lang="zh-CN" altLang="en-US" sz="1200">
                <a:solidFill>
                  <a:srgbClr val="0A3D7A"/>
                </a:solidFill>
                <a:cs typeface="+mn-lt"/>
              </a:rPr>
              <a:t>个月</a:t>
            </a:r>
            <a:endParaRPr lang="zh-CN" altLang="en-US" sz="1200">
              <a:solidFill>
                <a:srgbClr val="0A3D7A"/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4297045" y="1452245"/>
            <a:ext cx="1736725" cy="1814830"/>
          </a:xfrm>
          <a:custGeom>
            <a:avLst/>
            <a:gdLst>
              <a:gd name="sw" fmla="*/ 1 w 2735"/>
              <a:gd name="sh" fmla="*/ 1 h 2857"/>
              <a:gd name="mins" fmla="min sw sh"/>
              <a:gd name="dsw" fmla="+- 0 sw mins"/>
              <a:gd name="dsh" fmla="+- 0 sh mins"/>
              <a:gd name="p0x0" fmla="*/ 240 w 2735"/>
              <a:gd name="p0y0" fmla="*/ 0 h 2857"/>
              <a:gd name="p0x1" fmla="*/ 2495 w 2735"/>
              <a:gd name="p0y1" fmla="*/ 0 h 2857"/>
              <a:gd name="p0x2" fmla="*/ 2627 w 2735"/>
              <a:gd name="p0y2" fmla="*/ 0 h 2857"/>
              <a:gd name="p0x3" fmla="*/ 2735 w 2735"/>
              <a:gd name="p0y3" fmla="*/ 107 h 2857"/>
              <a:gd name="p0x4" fmla="*/ 2735 w 2735"/>
              <a:gd name="p0y4" fmla="*/ 240 h 2857"/>
              <a:gd name="p0x5" fmla="*/ 2735 w 2735"/>
              <a:gd name="p0y5" fmla="*/ 2617 h 2857"/>
              <a:gd name="p0x6" fmla="*/ 2735 w 2735"/>
              <a:gd name="p0y6" fmla="*/ 2750 h 2857"/>
              <a:gd name="p0x7" fmla="*/ 2627 w 2735"/>
              <a:gd name="p0y7" fmla="*/ 2857 h 2857"/>
              <a:gd name="p0x8" fmla="*/ 2495 w 2735"/>
              <a:gd name="p0y8" fmla="*/ 2857 h 2857"/>
              <a:gd name="p0x9" fmla="*/ 240 w 2735"/>
              <a:gd name="p0y9" fmla="*/ 2857 h 2857"/>
              <a:gd name="p0x10" fmla="*/ 107 w 2735"/>
              <a:gd name="p0y10" fmla="*/ 2857 h 2857"/>
              <a:gd name="p0x11" fmla="*/ 0 w 2735"/>
              <a:gd name="p0y11" fmla="*/ 2750 h 2857"/>
              <a:gd name="p0x12" fmla="*/ 0 w 2735"/>
              <a:gd name="p0y12" fmla="*/ 2617 h 2857"/>
              <a:gd name="p0x13" fmla="*/ 0 w 2735"/>
              <a:gd name="p0y13" fmla="*/ 240 h 2857"/>
              <a:gd name="p0x14" fmla="*/ 0 w 2735"/>
              <a:gd name="p0y14" fmla="*/ 107 h 2857"/>
              <a:gd name="p0x15" fmla="*/ 107 w 2735"/>
              <a:gd name="p0y15" fmla="*/ 0 h 2857"/>
              <a:gd name="p0x16" fmla="*/ 240 w 2735"/>
              <a:gd name="p0y16" fmla="*/ 0 h 28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4416476" y="1557338"/>
            <a:ext cx="14986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一次解决率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4416476" y="1834039"/>
            <a:ext cx="1498625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chemeClr val="tx2"/>
                </a:solidFill>
                <a:cs typeface="+mn-lt"/>
              </a:rPr>
              <a:t>当前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62%</a:t>
            </a:r>
            <a:endParaRPr lang="en-US" altLang="zh-CN"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4416476" y="2088833"/>
            <a:ext cx="1498625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chemeClr val="tx2"/>
                </a:solidFill>
                <a:cs typeface="+mn-lt"/>
              </a:rPr>
              <a:t>↓</a:t>
            </a:r>
            <a:endParaRPr sz="13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4416476" y="2294573"/>
            <a:ext cx="149862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≥78%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4" name="任意多边形 23"/>
          <p:cNvSpPr/>
          <p:nvPr>
            <p:custDataLst>
              <p:tags r:id="rId22"/>
            </p:custDataLst>
          </p:nvPr>
        </p:nvSpPr>
        <p:spPr>
          <a:xfrm>
            <a:off x="4420870" y="2638425"/>
            <a:ext cx="1194435" cy="238125"/>
          </a:xfrm>
          <a:custGeom>
            <a:avLst/>
            <a:gdLst>
              <a:gd name="sw" fmla="*/ 1 w 1880"/>
              <a:gd name="sh" fmla="*/ 1 h 375"/>
              <a:gd name="mins" fmla="min sw sh"/>
              <a:gd name="dsw" fmla="+- 0 sw mins"/>
              <a:gd name="dsh" fmla="+- 0 sh mins"/>
              <a:gd name="p0x0" fmla="*/ 187 w 1880"/>
              <a:gd name="p0y0" fmla="*/ 0 h 375"/>
              <a:gd name="p0x1" fmla="*/ 1693 w 1880"/>
              <a:gd name="p0y1" fmla="*/ 0 h 375"/>
              <a:gd name="p0x2" fmla="*/ 1796 w 1880"/>
              <a:gd name="p0y2" fmla="*/ 0 h 375"/>
              <a:gd name="p0x3" fmla="*/ 1880 w 1880"/>
              <a:gd name="p0y3" fmla="*/ 83 h 375"/>
              <a:gd name="p0x4" fmla="*/ 1880 w 1880"/>
              <a:gd name="p0y4" fmla="*/ 187 h 375"/>
              <a:gd name="p0x5" fmla="*/ 1880 w 1880"/>
              <a:gd name="p0y5" fmla="*/ 291 h 375"/>
              <a:gd name="p0x6" fmla="*/ 1796 w 1880"/>
              <a:gd name="p0y6" fmla="*/ 375 h 375"/>
              <a:gd name="p0x7" fmla="*/ 1693 w 1880"/>
              <a:gd name="p0y7" fmla="*/ 375 h 375"/>
              <a:gd name="p0x8" fmla="*/ 187 w 1880"/>
              <a:gd name="p0y8" fmla="*/ 375 h 375"/>
              <a:gd name="p0x9" fmla="*/ 83 w 1880"/>
              <a:gd name="p0y9" fmla="*/ 375 h 375"/>
              <a:gd name="p0x10" fmla="*/ 0 w 1880"/>
              <a:gd name="p0y10" fmla="*/ 291 h 375"/>
              <a:gd name="p0x11" fmla="*/ 0 w 1880"/>
              <a:gd name="p0y11" fmla="*/ 187 h 375"/>
              <a:gd name="p0x12" fmla="*/ 0 w 1880"/>
              <a:gd name="p0y12" fmla="*/ 83 h 375"/>
              <a:gd name="p0x13" fmla="*/ 83 w 1880"/>
              <a:gd name="p0y13" fmla="*/ 0 h 375"/>
              <a:gd name="p0x14" fmla="*/ 187 w 188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lumMod val="16268"/>
                <a:lumOff val="83732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4540301" y="2672715"/>
            <a:ext cx="1108624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200">
                <a:solidFill>
                  <a:srgbClr val="0A3D7A"/>
                </a:solidFill>
                <a:cs typeface="+mn-lt"/>
              </a:rPr>
              <a:t>周期</a:t>
            </a:r>
            <a:r>
              <a:rPr lang="en-US" altLang="zh-CN" sz="1200">
                <a:solidFill>
                  <a:srgbClr val="0A3D7A"/>
                </a:solidFill>
                <a:cs typeface="+mn-lt"/>
              </a:rPr>
              <a:t> · 3</a:t>
            </a:r>
            <a:r>
              <a:rPr lang="zh-CN" altLang="en-US" sz="1200">
                <a:solidFill>
                  <a:srgbClr val="0A3D7A"/>
                </a:solidFill>
                <a:cs typeface="+mn-lt"/>
              </a:rPr>
              <a:t>个月</a:t>
            </a:r>
            <a:endParaRPr lang="zh-CN" altLang="en-US" sz="1200">
              <a:solidFill>
                <a:srgbClr val="0A3D7A"/>
              </a:solidFill>
              <a:cs typeface="+mn-lt"/>
            </a:endParaRPr>
          </a:p>
        </p:txBody>
      </p:sp>
      <p:sp>
        <p:nvSpPr>
          <p:cNvPr id="26" name="任意多边形 25"/>
          <p:cNvSpPr/>
          <p:nvPr>
            <p:custDataLst>
              <p:tags r:id="rId24"/>
            </p:custDataLst>
          </p:nvPr>
        </p:nvSpPr>
        <p:spPr>
          <a:xfrm>
            <a:off x="6157595" y="1452245"/>
            <a:ext cx="1736725" cy="1814830"/>
          </a:xfrm>
          <a:custGeom>
            <a:avLst/>
            <a:gdLst>
              <a:gd name="sw" fmla="*/ 1 w 2735"/>
              <a:gd name="sh" fmla="*/ 1 h 2857"/>
              <a:gd name="mins" fmla="min sw sh"/>
              <a:gd name="dsw" fmla="+- 0 sw mins"/>
              <a:gd name="dsh" fmla="+- 0 sh mins"/>
              <a:gd name="p0x0" fmla="*/ 240 w 2735"/>
              <a:gd name="p0y0" fmla="*/ 0 h 2857"/>
              <a:gd name="p0x1" fmla="*/ 2495 w 2735"/>
              <a:gd name="p0y1" fmla="*/ 0 h 2857"/>
              <a:gd name="p0x2" fmla="*/ 2627 w 2735"/>
              <a:gd name="p0y2" fmla="*/ 0 h 2857"/>
              <a:gd name="p0x3" fmla="*/ 2735 w 2735"/>
              <a:gd name="p0y3" fmla="*/ 107 h 2857"/>
              <a:gd name="p0x4" fmla="*/ 2735 w 2735"/>
              <a:gd name="p0y4" fmla="*/ 240 h 2857"/>
              <a:gd name="p0x5" fmla="*/ 2735 w 2735"/>
              <a:gd name="p0y5" fmla="*/ 2617 h 2857"/>
              <a:gd name="p0x6" fmla="*/ 2735 w 2735"/>
              <a:gd name="p0y6" fmla="*/ 2750 h 2857"/>
              <a:gd name="p0x7" fmla="*/ 2627 w 2735"/>
              <a:gd name="p0y7" fmla="*/ 2857 h 2857"/>
              <a:gd name="p0x8" fmla="*/ 2495 w 2735"/>
              <a:gd name="p0y8" fmla="*/ 2857 h 2857"/>
              <a:gd name="p0x9" fmla="*/ 240 w 2735"/>
              <a:gd name="p0y9" fmla="*/ 2857 h 2857"/>
              <a:gd name="p0x10" fmla="*/ 107 w 2735"/>
              <a:gd name="p0y10" fmla="*/ 2857 h 2857"/>
              <a:gd name="p0x11" fmla="*/ 0 w 2735"/>
              <a:gd name="p0y11" fmla="*/ 2750 h 2857"/>
              <a:gd name="p0x12" fmla="*/ 0 w 2735"/>
              <a:gd name="p0y12" fmla="*/ 2617 h 2857"/>
              <a:gd name="p0x13" fmla="*/ 0 w 2735"/>
              <a:gd name="p0y13" fmla="*/ 240 h 2857"/>
              <a:gd name="p0x14" fmla="*/ 0 w 2735"/>
              <a:gd name="p0y14" fmla="*/ 107 h 2857"/>
              <a:gd name="p0x15" fmla="*/ 107 w 2735"/>
              <a:gd name="p0y15" fmla="*/ 0 h 2857"/>
              <a:gd name="p0x16" fmla="*/ 240 w 2735"/>
              <a:gd name="p0y16" fmla="*/ 0 h 28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6277051" y="1557338"/>
            <a:ext cx="14986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用户满意度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6277051" y="1834039"/>
            <a:ext cx="1498625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chemeClr val="tx2"/>
                </a:solidFill>
                <a:cs typeface="+mn-lt"/>
              </a:rPr>
              <a:t>当前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3.8/5</a:t>
            </a:r>
            <a:endParaRPr lang="en-US" altLang="zh-CN"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6277051" y="2088833"/>
            <a:ext cx="1498625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chemeClr val="tx2"/>
                </a:solidFill>
                <a:cs typeface="+mn-lt"/>
              </a:rPr>
              <a:t>↓</a:t>
            </a:r>
            <a:endParaRPr sz="13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6277051" y="2294573"/>
            <a:ext cx="149862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≥4.3/5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1" name="任意多边形 30"/>
          <p:cNvSpPr/>
          <p:nvPr>
            <p:custDataLst>
              <p:tags r:id="rId29"/>
            </p:custDataLst>
          </p:nvPr>
        </p:nvSpPr>
        <p:spPr>
          <a:xfrm>
            <a:off x="6281420" y="2638425"/>
            <a:ext cx="1194435" cy="238125"/>
          </a:xfrm>
          <a:custGeom>
            <a:avLst/>
            <a:gdLst>
              <a:gd name="sw" fmla="*/ 1 w 1880"/>
              <a:gd name="sh" fmla="*/ 1 h 375"/>
              <a:gd name="mins" fmla="min sw sh"/>
              <a:gd name="dsw" fmla="+- 0 sw mins"/>
              <a:gd name="dsh" fmla="+- 0 sh mins"/>
              <a:gd name="p0x0" fmla="*/ 187 w 1880"/>
              <a:gd name="p0y0" fmla="*/ 0 h 375"/>
              <a:gd name="p0x1" fmla="*/ 1693 w 1880"/>
              <a:gd name="p0y1" fmla="*/ 0 h 375"/>
              <a:gd name="p0x2" fmla="*/ 1796 w 1880"/>
              <a:gd name="p0y2" fmla="*/ 0 h 375"/>
              <a:gd name="p0x3" fmla="*/ 1880 w 1880"/>
              <a:gd name="p0y3" fmla="*/ 83 h 375"/>
              <a:gd name="p0x4" fmla="*/ 1880 w 1880"/>
              <a:gd name="p0y4" fmla="*/ 187 h 375"/>
              <a:gd name="p0x5" fmla="*/ 1880 w 1880"/>
              <a:gd name="p0y5" fmla="*/ 291 h 375"/>
              <a:gd name="p0x6" fmla="*/ 1796 w 1880"/>
              <a:gd name="p0y6" fmla="*/ 375 h 375"/>
              <a:gd name="p0x7" fmla="*/ 1693 w 1880"/>
              <a:gd name="p0y7" fmla="*/ 375 h 375"/>
              <a:gd name="p0x8" fmla="*/ 187 w 1880"/>
              <a:gd name="p0y8" fmla="*/ 375 h 375"/>
              <a:gd name="p0x9" fmla="*/ 83 w 1880"/>
              <a:gd name="p0y9" fmla="*/ 375 h 375"/>
              <a:gd name="p0x10" fmla="*/ 0 w 1880"/>
              <a:gd name="p0y10" fmla="*/ 291 h 375"/>
              <a:gd name="p0x11" fmla="*/ 0 w 1880"/>
              <a:gd name="p0y11" fmla="*/ 187 h 375"/>
              <a:gd name="p0x12" fmla="*/ 0 w 1880"/>
              <a:gd name="p0y12" fmla="*/ 83 h 375"/>
              <a:gd name="p0x13" fmla="*/ 83 w 1880"/>
              <a:gd name="p0y13" fmla="*/ 0 h 375"/>
              <a:gd name="p0x14" fmla="*/ 187 w 188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lumMod val="16268"/>
                <a:lumOff val="83732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6400876" y="2672715"/>
            <a:ext cx="1108624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200">
                <a:solidFill>
                  <a:srgbClr val="0A3D7A"/>
                </a:solidFill>
                <a:cs typeface="+mn-lt"/>
              </a:rPr>
              <a:t>周期</a:t>
            </a:r>
            <a:r>
              <a:rPr lang="en-US" altLang="zh-CN" sz="1200">
                <a:solidFill>
                  <a:srgbClr val="0A3D7A"/>
                </a:solidFill>
                <a:cs typeface="+mn-lt"/>
              </a:rPr>
              <a:t> · 6</a:t>
            </a:r>
            <a:r>
              <a:rPr lang="zh-CN" altLang="en-US" sz="1200">
                <a:solidFill>
                  <a:srgbClr val="0A3D7A"/>
                </a:solidFill>
                <a:cs typeface="+mn-lt"/>
              </a:rPr>
              <a:t>个月</a:t>
            </a:r>
            <a:endParaRPr lang="zh-CN" altLang="en-US" sz="1200">
              <a:solidFill>
                <a:srgbClr val="0A3D7A"/>
              </a:solidFill>
              <a:cs typeface="+mn-lt"/>
            </a:endParaRPr>
          </a:p>
        </p:txBody>
      </p:sp>
      <p:sp>
        <p:nvSpPr>
          <p:cNvPr id="33" name="任意多边形 32"/>
          <p:cNvSpPr/>
          <p:nvPr>
            <p:custDataLst>
              <p:tags r:id="rId31"/>
            </p:custDataLst>
          </p:nvPr>
        </p:nvSpPr>
        <p:spPr>
          <a:xfrm>
            <a:off x="8018145" y="1452245"/>
            <a:ext cx="1736725" cy="1814830"/>
          </a:xfrm>
          <a:custGeom>
            <a:avLst/>
            <a:gdLst>
              <a:gd name="sw" fmla="*/ 1 w 2735"/>
              <a:gd name="sh" fmla="*/ 1 h 2857"/>
              <a:gd name="mins" fmla="min sw sh"/>
              <a:gd name="dsw" fmla="+- 0 sw mins"/>
              <a:gd name="dsh" fmla="+- 0 sh mins"/>
              <a:gd name="p0x0" fmla="*/ 240 w 2735"/>
              <a:gd name="p0y0" fmla="*/ 0 h 2857"/>
              <a:gd name="p0x1" fmla="*/ 2495 w 2735"/>
              <a:gd name="p0y1" fmla="*/ 0 h 2857"/>
              <a:gd name="p0x2" fmla="*/ 2627 w 2735"/>
              <a:gd name="p0y2" fmla="*/ 0 h 2857"/>
              <a:gd name="p0x3" fmla="*/ 2735 w 2735"/>
              <a:gd name="p0y3" fmla="*/ 107 h 2857"/>
              <a:gd name="p0x4" fmla="*/ 2735 w 2735"/>
              <a:gd name="p0y4" fmla="*/ 240 h 2857"/>
              <a:gd name="p0x5" fmla="*/ 2735 w 2735"/>
              <a:gd name="p0y5" fmla="*/ 2617 h 2857"/>
              <a:gd name="p0x6" fmla="*/ 2735 w 2735"/>
              <a:gd name="p0y6" fmla="*/ 2750 h 2857"/>
              <a:gd name="p0x7" fmla="*/ 2627 w 2735"/>
              <a:gd name="p0y7" fmla="*/ 2857 h 2857"/>
              <a:gd name="p0x8" fmla="*/ 2495 w 2735"/>
              <a:gd name="p0y8" fmla="*/ 2857 h 2857"/>
              <a:gd name="p0x9" fmla="*/ 240 w 2735"/>
              <a:gd name="p0y9" fmla="*/ 2857 h 2857"/>
              <a:gd name="p0x10" fmla="*/ 107 w 2735"/>
              <a:gd name="p0y10" fmla="*/ 2857 h 2857"/>
              <a:gd name="p0x11" fmla="*/ 0 w 2735"/>
              <a:gd name="p0y11" fmla="*/ 2750 h 2857"/>
              <a:gd name="p0x12" fmla="*/ 0 w 2735"/>
              <a:gd name="p0y12" fmla="*/ 2617 h 2857"/>
              <a:gd name="p0x13" fmla="*/ 0 w 2735"/>
              <a:gd name="p0y13" fmla="*/ 240 h 2857"/>
              <a:gd name="p0x14" fmla="*/ 0 w 2735"/>
              <a:gd name="p0y14" fmla="*/ 107 h 2857"/>
              <a:gd name="p0x15" fmla="*/ 107 w 2735"/>
              <a:gd name="p0y15" fmla="*/ 0 h 2857"/>
              <a:gd name="p0x16" fmla="*/ 240 w 2735"/>
              <a:gd name="p0y16" fmla="*/ 0 h 28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8137627" y="1557338"/>
            <a:ext cx="14986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新人培训周期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8137627" y="1834039"/>
            <a:ext cx="1498625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chemeClr val="tx2"/>
                </a:solidFill>
                <a:cs typeface="+mn-lt"/>
              </a:rPr>
              <a:t>当前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3 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个月</a:t>
            </a:r>
            <a:endParaRPr lang="zh-CN" altLang="en-US"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36" name="文本框 35"/>
          <p:cNvSpPr txBox="1"/>
          <p:nvPr>
            <p:custDataLst>
              <p:tags r:id="rId34"/>
            </p:custDataLst>
          </p:nvPr>
        </p:nvSpPr>
        <p:spPr>
          <a:xfrm>
            <a:off x="8137627" y="2088833"/>
            <a:ext cx="1498625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chemeClr val="tx2"/>
                </a:solidFill>
                <a:cs typeface="+mn-lt"/>
              </a:rPr>
              <a:t>↓</a:t>
            </a:r>
            <a:endParaRPr sz="13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8137627" y="2294573"/>
            <a:ext cx="149862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chemeClr val="tx2"/>
                </a:solidFill>
                <a:cs typeface="+mn-lt"/>
              </a:rPr>
              <a:t>1 </a:t>
            </a:r>
            <a:r>
              <a:rPr lang="zh-CN" b="1">
                <a:solidFill>
                  <a:schemeClr val="tx2"/>
                </a:solidFill>
                <a:cs typeface="+mn-lt"/>
              </a:rPr>
              <a:t>个月</a:t>
            </a:r>
            <a:endParaRPr lang="zh-CN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8" name="任意多边形 37"/>
          <p:cNvSpPr/>
          <p:nvPr>
            <p:custDataLst>
              <p:tags r:id="rId36"/>
            </p:custDataLst>
          </p:nvPr>
        </p:nvSpPr>
        <p:spPr>
          <a:xfrm>
            <a:off x="8141970" y="2638425"/>
            <a:ext cx="1194435" cy="238125"/>
          </a:xfrm>
          <a:custGeom>
            <a:avLst/>
            <a:gdLst>
              <a:gd name="sw" fmla="*/ 1 w 1880"/>
              <a:gd name="sh" fmla="*/ 1 h 375"/>
              <a:gd name="mins" fmla="min sw sh"/>
              <a:gd name="dsw" fmla="+- 0 sw mins"/>
              <a:gd name="dsh" fmla="+- 0 sh mins"/>
              <a:gd name="p0x0" fmla="*/ 187 w 1880"/>
              <a:gd name="p0y0" fmla="*/ 0 h 375"/>
              <a:gd name="p0x1" fmla="*/ 1693 w 1880"/>
              <a:gd name="p0y1" fmla="*/ 0 h 375"/>
              <a:gd name="p0x2" fmla="*/ 1796 w 1880"/>
              <a:gd name="p0y2" fmla="*/ 0 h 375"/>
              <a:gd name="p0x3" fmla="*/ 1880 w 1880"/>
              <a:gd name="p0y3" fmla="*/ 83 h 375"/>
              <a:gd name="p0x4" fmla="*/ 1880 w 1880"/>
              <a:gd name="p0y4" fmla="*/ 187 h 375"/>
              <a:gd name="p0x5" fmla="*/ 1880 w 1880"/>
              <a:gd name="p0y5" fmla="*/ 291 h 375"/>
              <a:gd name="p0x6" fmla="*/ 1796 w 1880"/>
              <a:gd name="p0y6" fmla="*/ 375 h 375"/>
              <a:gd name="p0x7" fmla="*/ 1693 w 1880"/>
              <a:gd name="p0y7" fmla="*/ 375 h 375"/>
              <a:gd name="p0x8" fmla="*/ 187 w 1880"/>
              <a:gd name="p0y8" fmla="*/ 375 h 375"/>
              <a:gd name="p0x9" fmla="*/ 83 w 1880"/>
              <a:gd name="p0y9" fmla="*/ 375 h 375"/>
              <a:gd name="p0x10" fmla="*/ 0 w 1880"/>
              <a:gd name="p0y10" fmla="*/ 291 h 375"/>
              <a:gd name="p0x11" fmla="*/ 0 w 1880"/>
              <a:gd name="p0y11" fmla="*/ 187 h 375"/>
              <a:gd name="p0x12" fmla="*/ 0 w 1880"/>
              <a:gd name="p0y12" fmla="*/ 83 h 375"/>
              <a:gd name="p0x13" fmla="*/ 83 w 1880"/>
              <a:gd name="p0y13" fmla="*/ 0 h 375"/>
              <a:gd name="p0x14" fmla="*/ 187 w 188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lumMod val="16268"/>
                <a:lumOff val="83732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8261452" y="2672715"/>
            <a:ext cx="1108624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200">
                <a:solidFill>
                  <a:srgbClr val="0A3D7A"/>
                </a:solidFill>
                <a:cs typeface="+mn-lt"/>
              </a:rPr>
              <a:t>周期</a:t>
            </a:r>
            <a:r>
              <a:rPr lang="en-US" altLang="zh-CN" sz="1200">
                <a:solidFill>
                  <a:srgbClr val="0A3D7A"/>
                </a:solidFill>
                <a:cs typeface="+mn-lt"/>
              </a:rPr>
              <a:t> · 6</a:t>
            </a:r>
            <a:r>
              <a:rPr lang="zh-CN" altLang="en-US" sz="1200">
                <a:solidFill>
                  <a:srgbClr val="0A3D7A"/>
                </a:solidFill>
                <a:cs typeface="+mn-lt"/>
              </a:rPr>
              <a:t>个月</a:t>
            </a:r>
            <a:endParaRPr lang="zh-CN" altLang="en-US" sz="1200">
              <a:solidFill>
                <a:srgbClr val="0A3D7A"/>
              </a:solidFill>
              <a:cs typeface="+mn-lt"/>
            </a:endParaRPr>
          </a:p>
        </p:txBody>
      </p:sp>
      <p:sp>
        <p:nvSpPr>
          <p:cNvPr id="40" name="任意多边形 39"/>
          <p:cNvSpPr/>
          <p:nvPr>
            <p:custDataLst>
              <p:tags r:id="rId38"/>
            </p:custDataLst>
          </p:nvPr>
        </p:nvSpPr>
        <p:spPr>
          <a:xfrm>
            <a:off x="9878695" y="1452245"/>
            <a:ext cx="1736725" cy="1814830"/>
          </a:xfrm>
          <a:custGeom>
            <a:avLst/>
            <a:gdLst>
              <a:gd name="sw" fmla="*/ 1 w 2735"/>
              <a:gd name="sh" fmla="*/ 1 h 2857"/>
              <a:gd name="mins" fmla="min sw sh"/>
              <a:gd name="dsw" fmla="+- 0 sw mins"/>
              <a:gd name="dsh" fmla="+- 0 sh mins"/>
              <a:gd name="p0x0" fmla="*/ 240 w 2735"/>
              <a:gd name="p0y0" fmla="*/ 0 h 2857"/>
              <a:gd name="p0x1" fmla="*/ 2495 w 2735"/>
              <a:gd name="p0y1" fmla="*/ 0 h 2857"/>
              <a:gd name="p0x2" fmla="*/ 2627 w 2735"/>
              <a:gd name="p0y2" fmla="*/ 0 h 2857"/>
              <a:gd name="p0x3" fmla="*/ 2735 w 2735"/>
              <a:gd name="p0y3" fmla="*/ 107 h 2857"/>
              <a:gd name="p0x4" fmla="*/ 2735 w 2735"/>
              <a:gd name="p0y4" fmla="*/ 240 h 2857"/>
              <a:gd name="p0x5" fmla="*/ 2735 w 2735"/>
              <a:gd name="p0y5" fmla="*/ 2617 h 2857"/>
              <a:gd name="p0x6" fmla="*/ 2735 w 2735"/>
              <a:gd name="p0y6" fmla="*/ 2750 h 2857"/>
              <a:gd name="p0x7" fmla="*/ 2627 w 2735"/>
              <a:gd name="p0y7" fmla="*/ 2857 h 2857"/>
              <a:gd name="p0x8" fmla="*/ 2495 w 2735"/>
              <a:gd name="p0y8" fmla="*/ 2857 h 2857"/>
              <a:gd name="p0x9" fmla="*/ 240 w 2735"/>
              <a:gd name="p0y9" fmla="*/ 2857 h 2857"/>
              <a:gd name="p0x10" fmla="*/ 107 w 2735"/>
              <a:gd name="p0y10" fmla="*/ 2857 h 2857"/>
              <a:gd name="p0x11" fmla="*/ 0 w 2735"/>
              <a:gd name="p0y11" fmla="*/ 2750 h 2857"/>
              <a:gd name="p0x12" fmla="*/ 0 w 2735"/>
              <a:gd name="p0y12" fmla="*/ 2617 h 2857"/>
              <a:gd name="p0x13" fmla="*/ 0 w 2735"/>
              <a:gd name="p0y13" fmla="*/ 240 h 2857"/>
              <a:gd name="p0x14" fmla="*/ 0 w 2735"/>
              <a:gd name="p0y14" fmla="*/ 107 h 2857"/>
              <a:gd name="p0x15" fmla="*/ 107 w 2735"/>
              <a:gd name="p0y15" fmla="*/ 0 h 2857"/>
              <a:gd name="p0x16" fmla="*/ 240 w 2735"/>
              <a:gd name="p0y16" fmla="*/ 0 h 28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9998202" y="1557338"/>
            <a:ext cx="14986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客服人效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42" name="文本框 41"/>
          <p:cNvSpPr txBox="1"/>
          <p:nvPr>
            <p:custDataLst>
              <p:tags r:id="rId40"/>
            </p:custDataLst>
          </p:nvPr>
        </p:nvSpPr>
        <p:spPr>
          <a:xfrm>
            <a:off x="9998202" y="1834039"/>
            <a:ext cx="1498625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>
                <a:solidFill>
                  <a:schemeClr val="tx2"/>
                </a:solidFill>
                <a:cs typeface="+mn-lt"/>
              </a:rPr>
              <a:t>当前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55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通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/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人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/</a:t>
            </a:r>
            <a:r>
              <a:rPr lang="zh-CN" altLang="en-US" sz="1350">
                <a:solidFill>
                  <a:schemeClr val="tx2"/>
                </a:solidFill>
                <a:cs typeface="+mn-lt"/>
              </a:rPr>
              <a:t>天</a:t>
            </a:r>
            <a:endParaRPr lang="zh-CN" altLang="en-US"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43" name="文本框 42"/>
          <p:cNvSpPr txBox="1"/>
          <p:nvPr>
            <p:custDataLst>
              <p:tags r:id="rId41"/>
            </p:custDataLst>
          </p:nvPr>
        </p:nvSpPr>
        <p:spPr>
          <a:xfrm>
            <a:off x="9998202" y="2088833"/>
            <a:ext cx="1498625" cy="1943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350" b="1">
                <a:solidFill>
                  <a:schemeClr val="tx2"/>
                </a:solidFill>
                <a:cs typeface="+mn-lt"/>
              </a:rPr>
              <a:t>↓</a:t>
            </a:r>
            <a:endParaRPr sz="13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44" name="文本框 43"/>
          <p:cNvSpPr txBox="1"/>
          <p:nvPr>
            <p:custDataLst>
              <p:tags r:id="rId42"/>
            </p:custDataLst>
          </p:nvPr>
        </p:nvSpPr>
        <p:spPr>
          <a:xfrm>
            <a:off x="9998202" y="2294573"/>
            <a:ext cx="1605258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b="1">
                <a:solidFill>
                  <a:schemeClr val="tx2"/>
                </a:solidFill>
                <a:cs typeface="+mn-lt"/>
              </a:rPr>
              <a:t>≥90</a:t>
            </a:r>
            <a:r>
              <a:rPr lang="zh-CN" altLang="en-US" b="1">
                <a:solidFill>
                  <a:schemeClr val="tx2"/>
                </a:solidFill>
                <a:cs typeface="+mn-lt"/>
              </a:rPr>
              <a:t>通</a:t>
            </a:r>
            <a:r>
              <a:rPr lang="en-US" altLang="zh-CN" b="1">
                <a:solidFill>
                  <a:schemeClr val="tx2"/>
                </a:solidFill>
                <a:cs typeface="+mn-lt"/>
              </a:rPr>
              <a:t>/</a:t>
            </a:r>
            <a:r>
              <a:rPr lang="zh-CN" altLang="en-US" b="1">
                <a:solidFill>
                  <a:schemeClr val="tx2"/>
                </a:solidFill>
                <a:cs typeface="+mn-lt"/>
              </a:rPr>
              <a:t>人</a:t>
            </a:r>
            <a:r>
              <a:rPr lang="en-US" altLang="zh-CN" b="1">
                <a:solidFill>
                  <a:schemeClr val="tx2"/>
                </a:solidFill>
                <a:cs typeface="+mn-lt"/>
              </a:rPr>
              <a:t>/</a:t>
            </a:r>
            <a:r>
              <a:rPr lang="zh-CN" altLang="en-US" b="1">
                <a:solidFill>
                  <a:schemeClr val="tx2"/>
                </a:solidFill>
                <a:cs typeface="+mn-lt"/>
              </a:rPr>
              <a:t>天</a:t>
            </a:r>
            <a:endParaRPr lang="zh-CN" altLang="en-US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45" name="任意多边形 44"/>
          <p:cNvSpPr/>
          <p:nvPr>
            <p:custDataLst>
              <p:tags r:id="rId43"/>
            </p:custDataLst>
          </p:nvPr>
        </p:nvSpPr>
        <p:spPr>
          <a:xfrm>
            <a:off x="10002520" y="2638425"/>
            <a:ext cx="1194435" cy="238125"/>
          </a:xfrm>
          <a:custGeom>
            <a:avLst/>
            <a:gdLst>
              <a:gd name="sw" fmla="*/ 1 w 1880"/>
              <a:gd name="sh" fmla="*/ 1 h 375"/>
              <a:gd name="mins" fmla="min sw sh"/>
              <a:gd name="dsw" fmla="+- 0 sw mins"/>
              <a:gd name="dsh" fmla="+- 0 sh mins"/>
              <a:gd name="p0x0" fmla="*/ 187 w 1880"/>
              <a:gd name="p0y0" fmla="*/ 0 h 375"/>
              <a:gd name="p0x1" fmla="*/ 1693 w 1880"/>
              <a:gd name="p0y1" fmla="*/ 0 h 375"/>
              <a:gd name="p0x2" fmla="*/ 1796 w 1880"/>
              <a:gd name="p0y2" fmla="*/ 0 h 375"/>
              <a:gd name="p0x3" fmla="*/ 1880 w 1880"/>
              <a:gd name="p0y3" fmla="*/ 83 h 375"/>
              <a:gd name="p0x4" fmla="*/ 1880 w 1880"/>
              <a:gd name="p0y4" fmla="*/ 187 h 375"/>
              <a:gd name="p0x5" fmla="*/ 1880 w 1880"/>
              <a:gd name="p0y5" fmla="*/ 291 h 375"/>
              <a:gd name="p0x6" fmla="*/ 1796 w 1880"/>
              <a:gd name="p0y6" fmla="*/ 375 h 375"/>
              <a:gd name="p0x7" fmla="*/ 1693 w 1880"/>
              <a:gd name="p0y7" fmla="*/ 375 h 375"/>
              <a:gd name="p0x8" fmla="*/ 187 w 1880"/>
              <a:gd name="p0y8" fmla="*/ 375 h 375"/>
              <a:gd name="p0x9" fmla="*/ 83 w 1880"/>
              <a:gd name="p0y9" fmla="*/ 375 h 375"/>
              <a:gd name="p0x10" fmla="*/ 0 w 1880"/>
              <a:gd name="p0y10" fmla="*/ 291 h 375"/>
              <a:gd name="p0x11" fmla="*/ 0 w 1880"/>
              <a:gd name="p0y11" fmla="*/ 187 h 375"/>
              <a:gd name="p0x12" fmla="*/ 0 w 1880"/>
              <a:gd name="p0y12" fmla="*/ 83 h 375"/>
              <a:gd name="p0x13" fmla="*/ 83 w 1880"/>
              <a:gd name="p0y13" fmla="*/ 0 h 375"/>
              <a:gd name="p0x14" fmla="*/ 187 w 1880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lumMod val="16268"/>
                <a:lumOff val="83732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44"/>
            </p:custDataLst>
          </p:nvPr>
        </p:nvSpPr>
        <p:spPr>
          <a:xfrm>
            <a:off x="10122027" y="2672715"/>
            <a:ext cx="1108624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zh-CN" altLang="en-US" sz="1200">
                <a:solidFill>
                  <a:srgbClr val="0A3D7A"/>
                </a:solidFill>
                <a:cs typeface="+mn-lt"/>
              </a:rPr>
              <a:t>周期</a:t>
            </a:r>
            <a:r>
              <a:rPr lang="en-US" altLang="zh-CN" sz="1200">
                <a:solidFill>
                  <a:srgbClr val="0A3D7A"/>
                </a:solidFill>
                <a:cs typeface="+mn-lt"/>
              </a:rPr>
              <a:t> · 3</a:t>
            </a:r>
            <a:r>
              <a:rPr lang="zh-CN" altLang="en-US" sz="1200">
                <a:solidFill>
                  <a:srgbClr val="0A3D7A"/>
                </a:solidFill>
                <a:cs typeface="+mn-lt"/>
              </a:rPr>
              <a:t>个月</a:t>
            </a:r>
            <a:endParaRPr lang="zh-CN" altLang="en-US" sz="1200">
              <a:solidFill>
                <a:srgbClr val="0A3D7A"/>
              </a:solidFill>
              <a:cs typeface="+mn-lt"/>
            </a:endParaRPr>
          </a:p>
        </p:txBody>
      </p:sp>
      <p:sp>
        <p:nvSpPr>
          <p:cNvPr id="47" name="任意多边形 46"/>
          <p:cNvSpPr/>
          <p:nvPr>
            <p:custDataLst>
              <p:tags r:id="rId45"/>
            </p:custDataLst>
          </p:nvPr>
        </p:nvSpPr>
        <p:spPr>
          <a:xfrm>
            <a:off x="571500" y="3500120"/>
            <a:ext cx="11049000" cy="2976880"/>
          </a:xfrm>
          <a:custGeom>
            <a:avLst/>
            <a:gdLst>
              <a:gd name="sw" fmla="*/ 1 w 17400"/>
              <a:gd name="sh" fmla="*/ 1 h 4687"/>
              <a:gd name="mins" fmla="min sw sh"/>
              <a:gd name="dsw" fmla="+- 0 sw mins"/>
              <a:gd name="dsh" fmla="+- 0 sh mins"/>
              <a:gd name="p0x0" fmla="*/ 360 w 17400"/>
              <a:gd name="p0y0" fmla="*/ 0 h 4687"/>
              <a:gd name="p0x1" fmla="*/ 17040 w 17400"/>
              <a:gd name="p0y1" fmla="*/ 0 h 4687"/>
              <a:gd name="p0x2" fmla="*/ 17238 w 17400"/>
              <a:gd name="p0y2" fmla="*/ 0 h 4687"/>
              <a:gd name="p0x3" fmla="*/ 17400 w 17400"/>
              <a:gd name="p0y3" fmla="*/ 161 h 4687"/>
              <a:gd name="p0x4" fmla="*/ 17400 w 17400"/>
              <a:gd name="p0y4" fmla="*/ 360 h 4687"/>
              <a:gd name="p0x5" fmla="*/ 17400 w 17400"/>
              <a:gd name="p0y5" fmla="*/ 4327 h 4687"/>
              <a:gd name="p0x6" fmla="*/ 17400 w 17400"/>
              <a:gd name="p0y6" fmla="*/ 4525 h 4687"/>
              <a:gd name="p0x7" fmla="*/ 17238 w 17400"/>
              <a:gd name="p0y7" fmla="*/ 4687 h 4687"/>
              <a:gd name="p0x8" fmla="*/ 17040 w 17400"/>
              <a:gd name="p0y8" fmla="*/ 4687 h 4687"/>
              <a:gd name="p0x9" fmla="*/ 360 w 17400"/>
              <a:gd name="p0y9" fmla="*/ 4687 h 4687"/>
              <a:gd name="p0x10" fmla="*/ 161 w 17400"/>
              <a:gd name="p0y10" fmla="*/ 4687 h 4687"/>
              <a:gd name="p0x11" fmla="*/ 0 w 17400"/>
              <a:gd name="p0y11" fmla="*/ 4525 h 4687"/>
              <a:gd name="p0x12" fmla="*/ 0 w 17400"/>
              <a:gd name="p0y12" fmla="*/ 4327 h 4687"/>
              <a:gd name="p0x13" fmla="*/ 0 w 17400"/>
              <a:gd name="p0y13" fmla="*/ 360 h 4687"/>
              <a:gd name="p0x14" fmla="*/ 0 w 17400"/>
              <a:gd name="p0y14" fmla="*/ 161 h 4687"/>
              <a:gd name="p0x15" fmla="*/ 161 w 17400"/>
              <a:gd name="p0y15" fmla="*/ 0 h 4687"/>
              <a:gd name="p0x16" fmla="*/ 360 w 17400"/>
              <a:gd name="p0y16" fmla="*/ 0 h 46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46"/>
            </p:custDataLst>
          </p:nvPr>
        </p:nvSpPr>
        <p:spPr>
          <a:xfrm>
            <a:off x="800100" y="4197305"/>
            <a:ext cx="3270276" cy="5981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4200" b="1">
                <a:solidFill>
                  <a:srgbClr val="0A1E33"/>
                </a:solidFill>
                <a:cs typeface="+mn-lt"/>
              </a:rPr>
              <a:t>60%</a:t>
            </a:r>
            <a:endParaRPr sz="4200" b="1">
              <a:solidFill>
                <a:srgbClr val="0A1E33"/>
              </a:solidFill>
              <a:cs typeface="+mn-lt"/>
            </a:endParaRPr>
          </a:p>
        </p:txBody>
      </p:sp>
      <p:sp>
        <p:nvSpPr>
          <p:cNvPr id="49" name="文本框 48"/>
          <p:cNvSpPr txBox="1"/>
          <p:nvPr>
            <p:custDataLst>
              <p:tags r:id="rId47"/>
            </p:custDataLst>
          </p:nvPr>
        </p:nvSpPr>
        <p:spPr>
          <a:xfrm>
            <a:off x="800100" y="4825003"/>
            <a:ext cx="327027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重复问题交由</a:t>
            </a:r>
            <a:r>
              <a:rPr lang="en-US" altLang="zh-CN"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 AI</a:t>
            </a:r>
            <a:endParaRPr lang="en-US" altLang="zh-CN" sz="1500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50" name="矩形 49"/>
          <p:cNvSpPr/>
          <p:nvPr>
            <p:custDataLst>
              <p:tags r:id="rId48"/>
            </p:custDataLst>
          </p:nvPr>
        </p:nvSpPr>
        <p:spPr>
          <a:xfrm>
            <a:off x="4260850" y="3690620"/>
            <a:ext cx="9525" cy="1991995"/>
          </a:xfrm>
          <a:prstGeom prst="rect">
            <a:avLst/>
          </a:pr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49"/>
            </p:custDataLst>
          </p:nvPr>
        </p:nvSpPr>
        <p:spPr>
          <a:xfrm>
            <a:off x="4460901" y="4197305"/>
            <a:ext cx="3465014" cy="5981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lang="en-US" altLang="en-US" sz="4200" b="1">
                <a:solidFill>
                  <a:srgbClr val="0A1E33"/>
                </a:solidFill>
                <a:cs typeface="+mn-lt"/>
              </a:rPr>
              <a:t>20</a:t>
            </a:r>
            <a:r>
              <a:rPr lang="zh-CN" altLang="en-US" sz="4200" b="1">
                <a:solidFill>
                  <a:srgbClr val="0A1E33"/>
                </a:solidFill>
                <a:cs typeface="+mn-lt"/>
              </a:rPr>
              <a:t>人</a:t>
            </a:r>
            <a:r>
              <a:rPr lang="en-US" altLang="zh-CN" sz="4200" b="1">
                <a:solidFill>
                  <a:srgbClr val="0A1E33"/>
                </a:solidFill>
                <a:cs typeface="+mn-lt"/>
              </a:rPr>
              <a:t>→35</a:t>
            </a:r>
            <a:r>
              <a:rPr lang="zh-CN" altLang="en-US" sz="4200" b="1">
                <a:solidFill>
                  <a:srgbClr val="0A1E33"/>
                </a:solidFill>
                <a:cs typeface="+mn-lt"/>
              </a:rPr>
              <a:t>人</a:t>
            </a:r>
            <a:endParaRPr lang="zh-CN" altLang="en-US" sz="4200" b="1">
              <a:solidFill>
                <a:srgbClr val="0A1E33"/>
              </a:solidFill>
              <a:cs typeface="+mn-lt"/>
            </a:endParaRPr>
          </a:p>
        </p:txBody>
      </p:sp>
      <p:sp>
        <p:nvSpPr>
          <p:cNvPr id="52" name="文本框 51"/>
          <p:cNvSpPr txBox="1"/>
          <p:nvPr>
            <p:custDataLst>
              <p:tags r:id="rId50"/>
            </p:custDataLst>
          </p:nvPr>
        </p:nvSpPr>
        <p:spPr>
          <a:xfrm>
            <a:off x="4460901" y="4825003"/>
            <a:ext cx="327027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团队产能跃升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53" name="矩形 52"/>
          <p:cNvSpPr/>
          <p:nvPr>
            <p:custDataLst>
              <p:tags r:id="rId51"/>
            </p:custDataLst>
          </p:nvPr>
        </p:nvSpPr>
        <p:spPr>
          <a:xfrm>
            <a:off x="7921625" y="3690620"/>
            <a:ext cx="9525" cy="1991995"/>
          </a:xfrm>
          <a:prstGeom prst="rect">
            <a:avLst/>
          </a:pr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52"/>
            </p:custDataLst>
          </p:nvPr>
        </p:nvSpPr>
        <p:spPr>
          <a:xfrm>
            <a:off x="8121701" y="4197305"/>
            <a:ext cx="3665563" cy="5981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lang="en-US" altLang="en-US" sz="4200" b="1">
                <a:solidFill>
                  <a:srgbClr val="0A1E33"/>
                </a:solidFill>
                <a:cs typeface="+mn-lt"/>
              </a:rPr>
              <a:t>4</a:t>
            </a:r>
            <a:r>
              <a:rPr lang="zh-CN" altLang="en-US" sz="4200" b="1">
                <a:solidFill>
                  <a:srgbClr val="0A1E33"/>
                </a:solidFill>
                <a:cs typeface="+mn-lt"/>
              </a:rPr>
              <a:t>分钟</a:t>
            </a:r>
            <a:r>
              <a:rPr lang="en-US" altLang="zh-CN" sz="4200" b="1">
                <a:solidFill>
                  <a:srgbClr val="0A1E33"/>
                </a:solidFill>
                <a:cs typeface="+mn-lt"/>
              </a:rPr>
              <a:t>→30</a:t>
            </a:r>
            <a:r>
              <a:rPr lang="zh-CN" altLang="en-US" sz="4200" b="1">
                <a:solidFill>
                  <a:srgbClr val="0A1E33"/>
                </a:solidFill>
                <a:cs typeface="+mn-lt"/>
              </a:rPr>
              <a:t>秒</a:t>
            </a:r>
            <a:endParaRPr lang="zh-CN" altLang="en-US" sz="4200" b="1">
              <a:solidFill>
                <a:srgbClr val="0A1E33"/>
              </a:solidFill>
              <a:cs typeface="+mn-lt"/>
            </a:endParaRPr>
          </a:p>
        </p:txBody>
      </p:sp>
      <p:sp>
        <p:nvSpPr>
          <p:cNvPr id="55" name="文本框 54"/>
          <p:cNvSpPr txBox="1"/>
          <p:nvPr>
            <p:custDataLst>
              <p:tags r:id="rId53"/>
            </p:custDataLst>
          </p:nvPr>
        </p:nvSpPr>
        <p:spPr>
          <a:xfrm>
            <a:off x="8121701" y="4825003"/>
            <a:ext cx="327027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响应提速</a:t>
            </a:r>
            <a:endParaRPr sz="1500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56" name="矩形 55"/>
          <p:cNvSpPr/>
          <p:nvPr>
            <p:custDataLst>
              <p:tags r:id="rId54"/>
            </p:custDataLst>
          </p:nvPr>
        </p:nvSpPr>
        <p:spPr>
          <a:xfrm>
            <a:off x="800100" y="5796915"/>
            <a:ext cx="10591800" cy="9525"/>
          </a:xfrm>
          <a:prstGeom prst="rect">
            <a:avLst/>
          </a:pr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55"/>
            </p:custDataLst>
          </p:nvPr>
        </p:nvSpPr>
        <p:spPr>
          <a:xfrm>
            <a:off x="800100" y="5903604"/>
            <a:ext cx="10591800" cy="3914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不是替代客服，是让客服只做</a:t>
            </a:r>
            <a:r>
              <a:rPr b="1">
                <a:solidFill>
                  <a:srgbClr val="0A1E33"/>
                </a:solidFill>
                <a:cs typeface="+mn-lt"/>
              </a:rPr>
              <a:t>有温度</a:t>
            </a:r>
            <a:r>
              <a:rPr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的事。</a:t>
            </a:r>
            <a:endParaRPr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8801100" y="-685800"/>
            <a:ext cx="4000500" cy="4000500"/>
          </a:xfrm>
          <a:custGeom>
            <a:avLst/>
            <a:gdLst>
              <a:gd name="sw" fmla="*/ 1 w 6300"/>
              <a:gd name="sh" fmla="*/ 1 h 6300"/>
              <a:gd name="mins" fmla="min sw sh"/>
              <a:gd name="dsw" fmla="+- 0 sw mins"/>
              <a:gd name="dsh" fmla="+- 0 sh mins"/>
              <a:gd name="p0x0" fmla="*/ 3150 w 6300"/>
              <a:gd name="p0y0" fmla="*/ 0 h 6300"/>
              <a:gd name="p0x1" fmla="*/ 4889 w 6300"/>
              <a:gd name="p0y1" fmla="*/ 0 h 6300"/>
              <a:gd name="p0x2" fmla="*/ 6300 w 6300"/>
              <a:gd name="p0y2" fmla="*/ 1410 h 6300"/>
              <a:gd name="p0x3" fmla="*/ 6300 w 6300"/>
              <a:gd name="p0y3" fmla="*/ 3150 h 6300"/>
              <a:gd name="p0x4" fmla="*/ 6300 w 6300"/>
              <a:gd name="p0y4" fmla="*/ 4889 h 6300"/>
              <a:gd name="p0x5" fmla="*/ 4889 w 6300"/>
              <a:gd name="p0y5" fmla="*/ 6300 h 6300"/>
              <a:gd name="p0x6" fmla="*/ 3150 w 6300"/>
              <a:gd name="p0y6" fmla="*/ 6300 h 6300"/>
              <a:gd name="p0x7" fmla="*/ 1410 w 6300"/>
              <a:gd name="p0y7" fmla="*/ 6300 h 6300"/>
              <a:gd name="p0x8" fmla="*/ 0 w 6300"/>
              <a:gd name="p0y8" fmla="*/ 4889 h 6300"/>
              <a:gd name="p0x9" fmla="*/ 0 w 6300"/>
              <a:gd name="p0y9" fmla="*/ 3150 h 6300"/>
              <a:gd name="p0x10" fmla="*/ 0 w 6300"/>
              <a:gd name="p0y10" fmla="*/ 1410 h 6300"/>
              <a:gd name="p0x11" fmla="*/ 1410 w 6300"/>
              <a:gd name="p0y11" fmla="*/ 0 h 6300"/>
              <a:gd name="p0x12" fmla="*/ 3150 w 6300"/>
              <a:gd name="p0y12" fmla="*/ 0 h 6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571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4"/>
            </p:custDataLst>
          </p:nvPr>
        </p:nvSpPr>
        <p:spPr>
          <a:xfrm>
            <a:off x="-365125" y="3977005"/>
            <a:ext cx="3428365" cy="3429000"/>
          </a:xfrm>
          <a:custGeom>
            <a:avLst/>
            <a:gdLst>
              <a:gd name="sw" fmla="*/ 1 w 5400"/>
              <a:gd name="sh" fmla="*/ 1 h 5400"/>
              <a:gd name="mins" fmla="min sw sh"/>
              <a:gd name="dsw" fmla="+- 0 sw mins"/>
              <a:gd name="dsh" fmla="+- 0 sh mins"/>
              <a:gd name="p0x0" fmla="*/ 2700 w 5400"/>
              <a:gd name="p0y0" fmla="*/ 0 h 5400"/>
              <a:gd name="p0x1" fmla="*/ 4191 w 5400"/>
              <a:gd name="p0y1" fmla="*/ 0 h 5400"/>
              <a:gd name="p0x2" fmla="*/ 5400 w 5400"/>
              <a:gd name="p0y2" fmla="*/ 1208 h 5400"/>
              <a:gd name="p0x3" fmla="*/ 5400 w 5400"/>
              <a:gd name="p0y3" fmla="*/ 2700 h 5400"/>
              <a:gd name="p0x4" fmla="*/ 5400 w 5400"/>
              <a:gd name="p0y4" fmla="*/ 4191 h 5400"/>
              <a:gd name="p0x5" fmla="*/ 4191 w 5400"/>
              <a:gd name="p0y5" fmla="*/ 5400 h 5400"/>
              <a:gd name="p0x6" fmla="*/ 2700 w 5400"/>
              <a:gd name="p0y6" fmla="*/ 5400 h 5400"/>
              <a:gd name="p0x7" fmla="*/ 1208 w 5400"/>
              <a:gd name="p0y7" fmla="*/ 5400 h 5400"/>
              <a:gd name="p0x8" fmla="*/ 0 w 5400"/>
              <a:gd name="p0y8" fmla="*/ 4191 h 5400"/>
              <a:gd name="p0x9" fmla="*/ 0 w 5400"/>
              <a:gd name="p0y9" fmla="*/ 2700 h 5400"/>
              <a:gd name="p0x10" fmla="*/ 0 w 5400"/>
              <a:gd name="p0y10" fmla="*/ 1208 h 5400"/>
              <a:gd name="p0x11" fmla="*/ 1208 w 5400"/>
              <a:gd name="p0y11" fmla="*/ 0 h 5400"/>
              <a:gd name="p0x12" fmla="*/ 2700 w 5400"/>
              <a:gd name="p0y12" fmla="*/ 0 h 54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47625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809625" y="16502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666750" y="3508534"/>
            <a:ext cx="4778197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42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技术选型与</a:t>
            </a:r>
            <a:r>
              <a:rPr lang="en-US" altLang="zh-CN" sz="42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AI</a:t>
            </a:r>
            <a:r>
              <a:rPr lang="zh-CN" altLang="en-US" sz="42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能力</a:t>
            </a:r>
            <a:endParaRPr lang="zh-CN" altLang="en-US" sz="42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666750" y="4436110"/>
            <a:ext cx="2715895" cy="9525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666750" y="4583906"/>
            <a:ext cx="2906687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先判断问题类型，再选择</a:t>
            </a:r>
            <a:r>
              <a:rPr lang="en-US" altLang="zh-CN" sz="1500" spc="30">
                <a:solidFill>
                  <a:srgbClr val="4A6B8A"/>
                </a:solidFill>
                <a:cs typeface="+mn-lt"/>
              </a:rPr>
              <a:t>AI</a:t>
            </a: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形态</a:t>
            </a:r>
            <a:endParaRPr lang="zh-CN" altLang="en-US"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666750" y="4888706"/>
            <a:ext cx="2716187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B8A"/>
                </a:solidFill>
                <a:cs typeface="+mn-lt"/>
              </a:rPr>
              <a:t>从问题类型到能力边界</a:t>
            </a:r>
            <a:endParaRPr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 rot="2700000">
            <a:off x="666115" y="1714500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3"/>
            </p:custDataLst>
          </p:nvPr>
        </p:nvSpPr>
        <p:spPr>
          <a:xfrm>
            <a:off x="1819910" y="173355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4"/>
            </p:custDataLst>
          </p:nvPr>
        </p:nvSpPr>
        <p:spPr>
          <a:xfrm>
            <a:off x="666750" y="2097881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1A73E8">
                    <a:alpha val="12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02</a:t>
            </a:r>
            <a:endParaRPr sz="9000" b="1">
              <a:solidFill>
                <a:srgbClr val="1A73E8">
                  <a:alpha val="12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三类业务问题的优先方案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1" name="任意多边形 10"/>
          <p:cNvSpPr/>
          <p:nvPr>
            <p:custDataLst>
              <p:tags r:id="rId2"/>
            </p:custDataLst>
          </p:nvPr>
        </p:nvSpPr>
        <p:spPr>
          <a:xfrm>
            <a:off x="571500" y="6071870"/>
            <a:ext cx="11049000" cy="405130"/>
          </a:xfrm>
          <a:custGeom>
            <a:avLst/>
            <a:gdLst>
              <a:gd name="sw" fmla="*/ 1 w 17400"/>
              <a:gd name="sh" fmla="*/ 1 h 637"/>
              <a:gd name="mins" fmla="min sw sh"/>
              <a:gd name="dsw" fmla="+- 0 sw mins"/>
              <a:gd name="dsh" fmla="+- 0 sh mins"/>
              <a:gd name="p0x0" fmla="*/ 240 w 17400"/>
              <a:gd name="p0y0" fmla="*/ 0 h 637"/>
              <a:gd name="p0x1" fmla="*/ 17160 w 17400"/>
              <a:gd name="p0y1" fmla="*/ 0 h 637"/>
              <a:gd name="p0x2" fmla="*/ 17292 w 17400"/>
              <a:gd name="p0y2" fmla="*/ 0 h 637"/>
              <a:gd name="p0x3" fmla="*/ 17400 w 17400"/>
              <a:gd name="p0y3" fmla="*/ 107 h 637"/>
              <a:gd name="p0x4" fmla="*/ 17400 w 17400"/>
              <a:gd name="p0y4" fmla="*/ 240 h 637"/>
              <a:gd name="p0x5" fmla="*/ 17400 w 17400"/>
              <a:gd name="p0y5" fmla="*/ 397 h 637"/>
              <a:gd name="p0x6" fmla="*/ 17400 w 17400"/>
              <a:gd name="p0y6" fmla="*/ 530 h 637"/>
              <a:gd name="p0x7" fmla="*/ 17292 w 17400"/>
              <a:gd name="p0y7" fmla="*/ 637 h 637"/>
              <a:gd name="p0x8" fmla="*/ 17160 w 17400"/>
              <a:gd name="p0y8" fmla="*/ 637 h 637"/>
              <a:gd name="p0x9" fmla="*/ 240 w 17400"/>
              <a:gd name="p0y9" fmla="*/ 637 h 637"/>
              <a:gd name="p0x10" fmla="*/ 107 w 17400"/>
              <a:gd name="p0y10" fmla="*/ 637 h 637"/>
              <a:gd name="p0x11" fmla="*/ 0 w 17400"/>
              <a:gd name="p0y11" fmla="*/ 530 h 637"/>
              <a:gd name="p0x12" fmla="*/ 0 w 17400"/>
              <a:gd name="p0y12" fmla="*/ 397 h 637"/>
              <a:gd name="p0x13" fmla="*/ 0 w 17400"/>
              <a:gd name="p0y13" fmla="*/ 240 h 637"/>
              <a:gd name="p0x14" fmla="*/ 0 w 17400"/>
              <a:gd name="p0y14" fmla="*/ 107 h 637"/>
              <a:gd name="p0x15" fmla="*/ 107 w 17400"/>
              <a:gd name="p0y15" fmla="*/ 0 h 637"/>
              <a:gd name="p0x16" fmla="*/ 240 w 17400"/>
              <a:gd name="p0y16" fmla="*/ 0 h 6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3451917" y="6148388"/>
            <a:ext cx="528816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三类问题对应三种技术组合，</a:t>
            </a:r>
            <a:r>
              <a:rPr lang="zh-CN" sz="1500" b="1">
                <a:solidFill>
                  <a:srgbClr val="0A1E33"/>
                </a:solidFill>
                <a:cs typeface="+mn-lt"/>
              </a:rPr>
              <a:t>不做一刀切的</a:t>
            </a:r>
            <a:r>
              <a:rPr lang="en-US" altLang="zh-CN" sz="1500" b="1">
                <a:solidFill>
                  <a:srgbClr val="0A1E33"/>
                </a:solidFill>
                <a:cs typeface="+mn-lt"/>
              </a:rPr>
              <a:t> LLM </a:t>
            </a:r>
            <a:r>
              <a:rPr lang="zh-CN" altLang="en-US" sz="1500" b="1">
                <a:solidFill>
                  <a:srgbClr val="0A1E33"/>
                </a:solidFill>
                <a:cs typeface="+mn-lt"/>
              </a:rPr>
              <a:t>万能方案</a:t>
            </a:r>
            <a:endParaRPr lang="zh-CN" altLang="en-US" sz="1500" b="1">
              <a:solidFill>
                <a:srgbClr val="0A1E33"/>
              </a:solidFill>
              <a:cs typeface="+mn-lt"/>
            </a:endParaRPr>
          </a:p>
        </p:txBody>
      </p:sp>
      <p:sp>
        <p:nvSpPr>
          <p:cNvPr id="4" name="任意多边形 3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11039475" cy="4843780"/>
          </a:xfrm>
          <a:custGeom>
            <a:avLst/>
            <a:gdLst>
              <a:gd name="sw" fmla="*/ 1 w 17385"/>
              <a:gd name="sh" fmla="*/ 1 h 7627"/>
              <a:gd name="mins" fmla="min sw sh"/>
              <a:gd name="dsw" fmla="+- 0 sw mins"/>
              <a:gd name="dsh" fmla="+- 0 sh mins"/>
              <a:gd name="p0x0" fmla="*/ 300 w 17385"/>
              <a:gd name="p0y0" fmla="*/ 0 h 7627"/>
              <a:gd name="p0x1" fmla="*/ 17085 w 17385"/>
              <a:gd name="p0y1" fmla="*/ 0 h 7627"/>
              <a:gd name="p0x2" fmla="*/ 17250 w 17385"/>
              <a:gd name="p0y2" fmla="*/ 0 h 7627"/>
              <a:gd name="p0x3" fmla="*/ 17385 w 17385"/>
              <a:gd name="p0y3" fmla="*/ 134 h 7627"/>
              <a:gd name="p0x4" fmla="*/ 17385 w 17385"/>
              <a:gd name="p0y4" fmla="*/ 300 h 7627"/>
              <a:gd name="p0x5" fmla="*/ 17385 w 17385"/>
              <a:gd name="p0y5" fmla="*/ 7327 h 7627"/>
              <a:gd name="p0x6" fmla="*/ 17385 w 17385"/>
              <a:gd name="p0y6" fmla="*/ 7493 h 7627"/>
              <a:gd name="p0x7" fmla="*/ 17250 w 17385"/>
              <a:gd name="p0y7" fmla="*/ 7627 h 7627"/>
              <a:gd name="p0x8" fmla="*/ 17085 w 17385"/>
              <a:gd name="p0y8" fmla="*/ 7627 h 7627"/>
              <a:gd name="p0x9" fmla="*/ 300 w 17385"/>
              <a:gd name="p0y9" fmla="*/ 7627 h 7627"/>
              <a:gd name="p0x10" fmla="*/ 134 w 17385"/>
              <a:gd name="p0y10" fmla="*/ 7627 h 7627"/>
              <a:gd name="p0x11" fmla="*/ 0 w 17385"/>
              <a:gd name="p0y11" fmla="*/ 7493 h 7627"/>
              <a:gd name="p0x12" fmla="*/ 0 w 17385"/>
              <a:gd name="p0y12" fmla="*/ 7327 h 7627"/>
              <a:gd name="p0x13" fmla="*/ 0 w 17385"/>
              <a:gd name="p0y13" fmla="*/ 300 h 7627"/>
              <a:gd name="p0x14" fmla="*/ 0 w 17385"/>
              <a:gd name="p0y14" fmla="*/ 134 h 7627"/>
              <a:gd name="p0x15" fmla="*/ 134 w 17385"/>
              <a:gd name="p0y15" fmla="*/ 0 h 7627"/>
              <a:gd name="p0x16" fmla="*/ 300 w 17385"/>
              <a:gd name="p0y16" fmla="*/ 0 h 762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771525" y="1304925"/>
            <a:ext cx="10648950" cy="337820"/>
            <a:chOff x="1215" y="2055"/>
            <a:chExt cx="16770" cy="532"/>
          </a:xfrm>
        </p:grpSpPr>
        <p:sp>
          <p:nvSpPr>
            <p:cNvPr id="5" name="任意多边形 4"/>
            <p:cNvSpPr/>
            <p:nvPr>
              <p:custDataLst>
                <p:tags r:id="rId5"/>
              </p:custDataLst>
            </p:nvPr>
          </p:nvSpPr>
          <p:spPr>
            <a:xfrm>
              <a:off x="1215" y="2055"/>
              <a:ext cx="16770" cy="532"/>
            </a:xfrm>
            <a:custGeom>
              <a:avLst/>
              <a:gdLst>
                <a:gd name="sw" fmla="*/ 1 w 16770"/>
                <a:gd name="sh" fmla="*/ 1 h 532"/>
                <a:gd name="mins" fmla="min sw sh"/>
                <a:gd name="dsw" fmla="+- 0 sw mins"/>
                <a:gd name="dsh" fmla="+- 0 sh mins"/>
                <a:gd name="p0x0" fmla="*/ 0 w 16770"/>
                <a:gd name="p0y0" fmla="*/ 0 h 532"/>
                <a:gd name="p0x1" fmla="*/ 16770 w 16770"/>
                <a:gd name="p0y1" fmla="*/ 0 h 532"/>
                <a:gd name="p0x2" fmla="*/ 16770 w 16770"/>
                <a:gd name="p0y2" fmla="*/ 532 h 532"/>
                <a:gd name="p0x3" fmla="*/ 0 w 16770"/>
                <a:gd name="p0y3" fmla="*/ 532 h 532"/>
                <a:gd name="p0x4" fmla="*/ 0 w 16770"/>
                <a:gd name="p0y4" fmla="*/ 0 h 53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6"/>
              </p:custDataLst>
            </p:nvPr>
          </p:nvSpPr>
          <p:spPr>
            <a:xfrm>
              <a:off x="1215" y="2572"/>
              <a:ext cx="16770" cy="15"/>
            </a:xfrm>
            <a:custGeom>
              <a:avLst/>
              <a:gdLst>
                <a:gd name="sw" fmla="*/ 1 w 16770"/>
                <a:gd name="sh" fmla="*/ 1 h 15"/>
                <a:gd name="mins" fmla="min sw sh"/>
                <a:gd name="dsw" fmla="+- 0 sw mins"/>
                <a:gd name="dsh" fmla="+- 0 sh mins"/>
                <a:gd name="p0x0" fmla="*/ 16770 w 16770"/>
                <a:gd name="p0y0" fmla="*/ 15 h 15"/>
                <a:gd name="p0x1" fmla="*/ 0 w 16770"/>
                <a:gd name="p0y1" fmla="*/ 15 h 15"/>
                <a:gd name="p0x2" fmla="*/ 0 w 16770"/>
                <a:gd name="p0y2" fmla="*/ 0 h 15"/>
                <a:gd name="p0x3" fmla="*/ 16770 w 16770"/>
                <a:gd name="p0y3" fmla="*/ 0 h 15"/>
                <a:gd name="p0x4" fmla="*/ 16770 w 167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771525" y="1331119"/>
            <a:ext cx="7986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tx2"/>
                </a:solidFill>
                <a:cs typeface="+mn-lt"/>
              </a:rPr>
              <a:t>选型逻辑</a:t>
            </a:r>
            <a:endParaRPr sz="1200" b="1" spc="72">
              <a:solidFill>
                <a:schemeClr val="tx2"/>
              </a:solidFill>
              <a:cs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1493939" y="1304925"/>
            <a:ext cx="620233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cs typeface="+mn-lt"/>
              </a:rPr>
              <a:t>先判断业务问题类型</a:t>
            </a:r>
            <a:r>
              <a:rPr lang="en-US" sz="1500">
                <a:solidFill>
                  <a:srgbClr val="4A6B8A"/>
                </a:solidFill>
                <a:cs typeface="+mn-lt"/>
              </a:rPr>
              <a:t> → </a:t>
            </a:r>
            <a:r>
              <a:rPr lang="zh-CN" altLang="en-US" sz="1500">
                <a:solidFill>
                  <a:srgbClr val="4A6B8A"/>
                </a:solidFill>
                <a:cs typeface="+mn-lt"/>
              </a:rPr>
              <a:t>再选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 AI </a:t>
            </a:r>
            <a:r>
              <a:rPr lang="zh-CN" altLang="en-US" sz="1500">
                <a:solidFill>
                  <a:srgbClr val="4A6B8A"/>
                </a:solidFill>
                <a:cs typeface="+mn-lt"/>
              </a:rPr>
              <a:t>能力形态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 → </a:t>
            </a:r>
            <a:r>
              <a:rPr lang="zh-CN" altLang="en-US" sz="1500">
                <a:solidFill>
                  <a:srgbClr val="4A6B8A"/>
                </a:solidFill>
                <a:cs typeface="+mn-lt"/>
              </a:rPr>
              <a:t>明确边界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 → </a:t>
            </a:r>
            <a:r>
              <a:rPr lang="zh-CN" altLang="en-US" sz="1500">
                <a:solidFill>
                  <a:srgbClr val="4A6B8A"/>
                </a:solidFill>
                <a:cs typeface="+mn-lt"/>
              </a:rPr>
              <a:t>验证可行性</a:t>
            </a:r>
            <a:endParaRPr lang="zh-CN" altLang="en-US" sz="1500">
              <a:solidFill>
                <a:srgbClr val="4A6B8A"/>
              </a:solidFill>
              <a:cs typeface="+mn-lt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9"/>
            </p:custDataLst>
          </p:nvPr>
        </p:nvGraphicFramePr>
        <p:xfrm>
          <a:off x="771525" y="1642745"/>
          <a:ext cx="1064895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2246"/>
                <a:gridCol w="2444200"/>
                <a:gridCol w="2421950"/>
                <a:gridCol w="3280543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问题类型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定义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客服示例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优先方案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</a:tr>
              <a:tr h="1198883">
                <a:tc>
                  <a:txBody>
                    <a:bodyPr wrap="square"/>
                    <a:p>
                      <a:pPr algn="l"/>
                      <a:r>
                        <a:rPr lang="zh-CN" altLang="en-US" sz="1500" b="1">
                          <a:solidFill>
                            <a:schemeClr val="tx2"/>
                          </a:solidFill>
                          <a:cs typeface="+mn-lt"/>
                        </a:rPr>
                        <a:t>规则问题</a:t>
                      </a:r>
                      <a:r>
                        <a:rPr lang="en-US" altLang="zh-CN" sz="1500" b="1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Rule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条件明确、答案固定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「订单到哪了？」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1">
                          <a:solidFill>
                            <a:schemeClr val="tx2"/>
                          </a:solidFill>
                          <a:cs typeface="+mn-lt"/>
                        </a:rPr>
                        <a:t>规则引擎</a:t>
                      </a:r>
                      <a:r>
                        <a:rPr lang="en-US" altLang="zh-CN" sz="1500" b="1">
                          <a:solidFill>
                            <a:schemeClr val="tx2"/>
                          </a:solidFill>
                          <a:cs typeface="+mn-lt"/>
                        </a:rPr>
                        <a:t> + AI </a:t>
                      </a:r>
                      <a:r>
                        <a:rPr lang="zh-CN" altLang="en-US" sz="1500" b="1">
                          <a:solidFill>
                            <a:schemeClr val="tx2"/>
                          </a:solidFill>
                          <a:cs typeface="+mn-lt"/>
                        </a:rPr>
                        <a:t>提取参数</a:t>
                      </a:r>
                      <a:endParaRPr lang="zh-CN" altLang="en-US" sz="15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1198883">
                <a:tc>
                  <a:txBody>
                    <a:bodyPr wrap="square"/>
                    <a:p>
                      <a:pPr algn="l"/>
                      <a:r>
                        <a:rPr lang="zh-CN" altLang="en-US" sz="1500" b="1">
                          <a:solidFill>
                            <a:schemeClr val="tx2"/>
                          </a:solidFill>
                          <a:cs typeface="+mn-lt"/>
                        </a:rPr>
                        <a:t>预测问题</a:t>
                      </a:r>
                      <a:r>
                        <a:rPr lang="en-US" altLang="zh-CN" sz="1500" b="1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Forecast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需预测未来状态或风险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预测高峰排队量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1">
                          <a:solidFill>
                            <a:schemeClr val="tx2"/>
                          </a:solidFill>
                          <a:cs typeface="+mn-lt"/>
                        </a:rPr>
                        <a:t>统计模型，</a:t>
                      </a:r>
                      <a:r>
                        <a:rPr lang="en-US" altLang="zh-CN" sz="1500" b="1">
                          <a:solidFill>
                            <a:schemeClr val="tx2"/>
                          </a:solidFill>
                          <a:cs typeface="+mn-lt"/>
                        </a:rPr>
                        <a:t>LLM </a:t>
                      </a:r>
                      <a:r>
                        <a:rPr lang="zh-CN" altLang="en-US" sz="1500" b="1">
                          <a:solidFill>
                            <a:schemeClr val="tx2"/>
                          </a:solidFill>
                          <a:cs typeface="+mn-lt"/>
                        </a:rPr>
                        <a:t>解释结果</a:t>
                      </a:r>
                      <a:endParaRPr lang="zh-CN" altLang="en-US" sz="15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98883">
                <a:tc>
                  <a:txBody>
                    <a:bodyPr wrap="square"/>
                    <a:p>
                      <a:pPr algn="l"/>
                      <a:r>
                        <a:rPr lang="zh-CN" altLang="en-US" sz="1500" b="1">
                          <a:solidFill>
                            <a:schemeClr val="tx2"/>
                          </a:solidFill>
                          <a:cs typeface="+mn-lt"/>
                        </a:rPr>
                        <a:t>优化问题</a:t>
                      </a:r>
                      <a:r>
                        <a:rPr lang="en-US" altLang="zh-CN" sz="1500" b="1">
                          <a:solidFill>
                            <a:schemeClr val="tx2"/>
                          </a:solidFill>
                          <a:cs typeface="+mn-lt"/>
                        </a:rPr>
                        <a:t> </a:t>
                      </a:r>
                      <a:r>
                        <a:rPr sz="1500" b="0">
                          <a:solidFill>
                            <a:schemeClr val="tx2"/>
                          </a:solidFill>
                          <a:cs typeface="+mn-lt"/>
                        </a:rPr>
                        <a:t>Optimization</a:t>
                      </a:r>
                      <a:endParaRPr sz="1500" b="0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多方案间找平衡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超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7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天订单退款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+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补偿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1">
                          <a:solidFill>
                            <a:schemeClr val="tx2"/>
                          </a:solidFill>
                          <a:cs typeface="+mn-lt"/>
                        </a:rPr>
                        <a:t>规则底线</a:t>
                      </a:r>
                      <a:r>
                        <a:rPr lang="en-US" altLang="zh-CN" sz="1500" b="1">
                          <a:solidFill>
                            <a:schemeClr val="tx2"/>
                          </a:solidFill>
                          <a:cs typeface="+mn-lt"/>
                        </a:rPr>
                        <a:t> + </a:t>
                      </a:r>
                      <a:r>
                        <a:rPr lang="zh-CN" altLang="en-US" sz="1500" b="1">
                          <a:solidFill>
                            <a:schemeClr val="tx2"/>
                          </a:solidFill>
                          <a:cs typeface="+mn-lt"/>
                        </a:rPr>
                        <a:t>决策引擎</a:t>
                      </a:r>
                      <a:r>
                        <a:rPr lang="en-US" altLang="zh-CN" sz="1500" b="1">
                          <a:solidFill>
                            <a:schemeClr val="tx2"/>
                          </a:solidFill>
                          <a:cs typeface="+mn-lt"/>
                        </a:rPr>
                        <a:t> + AI </a:t>
                      </a:r>
                      <a:r>
                        <a:rPr lang="zh-CN" altLang="en-US" sz="1500" b="1">
                          <a:solidFill>
                            <a:schemeClr val="tx2"/>
                          </a:solidFill>
                          <a:cs typeface="+mn-lt"/>
                        </a:rPr>
                        <a:t>推荐</a:t>
                      </a:r>
                      <a:endParaRPr lang="zh-CN" altLang="en-US" sz="15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四大能力形态与落地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571500" y="2619375"/>
          <a:ext cx="11049000" cy="3857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882"/>
                <a:gridCol w="3758203"/>
                <a:gridCol w="4875904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能力形态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解决什么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落地方式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</a:tr>
              <a:tr h="834850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Knowledge System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找到正确信息并生成可引用回答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SOP/FAQ/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手册做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RAG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检索，必带来源引用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834850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Copilot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帮客服分析、总结、生成话术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工作台侧边栏，可采纳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修改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忽略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34850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Decision Engine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多方案推荐更优处理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退款、赔偿、升级场景给建议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+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理由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834925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Agent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拆解多步任务、调用工具直到完成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V2.0 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演进：「退款到哪了」多步查询汇总</a:t>
                      </a:r>
                      <a:endParaRPr lang="zh-CN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1500" y="1104900"/>
            <a:ext cx="11049000" cy="1285875"/>
          </a:xfrm>
          <a:custGeom>
            <a:avLst/>
            <a:gdLst>
              <a:gd name="sw" fmla="*/ 1 w 17400"/>
              <a:gd name="sh" fmla="*/ 1 h 2025"/>
              <a:gd name="mins" fmla="min sw sh"/>
              <a:gd name="dsw" fmla="+- 0 sw mins"/>
              <a:gd name="dsh" fmla="+- 0 sh mins"/>
              <a:gd name="p0x0" fmla="*/ 240 w 17400"/>
              <a:gd name="p0y0" fmla="*/ 0 h 2025"/>
              <a:gd name="p0x1" fmla="*/ 17160 w 17400"/>
              <a:gd name="p0y1" fmla="*/ 0 h 2025"/>
              <a:gd name="p0x2" fmla="*/ 17292 w 17400"/>
              <a:gd name="p0y2" fmla="*/ 0 h 2025"/>
              <a:gd name="p0x3" fmla="*/ 17400 w 17400"/>
              <a:gd name="p0y3" fmla="*/ 107 h 2025"/>
              <a:gd name="p0x4" fmla="*/ 17400 w 17400"/>
              <a:gd name="p0y4" fmla="*/ 240 h 2025"/>
              <a:gd name="p0x5" fmla="*/ 17400 w 17400"/>
              <a:gd name="p0y5" fmla="*/ 1785 h 2025"/>
              <a:gd name="p0x6" fmla="*/ 17400 w 17400"/>
              <a:gd name="p0y6" fmla="*/ 1917 h 2025"/>
              <a:gd name="p0x7" fmla="*/ 17292 w 17400"/>
              <a:gd name="p0y7" fmla="*/ 2025 h 2025"/>
              <a:gd name="p0x8" fmla="*/ 17160 w 17400"/>
              <a:gd name="p0y8" fmla="*/ 2025 h 2025"/>
              <a:gd name="p0x9" fmla="*/ 240 w 17400"/>
              <a:gd name="p0y9" fmla="*/ 2025 h 2025"/>
              <a:gd name="p0x10" fmla="*/ 107 w 17400"/>
              <a:gd name="p0y10" fmla="*/ 2025 h 2025"/>
              <a:gd name="p0x11" fmla="*/ 0 w 17400"/>
              <a:gd name="p0y11" fmla="*/ 1917 h 2025"/>
              <a:gd name="p0x12" fmla="*/ 0 w 17400"/>
              <a:gd name="p0y12" fmla="*/ 1785 h 2025"/>
              <a:gd name="p0x13" fmla="*/ 0 w 17400"/>
              <a:gd name="p0y13" fmla="*/ 240 h 2025"/>
              <a:gd name="p0x14" fmla="*/ 0 w 17400"/>
              <a:gd name="p0y14" fmla="*/ 107 h 2025"/>
              <a:gd name="p0x15" fmla="*/ 107 w 17400"/>
              <a:gd name="p0y15" fmla="*/ 0 h 2025"/>
              <a:gd name="p0x16" fmla="*/ 240 w 17400"/>
              <a:gd name="p0y16" fmla="*/ 0 h 20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62000" y="1446848"/>
            <a:ext cx="1066800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>
                <a:solidFill>
                  <a:srgbClr val="FFFFFF"/>
                </a:solidFill>
                <a:cs typeface="+mn-lt"/>
              </a:rPr>
              <a:t>V1.0 </a:t>
            </a:r>
            <a:r>
              <a:rPr lang="zh-CN" altLang="en-US">
                <a:solidFill>
                  <a:srgbClr val="FFFFFF"/>
                </a:solidFill>
                <a:cs typeface="+mn-lt"/>
              </a:rPr>
              <a:t>以</a:t>
            </a:r>
            <a:r>
              <a:rPr lang="en-US" altLang="zh-CN">
                <a:solidFill>
                  <a:srgbClr val="FFFFFF"/>
                </a:solidFill>
                <a:cs typeface="+mn-lt"/>
              </a:rPr>
              <a:t> </a:t>
            </a:r>
            <a:r>
              <a:rPr lang="en-US" altLang="zh-CN" b="1">
                <a:solidFill>
                  <a:srgbClr val="0A1E33"/>
                </a:solidFill>
                <a:cs typeface="+mn-lt"/>
              </a:rPr>
              <a:t>Knowledge System + Copilot </a:t>
            </a:r>
            <a:r>
              <a:rPr lang="zh-CN" altLang="en-US" b="1">
                <a:solidFill>
                  <a:srgbClr val="0A1E33"/>
                </a:solidFill>
                <a:cs typeface="+mn-lt"/>
              </a:rPr>
              <a:t>为主</a:t>
            </a:r>
            <a:r>
              <a:rPr lang="zh-CN" altLang="en-US">
                <a:solidFill>
                  <a:srgbClr val="FFFFFF"/>
                </a:solidFill>
                <a:cs typeface="+mn-lt"/>
              </a:rPr>
              <a:t>，</a:t>
            </a:r>
            <a:r>
              <a:rPr lang="en-US" altLang="zh-CN">
                <a:solidFill>
                  <a:srgbClr val="FFFFFF"/>
                </a:solidFill>
                <a:cs typeface="+mn-lt"/>
              </a:rPr>
              <a:t>Decision Engine </a:t>
            </a:r>
            <a:r>
              <a:rPr lang="zh-CN" altLang="en-US">
                <a:solidFill>
                  <a:srgbClr val="FFFFFF"/>
                </a:solidFill>
                <a:cs typeface="+mn-lt"/>
              </a:rPr>
              <a:t>用于</a:t>
            </a:r>
            <a:r>
              <a:rPr b="1">
                <a:solidFill>
                  <a:srgbClr val="0A1E33"/>
                </a:solidFill>
                <a:cs typeface="+mn-lt"/>
              </a:rPr>
              <a:t>高风险场景辅助</a:t>
            </a:r>
            <a:r>
              <a:rPr lang="zh-CN">
                <a:solidFill>
                  <a:srgbClr val="FFFFFF"/>
                </a:solidFill>
                <a:cs typeface="+mn-lt"/>
              </a:rPr>
              <a:t>，</a:t>
            </a:r>
            <a:r>
              <a:rPr lang="en-US" altLang="zh-CN">
                <a:solidFill>
                  <a:srgbClr val="FFFFFF"/>
                </a:solidFill>
                <a:cs typeface="+mn-lt"/>
              </a:rPr>
              <a:t>Agent </a:t>
            </a:r>
            <a:r>
              <a:rPr lang="zh-CN" altLang="en-US">
                <a:solidFill>
                  <a:srgbClr val="FFFFFF"/>
                </a:solidFill>
                <a:cs typeface="+mn-lt"/>
              </a:rPr>
              <a:t>为</a:t>
            </a:r>
            <a:r>
              <a:rPr b="1">
                <a:solidFill>
                  <a:srgbClr val="0A1E33"/>
                </a:solidFill>
                <a:cs typeface="+mn-lt"/>
              </a:rPr>
              <a:t>演进方向</a:t>
            </a:r>
            <a:r>
              <a:rPr>
                <a:solidFill>
                  <a:srgbClr val="FFFFFF"/>
                </a:solidFill>
                <a:cs typeface="+mn-lt"/>
              </a:rPr>
              <a:t>。</a:t>
            </a:r>
            <a:endParaRPr>
              <a:solidFill>
                <a:srgbClr val="FFFFFF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能力边界：分三层管控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491490"/>
          </a:xfrm>
          <a:custGeom>
            <a:avLst/>
            <a:gdLst>
              <a:gd name="sw" fmla="*/ 1 w 17400"/>
              <a:gd name="sh" fmla="*/ 1 h 774"/>
              <a:gd name="mins" fmla="min sw sh"/>
              <a:gd name="dsw" fmla="+- 0 sw mins"/>
              <a:gd name="dsh" fmla="+- 0 sh mins"/>
              <a:gd name="p0x0" fmla="*/ 240 w 17400"/>
              <a:gd name="p0y0" fmla="*/ 0 h 774"/>
              <a:gd name="p0x1" fmla="*/ 17160 w 17400"/>
              <a:gd name="p0y1" fmla="*/ 0 h 774"/>
              <a:gd name="p0x2" fmla="*/ 17292 w 17400"/>
              <a:gd name="p0y2" fmla="*/ 0 h 774"/>
              <a:gd name="p0x3" fmla="*/ 17400 w 17400"/>
              <a:gd name="p0y3" fmla="*/ 107 h 774"/>
              <a:gd name="p0x4" fmla="*/ 17400 w 17400"/>
              <a:gd name="p0y4" fmla="*/ 240 h 774"/>
              <a:gd name="p0x5" fmla="*/ 17400 w 17400"/>
              <a:gd name="p0y5" fmla="*/ 534 h 774"/>
              <a:gd name="p0x6" fmla="*/ 17400 w 17400"/>
              <a:gd name="p0y6" fmla="*/ 666 h 774"/>
              <a:gd name="p0x7" fmla="*/ 17292 w 17400"/>
              <a:gd name="p0y7" fmla="*/ 774 h 774"/>
              <a:gd name="p0x8" fmla="*/ 17160 w 17400"/>
              <a:gd name="p0y8" fmla="*/ 774 h 774"/>
              <a:gd name="p0x9" fmla="*/ 240 w 17400"/>
              <a:gd name="p0y9" fmla="*/ 774 h 774"/>
              <a:gd name="p0x10" fmla="*/ 107 w 17400"/>
              <a:gd name="p0y10" fmla="*/ 774 h 774"/>
              <a:gd name="p0x11" fmla="*/ 0 w 17400"/>
              <a:gd name="p0y11" fmla="*/ 666 h 774"/>
              <a:gd name="p0x12" fmla="*/ 0 w 17400"/>
              <a:gd name="p0y12" fmla="*/ 534 h 774"/>
              <a:gd name="p0x13" fmla="*/ 0 w 17400"/>
              <a:gd name="p0y13" fmla="*/ 240 h 774"/>
              <a:gd name="p0x14" fmla="*/ 0 w 17400"/>
              <a:gd name="p0y14" fmla="*/ 107 h 774"/>
              <a:gd name="p0x15" fmla="*/ 107 w 17400"/>
              <a:gd name="p0y15" fmla="*/ 0 h 774"/>
              <a:gd name="p0x16" fmla="*/ 240 w 17400"/>
              <a:gd name="p0y16" fmla="*/ 0 h 7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192501"/>
            <a:ext cx="303677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0A1E33"/>
                </a:solidFill>
                <a:cs typeface="+mn-lt"/>
              </a:rPr>
              <a:t>AI </a:t>
            </a:r>
            <a:r>
              <a:rPr lang="zh-CN" b="1">
                <a:solidFill>
                  <a:srgbClr val="0A1E33"/>
                </a:solidFill>
                <a:cs typeface="+mn-lt"/>
              </a:rPr>
              <a:t>负责信息</a:t>
            </a:r>
            <a:r>
              <a:rPr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，</a:t>
            </a:r>
            <a:r>
              <a:rPr b="1">
                <a:solidFill>
                  <a:srgbClr val="0A1E33"/>
                </a:solidFill>
                <a:cs typeface="+mn-lt"/>
              </a:rPr>
              <a:t>人负责决策</a:t>
            </a:r>
            <a:r>
              <a:rPr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。</a:t>
            </a:r>
            <a:endParaRPr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61" name="任意多边形 60"/>
          <p:cNvSpPr/>
          <p:nvPr>
            <p:custDataLst>
              <p:tags r:id="rId4"/>
            </p:custDataLst>
          </p:nvPr>
        </p:nvSpPr>
        <p:spPr>
          <a:xfrm>
            <a:off x="571500" y="5984875"/>
            <a:ext cx="11049000" cy="491490"/>
          </a:xfrm>
          <a:custGeom>
            <a:avLst/>
            <a:gdLst>
              <a:gd name="sw" fmla="*/ 1 w 17400"/>
              <a:gd name="sh" fmla="*/ 1 h 774"/>
              <a:gd name="mins" fmla="min sw sh"/>
              <a:gd name="dsw" fmla="+- 0 sw mins"/>
              <a:gd name="dsh" fmla="+- 0 sh mins"/>
              <a:gd name="p0x0" fmla="*/ 240 w 17400"/>
              <a:gd name="p0y0" fmla="*/ 0 h 774"/>
              <a:gd name="p0x1" fmla="*/ 17160 w 17400"/>
              <a:gd name="p0y1" fmla="*/ 0 h 774"/>
              <a:gd name="p0x2" fmla="*/ 17292 w 17400"/>
              <a:gd name="p0y2" fmla="*/ 0 h 774"/>
              <a:gd name="p0x3" fmla="*/ 17400 w 17400"/>
              <a:gd name="p0y3" fmla="*/ 107 h 774"/>
              <a:gd name="p0x4" fmla="*/ 17400 w 17400"/>
              <a:gd name="p0y4" fmla="*/ 240 h 774"/>
              <a:gd name="p0x5" fmla="*/ 17400 w 17400"/>
              <a:gd name="p0y5" fmla="*/ 534 h 774"/>
              <a:gd name="p0x6" fmla="*/ 17400 w 17400"/>
              <a:gd name="p0y6" fmla="*/ 666 h 774"/>
              <a:gd name="p0x7" fmla="*/ 17292 w 17400"/>
              <a:gd name="p0y7" fmla="*/ 774 h 774"/>
              <a:gd name="p0x8" fmla="*/ 17160 w 17400"/>
              <a:gd name="p0y8" fmla="*/ 774 h 774"/>
              <a:gd name="p0x9" fmla="*/ 240 w 17400"/>
              <a:gd name="p0y9" fmla="*/ 774 h 774"/>
              <a:gd name="p0x10" fmla="*/ 107 w 17400"/>
              <a:gd name="p0y10" fmla="*/ 774 h 774"/>
              <a:gd name="p0x11" fmla="*/ 0 w 17400"/>
              <a:gd name="p0y11" fmla="*/ 666 h 774"/>
              <a:gd name="p0x12" fmla="*/ 0 w 17400"/>
              <a:gd name="p0y12" fmla="*/ 534 h 774"/>
              <a:gd name="p0x13" fmla="*/ 0 w 17400"/>
              <a:gd name="p0y13" fmla="*/ 240 h 774"/>
              <a:gd name="p0x14" fmla="*/ 0 w 17400"/>
              <a:gd name="p0y14" fmla="*/ 107 h 774"/>
              <a:gd name="p0x15" fmla="*/ 107 w 17400"/>
              <a:gd name="p0y15" fmla="*/ 0 h 774"/>
              <a:gd name="p0x16" fmla="*/ 240 w 17400"/>
              <a:gd name="p0y16" fmla="*/ 0 h 7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文本框 61"/>
          <p:cNvSpPr txBox="1"/>
          <p:nvPr>
            <p:custDataLst>
              <p:tags r:id="rId5"/>
            </p:custDataLst>
          </p:nvPr>
        </p:nvSpPr>
        <p:spPr>
          <a:xfrm>
            <a:off x="762000" y="6073092"/>
            <a:ext cx="9894836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AI </a:t>
            </a:r>
            <a:r>
              <a:rPr lang="zh-CN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负责「</a:t>
            </a:r>
            <a:r>
              <a:rPr b="1">
                <a:solidFill>
                  <a:srgbClr val="0A1E33"/>
                </a:solidFill>
                <a:cs typeface="+mn-lt"/>
              </a:rPr>
              <a:t>信息</a:t>
            </a:r>
            <a:r>
              <a:rPr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」层面（查、找、整理、建议），人负责「</a:t>
            </a:r>
            <a:r>
              <a:rPr b="1">
                <a:solidFill>
                  <a:srgbClr val="0A1E33"/>
                </a:solidFill>
                <a:cs typeface="+mn-lt"/>
              </a:rPr>
              <a:t>决策</a:t>
            </a:r>
            <a:r>
              <a:rPr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」层面（判断、承诺、担责）。</a:t>
            </a:r>
            <a:endParaRPr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6"/>
            </p:custDataLst>
          </p:nvPr>
        </p:nvSpPr>
        <p:spPr>
          <a:xfrm>
            <a:off x="575945" y="1829435"/>
            <a:ext cx="3546475" cy="3922395"/>
          </a:xfrm>
          <a:custGeom>
            <a:avLst/>
            <a:gdLst>
              <a:gd name="sw" fmla="*/ 1 w 5585"/>
              <a:gd name="sh" fmla="*/ 1 h 6176"/>
              <a:gd name="mins" fmla="min sw sh"/>
              <a:gd name="dsw" fmla="+- 0 sw mins"/>
              <a:gd name="dsh" fmla="+- 0 sh mins"/>
              <a:gd name="p0x0" fmla="*/ 300 w 5585"/>
              <a:gd name="p0y0" fmla="*/ 0 h 6176"/>
              <a:gd name="p0x1" fmla="*/ 5285 w 5585"/>
              <a:gd name="p0y1" fmla="*/ 0 h 6176"/>
              <a:gd name="p0x2" fmla="*/ 5450 w 5585"/>
              <a:gd name="p0y2" fmla="*/ 0 h 6176"/>
              <a:gd name="p0x3" fmla="*/ 5585 w 5585"/>
              <a:gd name="p0y3" fmla="*/ 134 h 6176"/>
              <a:gd name="p0x4" fmla="*/ 5585 w 5585"/>
              <a:gd name="p0y4" fmla="*/ 300 h 6176"/>
              <a:gd name="p0x5" fmla="*/ 5585 w 5585"/>
              <a:gd name="p0y5" fmla="*/ 5876 h 6176"/>
              <a:gd name="p0x6" fmla="*/ 5585 w 5585"/>
              <a:gd name="p0y6" fmla="*/ 6042 h 6176"/>
              <a:gd name="p0x7" fmla="*/ 5450 w 5585"/>
              <a:gd name="p0y7" fmla="*/ 6176 h 6176"/>
              <a:gd name="p0x8" fmla="*/ 5285 w 5585"/>
              <a:gd name="p0y8" fmla="*/ 6176 h 6176"/>
              <a:gd name="p0x9" fmla="*/ 300 w 5585"/>
              <a:gd name="p0y9" fmla="*/ 6176 h 6176"/>
              <a:gd name="p0x10" fmla="*/ 134 w 5585"/>
              <a:gd name="p0y10" fmla="*/ 6176 h 6176"/>
              <a:gd name="p0x11" fmla="*/ 0 w 5585"/>
              <a:gd name="p0y11" fmla="*/ 6042 h 6176"/>
              <a:gd name="p0x12" fmla="*/ 0 w 5585"/>
              <a:gd name="p0y12" fmla="*/ 5876 h 6176"/>
              <a:gd name="p0x13" fmla="*/ 0 w 5585"/>
              <a:gd name="p0y13" fmla="*/ 300 h 6176"/>
              <a:gd name="p0x14" fmla="*/ 0 w 5585"/>
              <a:gd name="p0y14" fmla="*/ 134 h 6176"/>
              <a:gd name="p0x15" fmla="*/ 134 w 5585"/>
              <a:gd name="p0y15" fmla="*/ 0 h 6176"/>
              <a:gd name="p0x16" fmla="*/ 300 w 5585"/>
              <a:gd name="p0y16" fmla="*/ 0 h 61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3" name="组合 62"/>
          <p:cNvGrpSpPr/>
          <p:nvPr/>
        </p:nvGrpSpPr>
        <p:grpSpPr>
          <a:xfrm>
            <a:off x="771525" y="2025015"/>
            <a:ext cx="3155950" cy="580390"/>
            <a:chOff x="1215" y="3189"/>
            <a:chExt cx="4970" cy="914"/>
          </a:xfrm>
        </p:grpSpPr>
        <p:sp>
          <p:nvSpPr>
            <p:cNvPr id="7" name="任意多边形 6"/>
            <p:cNvSpPr/>
            <p:nvPr>
              <p:custDataLst>
                <p:tags r:id="rId7"/>
              </p:custDataLst>
            </p:nvPr>
          </p:nvSpPr>
          <p:spPr>
            <a:xfrm>
              <a:off x="1215" y="3189"/>
              <a:ext cx="4970" cy="915"/>
            </a:xfrm>
            <a:custGeom>
              <a:avLst/>
              <a:gdLst>
                <a:gd name="sw" fmla="*/ 1 w 4970"/>
                <a:gd name="sh" fmla="*/ 1 h 915"/>
                <a:gd name="mins" fmla="min sw sh"/>
                <a:gd name="dsw" fmla="+- 0 sw mins"/>
                <a:gd name="dsh" fmla="+- 0 sh mins"/>
                <a:gd name="p0x0" fmla="*/ 0 w 4970"/>
                <a:gd name="p0y0" fmla="*/ 0 h 915"/>
                <a:gd name="p0x1" fmla="*/ 4970 w 4970"/>
                <a:gd name="p0y1" fmla="*/ 0 h 915"/>
                <a:gd name="p0x2" fmla="*/ 4970 w 4970"/>
                <a:gd name="p0y2" fmla="*/ 915 h 915"/>
                <a:gd name="p0x3" fmla="*/ 0 w 4970"/>
                <a:gd name="p0y3" fmla="*/ 915 h 915"/>
                <a:gd name="p0x4" fmla="*/ 0 w 497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8"/>
              </p:custDataLst>
            </p:nvPr>
          </p:nvSpPr>
          <p:spPr>
            <a:xfrm>
              <a:off x="1215" y="4089"/>
              <a:ext cx="4970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4970 w 4970"/>
                <a:gd name="p0y0" fmla="*/ 15 h 15"/>
                <a:gd name="p0x1" fmla="*/ 0 w 4970"/>
                <a:gd name="p0y1" fmla="*/ 15 h 15"/>
                <a:gd name="p0x2" fmla="*/ 0 w 4970"/>
                <a:gd name="p0y2" fmla="*/ 0 h 15"/>
                <a:gd name="p0x3" fmla="*/ 4970 w 4970"/>
                <a:gd name="p0y3" fmla="*/ 0 h 15"/>
                <a:gd name="p0x4" fmla="*/ 4970 w 49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771525" y="202501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40 w 780"/>
              <a:gd name="p0y0" fmla="*/ 0 h 780"/>
              <a:gd name="p0x1" fmla="*/ 540 w 780"/>
              <a:gd name="p0y1" fmla="*/ 0 h 780"/>
              <a:gd name="p0x2" fmla="*/ 672 w 780"/>
              <a:gd name="p0y2" fmla="*/ 0 h 780"/>
              <a:gd name="p0x3" fmla="*/ 780 w 780"/>
              <a:gd name="p0y3" fmla="*/ 107 h 780"/>
              <a:gd name="p0x4" fmla="*/ 780 w 780"/>
              <a:gd name="p0y4" fmla="*/ 240 h 780"/>
              <a:gd name="p0x5" fmla="*/ 780 w 780"/>
              <a:gd name="p0y5" fmla="*/ 540 h 780"/>
              <a:gd name="p0x6" fmla="*/ 780 w 780"/>
              <a:gd name="p0y6" fmla="*/ 672 h 780"/>
              <a:gd name="p0x7" fmla="*/ 672 w 780"/>
              <a:gd name="p0y7" fmla="*/ 780 h 780"/>
              <a:gd name="p0x8" fmla="*/ 540 w 780"/>
              <a:gd name="p0y8" fmla="*/ 780 h 780"/>
              <a:gd name="p0x9" fmla="*/ 240 w 780"/>
              <a:gd name="p0y9" fmla="*/ 780 h 780"/>
              <a:gd name="p0x10" fmla="*/ 107 w 780"/>
              <a:gd name="p0y10" fmla="*/ 780 h 780"/>
              <a:gd name="p0x11" fmla="*/ 0 w 780"/>
              <a:gd name="p0y11" fmla="*/ 672 h 780"/>
              <a:gd name="p0x12" fmla="*/ 0 w 780"/>
              <a:gd name="p0y12" fmla="*/ 540 h 780"/>
              <a:gd name="p0x13" fmla="*/ 0 w 780"/>
              <a:gd name="p0y13" fmla="*/ 240 h 780"/>
              <a:gd name="p0x14" fmla="*/ 0 w 780"/>
              <a:gd name="p0y14" fmla="*/ 107 h 780"/>
              <a:gd name="p0x15" fmla="*/ 107 w 780"/>
              <a:gd name="p0y15" fmla="*/ 0 h 780"/>
              <a:gd name="p0x16" fmla="*/ 24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617e5999-a675-11f1-a90f-a2aa0dde4534"/>
          <p:cNvPicPr/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t="-6" b="6"/>
          <a:stretch>
            <a:fillRect/>
          </a:stretch>
        </p:blipFill>
        <p:spPr>
          <a:xfrm>
            <a:off x="866775" y="2120265"/>
            <a:ext cx="304800" cy="3048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1381125" y="2089804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B3A5C"/>
                </a:solidFill>
                <a:cs typeface="+mn-lt"/>
              </a:rPr>
              <a:t>自动执行</a:t>
            </a:r>
            <a:endParaRPr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4"/>
            </p:custDataLst>
          </p:nvPr>
        </p:nvSpPr>
        <p:spPr>
          <a:xfrm>
            <a:off x="771525" y="301942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923925" y="2919860"/>
            <a:ext cx="30035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查询类</a:t>
            </a:r>
            <a:r>
              <a:rPr sz="1500">
                <a:solidFill>
                  <a:srgbClr val="4A6B8A"/>
                </a:solidFill>
                <a:cs typeface="+mn-lt"/>
              </a:rPr>
              <a:t>：查物流、查订单、查退换货进度、查会员积分</a:t>
            </a:r>
            <a:endParaRPr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771525" y="391922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923925" y="3819458"/>
            <a:ext cx="30035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说明类</a:t>
            </a:r>
            <a:r>
              <a:rPr lang="zh-CN" sz="1500">
                <a:solidFill>
                  <a:srgbClr val="4A6B8A"/>
                </a:solidFill>
                <a:cs typeface="+mn-lt"/>
              </a:rPr>
              <a:t>：政策说明、发货时效、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FAQ</a:t>
            </a:r>
            <a:endParaRPr lang="en-US" altLang="zh-CN"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771525" y="481901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923925" y="4719047"/>
            <a:ext cx="30035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处理类</a:t>
            </a:r>
            <a:r>
              <a:rPr sz="1500">
                <a:solidFill>
                  <a:srgbClr val="4A6B8A"/>
                </a:solidFill>
                <a:cs typeface="+mn-lt"/>
              </a:rPr>
              <a:t>：工单分类打标、摘要、标准话术推送</a:t>
            </a:r>
            <a:endParaRPr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21" name="任意多边形 20"/>
          <p:cNvSpPr/>
          <p:nvPr>
            <p:custDataLst>
              <p:tags r:id="rId20"/>
            </p:custDataLst>
          </p:nvPr>
        </p:nvSpPr>
        <p:spPr>
          <a:xfrm>
            <a:off x="4322445" y="1829435"/>
            <a:ext cx="3546475" cy="3922395"/>
          </a:xfrm>
          <a:custGeom>
            <a:avLst/>
            <a:gdLst>
              <a:gd name="sw" fmla="*/ 1 w 5585"/>
              <a:gd name="sh" fmla="*/ 1 h 6176"/>
              <a:gd name="mins" fmla="min sw sh"/>
              <a:gd name="dsw" fmla="+- 0 sw mins"/>
              <a:gd name="dsh" fmla="+- 0 sh mins"/>
              <a:gd name="p0x0" fmla="*/ 300 w 5585"/>
              <a:gd name="p0y0" fmla="*/ 0 h 6176"/>
              <a:gd name="p0x1" fmla="*/ 5285 w 5585"/>
              <a:gd name="p0y1" fmla="*/ 0 h 6176"/>
              <a:gd name="p0x2" fmla="*/ 5450 w 5585"/>
              <a:gd name="p0y2" fmla="*/ 0 h 6176"/>
              <a:gd name="p0x3" fmla="*/ 5585 w 5585"/>
              <a:gd name="p0y3" fmla="*/ 134 h 6176"/>
              <a:gd name="p0x4" fmla="*/ 5585 w 5585"/>
              <a:gd name="p0y4" fmla="*/ 300 h 6176"/>
              <a:gd name="p0x5" fmla="*/ 5585 w 5585"/>
              <a:gd name="p0y5" fmla="*/ 5876 h 6176"/>
              <a:gd name="p0x6" fmla="*/ 5585 w 5585"/>
              <a:gd name="p0y6" fmla="*/ 6042 h 6176"/>
              <a:gd name="p0x7" fmla="*/ 5450 w 5585"/>
              <a:gd name="p0y7" fmla="*/ 6176 h 6176"/>
              <a:gd name="p0x8" fmla="*/ 5285 w 5585"/>
              <a:gd name="p0y8" fmla="*/ 6176 h 6176"/>
              <a:gd name="p0x9" fmla="*/ 300 w 5585"/>
              <a:gd name="p0y9" fmla="*/ 6176 h 6176"/>
              <a:gd name="p0x10" fmla="*/ 134 w 5585"/>
              <a:gd name="p0y10" fmla="*/ 6176 h 6176"/>
              <a:gd name="p0x11" fmla="*/ 0 w 5585"/>
              <a:gd name="p0y11" fmla="*/ 6042 h 6176"/>
              <a:gd name="p0x12" fmla="*/ 0 w 5585"/>
              <a:gd name="p0y12" fmla="*/ 5876 h 6176"/>
              <a:gd name="p0x13" fmla="*/ 0 w 5585"/>
              <a:gd name="p0y13" fmla="*/ 300 h 6176"/>
              <a:gd name="p0x14" fmla="*/ 0 w 5585"/>
              <a:gd name="p0y14" fmla="*/ 134 h 6176"/>
              <a:gd name="p0x15" fmla="*/ 134 w 5585"/>
              <a:gd name="p0y15" fmla="*/ 0 h 6176"/>
              <a:gd name="p0x16" fmla="*/ 300 w 5585"/>
              <a:gd name="p0y16" fmla="*/ 0 h 61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4" name="组合 63"/>
          <p:cNvGrpSpPr/>
          <p:nvPr/>
        </p:nvGrpSpPr>
        <p:grpSpPr>
          <a:xfrm>
            <a:off x="4518025" y="2025015"/>
            <a:ext cx="3155950" cy="580390"/>
            <a:chOff x="7115" y="3189"/>
            <a:chExt cx="4970" cy="914"/>
          </a:xfrm>
        </p:grpSpPr>
        <p:sp>
          <p:nvSpPr>
            <p:cNvPr id="22" name="任意多边形 21"/>
            <p:cNvSpPr/>
            <p:nvPr>
              <p:custDataLst>
                <p:tags r:id="rId21"/>
              </p:custDataLst>
            </p:nvPr>
          </p:nvSpPr>
          <p:spPr>
            <a:xfrm>
              <a:off x="7115" y="3189"/>
              <a:ext cx="4970" cy="915"/>
            </a:xfrm>
            <a:custGeom>
              <a:avLst/>
              <a:gdLst>
                <a:gd name="sw" fmla="*/ 1 w 4970"/>
                <a:gd name="sh" fmla="*/ 1 h 915"/>
                <a:gd name="mins" fmla="min sw sh"/>
                <a:gd name="dsw" fmla="+- 0 sw mins"/>
                <a:gd name="dsh" fmla="+- 0 sh mins"/>
                <a:gd name="p0x0" fmla="*/ 0 w 4970"/>
                <a:gd name="p0y0" fmla="*/ 0 h 915"/>
                <a:gd name="p0x1" fmla="*/ 4970 w 4970"/>
                <a:gd name="p0y1" fmla="*/ 0 h 915"/>
                <a:gd name="p0x2" fmla="*/ 4970 w 4970"/>
                <a:gd name="p0y2" fmla="*/ 915 h 915"/>
                <a:gd name="p0x3" fmla="*/ 0 w 4970"/>
                <a:gd name="p0y3" fmla="*/ 915 h 915"/>
                <a:gd name="p0x4" fmla="*/ 0 w 497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2"/>
              </p:custDataLst>
            </p:nvPr>
          </p:nvSpPr>
          <p:spPr>
            <a:xfrm>
              <a:off x="7115" y="4089"/>
              <a:ext cx="4970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4970 w 4970"/>
                <a:gd name="p0y0" fmla="*/ 15 h 15"/>
                <a:gd name="p0x1" fmla="*/ 0 w 4970"/>
                <a:gd name="p0y1" fmla="*/ 15 h 15"/>
                <a:gd name="p0x2" fmla="*/ 0 w 4970"/>
                <a:gd name="p0y2" fmla="*/ 0 h 15"/>
                <a:gd name="p0x3" fmla="*/ 4970 w 4970"/>
                <a:gd name="p0y3" fmla="*/ 0 h 15"/>
                <a:gd name="p0x4" fmla="*/ 4970 w 49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5" name="任意多边形 24"/>
          <p:cNvSpPr/>
          <p:nvPr>
            <p:custDataLst>
              <p:tags r:id="rId23"/>
            </p:custDataLst>
          </p:nvPr>
        </p:nvSpPr>
        <p:spPr>
          <a:xfrm>
            <a:off x="4518025" y="202501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40 w 780"/>
              <a:gd name="p0y0" fmla="*/ 0 h 780"/>
              <a:gd name="p0x1" fmla="*/ 540 w 780"/>
              <a:gd name="p0y1" fmla="*/ 0 h 780"/>
              <a:gd name="p0x2" fmla="*/ 672 w 780"/>
              <a:gd name="p0y2" fmla="*/ 0 h 780"/>
              <a:gd name="p0x3" fmla="*/ 780 w 780"/>
              <a:gd name="p0y3" fmla="*/ 107 h 780"/>
              <a:gd name="p0x4" fmla="*/ 780 w 780"/>
              <a:gd name="p0y4" fmla="*/ 240 h 780"/>
              <a:gd name="p0x5" fmla="*/ 780 w 780"/>
              <a:gd name="p0y5" fmla="*/ 540 h 780"/>
              <a:gd name="p0x6" fmla="*/ 780 w 780"/>
              <a:gd name="p0y6" fmla="*/ 672 h 780"/>
              <a:gd name="p0x7" fmla="*/ 672 w 780"/>
              <a:gd name="p0y7" fmla="*/ 780 h 780"/>
              <a:gd name="p0x8" fmla="*/ 540 w 780"/>
              <a:gd name="p0y8" fmla="*/ 780 h 780"/>
              <a:gd name="p0x9" fmla="*/ 240 w 780"/>
              <a:gd name="p0y9" fmla="*/ 780 h 780"/>
              <a:gd name="p0x10" fmla="*/ 107 w 780"/>
              <a:gd name="p0y10" fmla="*/ 780 h 780"/>
              <a:gd name="p0x11" fmla="*/ 0 w 780"/>
              <a:gd name="p0y11" fmla="*/ 672 h 780"/>
              <a:gd name="p0x12" fmla="*/ 0 w 780"/>
              <a:gd name="p0y12" fmla="*/ 540 h 780"/>
              <a:gd name="p0x13" fmla="*/ 0 w 780"/>
              <a:gd name="p0y13" fmla="*/ 240 h 780"/>
              <a:gd name="p0x14" fmla="*/ 0 w 780"/>
              <a:gd name="p0y14" fmla="*/ 107 h 780"/>
              <a:gd name="p0x15" fmla="*/ 107 w 780"/>
              <a:gd name="p0y15" fmla="*/ 0 h 780"/>
              <a:gd name="p0x16" fmla="*/ 24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 descr="617e59b7-a675-11f1-a90f-a2aa0dde4534"/>
          <p:cNvPicPr/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8" t="-6" r="8" b="6"/>
          <a:stretch>
            <a:fillRect/>
          </a:stretch>
        </p:blipFill>
        <p:spPr>
          <a:xfrm>
            <a:off x="4613275" y="2120265"/>
            <a:ext cx="304800" cy="3048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5127651" y="2089804"/>
            <a:ext cx="1526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1B3A5C"/>
                </a:solidFill>
                <a:cs typeface="+mn-lt"/>
              </a:rPr>
              <a:t>推荐</a:t>
            </a:r>
            <a:r>
              <a:rPr lang="en-US" altLang="zh-CN" sz="2100" b="1" spc="42">
                <a:solidFill>
                  <a:srgbClr val="1B3A5C"/>
                </a:solidFill>
                <a:cs typeface="+mn-lt"/>
              </a:rPr>
              <a:t>+</a:t>
            </a:r>
            <a:r>
              <a:rPr lang="zh-CN" altLang="en-US" sz="2100" b="1" spc="42">
                <a:solidFill>
                  <a:srgbClr val="1B3A5C"/>
                </a:solidFill>
                <a:cs typeface="+mn-lt"/>
              </a:rPr>
              <a:t>确认</a:t>
            </a:r>
            <a:endParaRPr lang="zh-CN" altLang="en-US"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4518025" y="30226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4670451" y="2922842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B8A"/>
                </a:solidFill>
                <a:cs typeface="+mn-lt"/>
              </a:rPr>
              <a:t>退款赔偿计算</a:t>
            </a:r>
            <a:endParaRPr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32" name="任意多边形 31"/>
          <p:cNvSpPr/>
          <p:nvPr>
            <p:custDataLst>
              <p:tags r:id="rId30"/>
            </p:custDataLst>
          </p:nvPr>
        </p:nvSpPr>
        <p:spPr>
          <a:xfrm>
            <a:off x="4518025" y="362013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4670451" y="3520611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B8A"/>
                </a:solidFill>
                <a:cs typeface="+mn-lt"/>
              </a:rPr>
              <a:t>投诉升级判断</a:t>
            </a:r>
            <a:endParaRPr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4518025" y="421830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4670451" y="4118372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B8A"/>
                </a:solidFill>
                <a:cs typeface="+mn-lt"/>
              </a:rPr>
              <a:t>异常订单处理</a:t>
            </a:r>
            <a:endParaRPr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36" name="任意多边形 35"/>
          <p:cNvSpPr/>
          <p:nvPr>
            <p:custDataLst>
              <p:tags r:id="rId34"/>
            </p:custDataLst>
          </p:nvPr>
        </p:nvSpPr>
        <p:spPr>
          <a:xfrm>
            <a:off x="4518025" y="481584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4670451" y="4716142"/>
            <a:ext cx="29114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lang="zh-CN" altLang="en-US" sz="1500">
                <a:solidFill>
                  <a:srgbClr val="4A6B8A"/>
                </a:solidFill>
                <a:cs typeface="+mn-lt"/>
              </a:rPr>
              <a:t>敏感问题回复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——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AI 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出建议，人工拍板</a:t>
            </a:r>
            <a:endParaRPr lang="zh-CN" altLang="en-US"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8" name="任意多边形 37"/>
          <p:cNvSpPr/>
          <p:nvPr>
            <p:custDataLst>
              <p:tags r:id="rId36"/>
            </p:custDataLst>
          </p:nvPr>
        </p:nvSpPr>
        <p:spPr>
          <a:xfrm>
            <a:off x="8068945" y="1829435"/>
            <a:ext cx="3546475" cy="3922395"/>
          </a:xfrm>
          <a:custGeom>
            <a:avLst/>
            <a:gdLst>
              <a:gd name="sw" fmla="*/ 1 w 5585"/>
              <a:gd name="sh" fmla="*/ 1 h 6176"/>
              <a:gd name="mins" fmla="min sw sh"/>
              <a:gd name="dsw" fmla="+- 0 sw mins"/>
              <a:gd name="dsh" fmla="+- 0 sh mins"/>
              <a:gd name="p0x0" fmla="*/ 300 w 5585"/>
              <a:gd name="p0y0" fmla="*/ 0 h 6176"/>
              <a:gd name="p0x1" fmla="*/ 5285 w 5585"/>
              <a:gd name="p0y1" fmla="*/ 0 h 6176"/>
              <a:gd name="p0x2" fmla="*/ 5450 w 5585"/>
              <a:gd name="p0y2" fmla="*/ 0 h 6176"/>
              <a:gd name="p0x3" fmla="*/ 5585 w 5585"/>
              <a:gd name="p0y3" fmla="*/ 134 h 6176"/>
              <a:gd name="p0x4" fmla="*/ 5585 w 5585"/>
              <a:gd name="p0y4" fmla="*/ 300 h 6176"/>
              <a:gd name="p0x5" fmla="*/ 5585 w 5585"/>
              <a:gd name="p0y5" fmla="*/ 5876 h 6176"/>
              <a:gd name="p0x6" fmla="*/ 5585 w 5585"/>
              <a:gd name="p0y6" fmla="*/ 6042 h 6176"/>
              <a:gd name="p0x7" fmla="*/ 5450 w 5585"/>
              <a:gd name="p0y7" fmla="*/ 6176 h 6176"/>
              <a:gd name="p0x8" fmla="*/ 5285 w 5585"/>
              <a:gd name="p0y8" fmla="*/ 6176 h 6176"/>
              <a:gd name="p0x9" fmla="*/ 300 w 5585"/>
              <a:gd name="p0y9" fmla="*/ 6176 h 6176"/>
              <a:gd name="p0x10" fmla="*/ 134 w 5585"/>
              <a:gd name="p0y10" fmla="*/ 6176 h 6176"/>
              <a:gd name="p0x11" fmla="*/ 0 w 5585"/>
              <a:gd name="p0y11" fmla="*/ 6042 h 6176"/>
              <a:gd name="p0x12" fmla="*/ 0 w 5585"/>
              <a:gd name="p0y12" fmla="*/ 5876 h 6176"/>
              <a:gd name="p0x13" fmla="*/ 0 w 5585"/>
              <a:gd name="p0y13" fmla="*/ 300 h 6176"/>
              <a:gd name="p0x14" fmla="*/ 0 w 5585"/>
              <a:gd name="p0y14" fmla="*/ 134 h 6176"/>
              <a:gd name="p0x15" fmla="*/ 134 w 5585"/>
              <a:gd name="p0y15" fmla="*/ 0 h 6176"/>
              <a:gd name="p0x16" fmla="*/ 300 w 5585"/>
              <a:gd name="p0y16" fmla="*/ 0 h 61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65" name="组合 64"/>
          <p:cNvGrpSpPr/>
          <p:nvPr/>
        </p:nvGrpSpPr>
        <p:grpSpPr>
          <a:xfrm>
            <a:off x="8264525" y="2025015"/>
            <a:ext cx="3155950" cy="580390"/>
            <a:chOff x="13015" y="3189"/>
            <a:chExt cx="4970" cy="914"/>
          </a:xfrm>
        </p:grpSpPr>
        <p:sp>
          <p:nvSpPr>
            <p:cNvPr id="39" name="任意多边形 38"/>
            <p:cNvSpPr/>
            <p:nvPr>
              <p:custDataLst>
                <p:tags r:id="rId37"/>
              </p:custDataLst>
            </p:nvPr>
          </p:nvSpPr>
          <p:spPr>
            <a:xfrm>
              <a:off x="13015" y="3189"/>
              <a:ext cx="4970" cy="915"/>
            </a:xfrm>
            <a:custGeom>
              <a:avLst/>
              <a:gdLst>
                <a:gd name="sw" fmla="*/ 1 w 4970"/>
                <a:gd name="sh" fmla="*/ 1 h 915"/>
                <a:gd name="mins" fmla="min sw sh"/>
                <a:gd name="dsw" fmla="+- 0 sw mins"/>
                <a:gd name="dsh" fmla="+- 0 sh mins"/>
                <a:gd name="p0x0" fmla="*/ 0 w 4970"/>
                <a:gd name="p0y0" fmla="*/ 0 h 915"/>
                <a:gd name="p0x1" fmla="*/ 4970 w 4970"/>
                <a:gd name="p0y1" fmla="*/ 0 h 915"/>
                <a:gd name="p0x2" fmla="*/ 4970 w 4970"/>
                <a:gd name="p0y2" fmla="*/ 915 h 915"/>
                <a:gd name="p0x3" fmla="*/ 0 w 4970"/>
                <a:gd name="p0y3" fmla="*/ 915 h 915"/>
                <a:gd name="p0x4" fmla="*/ 0 w 4970"/>
                <a:gd name="p0y4" fmla="*/ 0 h 9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38"/>
              </p:custDataLst>
            </p:nvPr>
          </p:nvSpPr>
          <p:spPr>
            <a:xfrm>
              <a:off x="13015" y="4089"/>
              <a:ext cx="4970" cy="15"/>
            </a:xfrm>
            <a:custGeom>
              <a:avLst/>
              <a:gdLst>
                <a:gd name="sw" fmla="*/ 1 w 4970"/>
                <a:gd name="sh" fmla="*/ 1 h 15"/>
                <a:gd name="mins" fmla="min sw sh"/>
                <a:gd name="dsw" fmla="+- 0 sw mins"/>
                <a:gd name="dsh" fmla="+- 0 sh mins"/>
                <a:gd name="p0x0" fmla="*/ 4970 w 4970"/>
                <a:gd name="p0y0" fmla="*/ 15 h 15"/>
                <a:gd name="p0x1" fmla="*/ 0 w 4970"/>
                <a:gd name="p0y1" fmla="*/ 15 h 15"/>
                <a:gd name="p0x2" fmla="*/ 0 w 4970"/>
                <a:gd name="p0y2" fmla="*/ 0 h 15"/>
                <a:gd name="p0x3" fmla="*/ 4970 w 4970"/>
                <a:gd name="p0y3" fmla="*/ 0 h 15"/>
                <a:gd name="p0x4" fmla="*/ 4970 w 49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任意多边形 41"/>
          <p:cNvSpPr/>
          <p:nvPr>
            <p:custDataLst>
              <p:tags r:id="rId39"/>
            </p:custDataLst>
          </p:nvPr>
        </p:nvSpPr>
        <p:spPr>
          <a:xfrm>
            <a:off x="8264525" y="202501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40 w 780"/>
              <a:gd name="p0y0" fmla="*/ 0 h 780"/>
              <a:gd name="p0x1" fmla="*/ 540 w 780"/>
              <a:gd name="p0y1" fmla="*/ 0 h 780"/>
              <a:gd name="p0x2" fmla="*/ 672 w 780"/>
              <a:gd name="p0y2" fmla="*/ 0 h 780"/>
              <a:gd name="p0x3" fmla="*/ 780 w 780"/>
              <a:gd name="p0y3" fmla="*/ 107 h 780"/>
              <a:gd name="p0x4" fmla="*/ 780 w 780"/>
              <a:gd name="p0y4" fmla="*/ 240 h 780"/>
              <a:gd name="p0x5" fmla="*/ 780 w 780"/>
              <a:gd name="p0y5" fmla="*/ 540 h 780"/>
              <a:gd name="p0x6" fmla="*/ 780 w 780"/>
              <a:gd name="p0y6" fmla="*/ 672 h 780"/>
              <a:gd name="p0x7" fmla="*/ 672 w 780"/>
              <a:gd name="p0y7" fmla="*/ 780 h 780"/>
              <a:gd name="p0x8" fmla="*/ 540 w 780"/>
              <a:gd name="p0y8" fmla="*/ 780 h 780"/>
              <a:gd name="p0x9" fmla="*/ 240 w 780"/>
              <a:gd name="p0y9" fmla="*/ 780 h 780"/>
              <a:gd name="p0x10" fmla="*/ 107 w 780"/>
              <a:gd name="p0y10" fmla="*/ 780 h 780"/>
              <a:gd name="p0x11" fmla="*/ 0 w 780"/>
              <a:gd name="p0y11" fmla="*/ 672 h 780"/>
              <a:gd name="p0x12" fmla="*/ 0 w 780"/>
              <a:gd name="p0y12" fmla="*/ 540 h 780"/>
              <a:gd name="p0x13" fmla="*/ 0 w 780"/>
              <a:gd name="p0y13" fmla="*/ 240 h 780"/>
              <a:gd name="p0x14" fmla="*/ 0 w 780"/>
              <a:gd name="p0y14" fmla="*/ 107 h 780"/>
              <a:gd name="p0x15" fmla="*/ 107 w 780"/>
              <a:gd name="p0y15" fmla="*/ 0 h 780"/>
              <a:gd name="p0x16" fmla="*/ 24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 descr="617e5b39-a675-11f1-a90f-a2aa0dde4534"/>
          <p:cNvPicPr/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17" t="-6" r="17" b="6"/>
          <a:stretch>
            <a:fillRect/>
          </a:stretch>
        </p:blipFill>
        <p:spPr>
          <a:xfrm>
            <a:off x="8359775" y="2120265"/>
            <a:ext cx="304800" cy="304800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43"/>
            </p:custDataLst>
          </p:nvPr>
        </p:nvSpPr>
        <p:spPr>
          <a:xfrm>
            <a:off x="8874176" y="2089804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B3A5C"/>
                </a:solidFill>
                <a:cs typeface="+mn-lt"/>
              </a:rPr>
              <a:t>禁止触碰</a:t>
            </a:r>
            <a:endParaRPr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47" name="任意多边形 46"/>
          <p:cNvSpPr/>
          <p:nvPr>
            <p:custDataLst>
              <p:tags r:id="rId44"/>
            </p:custDataLst>
          </p:nvPr>
        </p:nvSpPr>
        <p:spPr>
          <a:xfrm>
            <a:off x="8264525" y="288226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45"/>
            </p:custDataLst>
          </p:nvPr>
        </p:nvSpPr>
        <p:spPr>
          <a:xfrm>
            <a:off x="8416976" y="2791063"/>
            <a:ext cx="10287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不操作资金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49" name="任意多边形 48"/>
          <p:cNvSpPr/>
          <p:nvPr>
            <p:custDataLst>
              <p:tags r:id="rId46"/>
            </p:custDataLst>
          </p:nvPr>
        </p:nvSpPr>
        <p:spPr>
          <a:xfrm>
            <a:off x="8264525" y="328041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7"/>
            </p:custDataLst>
          </p:nvPr>
        </p:nvSpPr>
        <p:spPr>
          <a:xfrm>
            <a:off x="8416976" y="3189408"/>
            <a:ext cx="10287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不承诺赔偿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51" name="任意多边形 50"/>
          <p:cNvSpPr/>
          <p:nvPr>
            <p:custDataLst>
              <p:tags r:id="rId48"/>
            </p:custDataLst>
          </p:nvPr>
        </p:nvSpPr>
        <p:spPr>
          <a:xfrm>
            <a:off x="8264525" y="367855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49"/>
            </p:custDataLst>
          </p:nvPr>
        </p:nvSpPr>
        <p:spPr>
          <a:xfrm>
            <a:off x="8416976" y="3587744"/>
            <a:ext cx="13716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不透露他人信息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53" name="任意多边形 52"/>
          <p:cNvSpPr/>
          <p:nvPr>
            <p:custDataLst>
              <p:tags r:id="rId50"/>
            </p:custDataLst>
          </p:nvPr>
        </p:nvSpPr>
        <p:spPr>
          <a:xfrm>
            <a:off x="8264525" y="407733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51"/>
            </p:custDataLst>
          </p:nvPr>
        </p:nvSpPr>
        <p:spPr>
          <a:xfrm>
            <a:off x="8416976" y="3986079"/>
            <a:ext cx="10287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不评价竞品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55" name="任意多边形 54"/>
          <p:cNvSpPr/>
          <p:nvPr>
            <p:custDataLst>
              <p:tags r:id="rId52"/>
            </p:custDataLst>
          </p:nvPr>
        </p:nvSpPr>
        <p:spPr>
          <a:xfrm>
            <a:off x="8264525" y="447548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53"/>
            </p:custDataLst>
          </p:nvPr>
        </p:nvSpPr>
        <p:spPr>
          <a:xfrm>
            <a:off x="8416976" y="4384424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不提供医疗法律金融建议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57" name="任意多边形 56"/>
          <p:cNvSpPr/>
          <p:nvPr>
            <p:custDataLst>
              <p:tags r:id="rId54"/>
            </p:custDataLst>
          </p:nvPr>
        </p:nvSpPr>
        <p:spPr>
          <a:xfrm>
            <a:off x="8264525" y="487362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55"/>
            </p:custDataLst>
          </p:nvPr>
        </p:nvSpPr>
        <p:spPr>
          <a:xfrm>
            <a:off x="8416976" y="4782760"/>
            <a:ext cx="15431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不自行对外发消息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59" name="任意多边形 58"/>
          <p:cNvSpPr/>
          <p:nvPr>
            <p:custDataLst>
              <p:tags r:id="rId56"/>
            </p:custDataLst>
          </p:nvPr>
        </p:nvSpPr>
        <p:spPr>
          <a:xfrm>
            <a:off x="8264525" y="527240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>
            <p:custDataLst>
              <p:tags r:id="rId57"/>
            </p:custDataLst>
          </p:nvPr>
        </p:nvSpPr>
        <p:spPr>
          <a:xfrm>
            <a:off x="8416976" y="5181095"/>
            <a:ext cx="216017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A6B8A"/>
                </a:solidFill>
                <a:cs typeface="+mn-lt"/>
              </a:rPr>
              <a:t>连续</a:t>
            </a:r>
            <a:r>
              <a:rPr lang="en-US" altLang="zh-CN" sz="1350">
                <a:solidFill>
                  <a:srgbClr val="4A6B8A"/>
                </a:solidFill>
                <a:cs typeface="+mn-lt"/>
              </a:rPr>
              <a:t> </a:t>
            </a:r>
            <a:r>
              <a:rPr lang="en-US" altLang="zh-CN" sz="1350" b="1">
                <a:solidFill>
                  <a:schemeClr val="tx2"/>
                </a:solidFill>
                <a:cs typeface="+mn-lt"/>
              </a:rPr>
              <a:t>3 </a:t>
            </a:r>
            <a:r>
              <a:rPr lang="zh-CN" altLang="en-US" sz="1350" b="1">
                <a:solidFill>
                  <a:schemeClr val="tx2"/>
                </a:solidFill>
                <a:cs typeface="+mn-lt"/>
              </a:rPr>
              <a:t>轮</a:t>
            </a:r>
            <a:r>
              <a:rPr lang="en-US" sz="1350">
                <a:solidFill>
                  <a:srgbClr val="4A6B8A"/>
                </a:solidFill>
                <a:cs typeface="+mn-lt"/>
              </a:rPr>
              <a:t> </a:t>
            </a:r>
            <a:r>
              <a:rPr lang="zh-CN" sz="1350">
                <a:solidFill>
                  <a:srgbClr val="4A6B8A"/>
                </a:solidFill>
                <a:cs typeface="+mn-lt"/>
              </a:rPr>
              <a:t>不满强制转人工</a:t>
            </a:r>
            <a:endParaRPr lang="zh-CN" sz="1350">
              <a:solidFill>
                <a:srgbClr val="4A6B8A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8801100" y="-685800"/>
            <a:ext cx="4000500" cy="4000500"/>
          </a:xfrm>
          <a:custGeom>
            <a:avLst/>
            <a:gdLst>
              <a:gd name="sw" fmla="*/ 1 w 6300"/>
              <a:gd name="sh" fmla="*/ 1 h 6300"/>
              <a:gd name="mins" fmla="min sw sh"/>
              <a:gd name="dsw" fmla="+- 0 sw mins"/>
              <a:gd name="dsh" fmla="+- 0 sh mins"/>
              <a:gd name="p0x0" fmla="*/ 3150 w 6300"/>
              <a:gd name="p0y0" fmla="*/ 0 h 6300"/>
              <a:gd name="p0x1" fmla="*/ 4889 w 6300"/>
              <a:gd name="p0y1" fmla="*/ 0 h 6300"/>
              <a:gd name="p0x2" fmla="*/ 6300 w 6300"/>
              <a:gd name="p0y2" fmla="*/ 1410 h 6300"/>
              <a:gd name="p0x3" fmla="*/ 6300 w 6300"/>
              <a:gd name="p0y3" fmla="*/ 3150 h 6300"/>
              <a:gd name="p0x4" fmla="*/ 6300 w 6300"/>
              <a:gd name="p0y4" fmla="*/ 4889 h 6300"/>
              <a:gd name="p0x5" fmla="*/ 4889 w 6300"/>
              <a:gd name="p0y5" fmla="*/ 6300 h 6300"/>
              <a:gd name="p0x6" fmla="*/ 3150 w 6300"/>
              <a:gd name="p0y6" fmla="*/ 6300 h 6300"/>
              <a:gd name="p0x7" fmla="*/ 1410 w 6300"/>
              <a:gd name="p0y7" fmla="*/ 6300 h 6300"/>
              <a:gd name="p0x8" fmla="*/ 0 w 6300"/>
              <a:gd name="p0y8" fmla="*/ 4889 h 6300"/>
              <a:gd name="p0x9" fmla="*/ 0 w 6300"/>
              <a:gd name="p0y9" fmla="*/ 3150 h 6300"/>
              <a:gd name="p0x10" fmla="*/ 0 w 6300"/>
              <a:gd name="p0y10" fmla="*/ 1410 h 6300"/>
              <a:gd name="p0x11" fmla="*/ 1410 w 6300"/>
              <a:gd name="p0y11" fmla="*/ 0 h 6300"/>
              <a:gd name="p0x12" fmla="*/ 3150 w 6300"/>
              <a:gd name="p0y12" fmla="*/ 0 h 6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571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4"/>
            </p:custDataLst>
          </p:nvPr>
        </p:nvSpPr>
        <p:spPr>
          <a:xfrm>
            <a:off x="-365125" y="3977005"/>
            <a:ext cx="3428365" cy="3429000"/>
          </a:xfrm>
          <a:custGeom>
            <a:avLst/>
            <a:gdLst>
              <a:gd name="sw" fmla="*/ 1 w 5400"/>
              <a:gd name="sh" fmla="*/ 1 h 5400"/>
              <a:gd name="mins" fmla="min sw sh"/>
              <a:gd name="dsw" fmla="+- 0 sw mins"/>
              <a:gd name="dsh" fmla="+- 0 sh mins"/>
              <a:gd name="p0x0" fmla="*/ 2700 w 5400"/>
              <a:gd name="p0y0" fmla="*/ 0 h 5400"/>
              <a:gd name="p0x1" fmla="*/ 4191 w 5400"/>
              <a:gd name="p0y1" fmla="*/ 0 h 5400"/>
              <a:gd name="p0x2" fmla="*/ 5400 w 5400"/>
              <a:gd name="p0y2" fmla="*/ 1208 h 5400"/>
              <a:gd name="p0x3" fmla="*/ 5400 w 5400"/>
              <a:gd name="p0y3" fmla="*/ 2700 h 5400"/>
              <a:gd name="p0x4" fmla="*/ 5400 w 5400"/>
              <a:gd name="p0y4" fmla="*/ 4191 h 5400"/>
              <a:gd name="p0x5" fmla="*/ 4191 w 5400"/>
              <a:gd name="p0y5" fmla="*/ 5400 h 5400"/>
              <a:gd name="p0x6" fmla="*/ 2700 w 5400"/>
              <a:gd name="p0y6" fmla="*/ 5400 h 5400"/>
              <a:gd name="p0x7" fmla="*/ 1208 w 5400"/>
              <a:gd name="p0y7" fmla="*/ 5400 h 5400"/>
              <a:gd name="p0x8" fmla="*/ 0 w 5400"/>
              <a:gd name="p0y8" fmla="*/ 4191 h 5400"/>
              <a:gd name="p0x9" fmla="*/ 0 w 5400"/>
              <a:gd name="p0y9" fmla="*/ 2700 h 5400"/>
              <a:gd name="p0x10" fmla="*/ 0 w 5400"/>
              <a:gd name="p0y10" fmla="*/ 1208 h 5400"/>
              <a:gd name="p0x11" fmla="*/ 1208 w 5400"/>
              <a:gd name="p0y11" fmla="*/ 0 h 5400"/>
              <a:gd name="p0x12" fmla="*/ 2700 w 5400"/>
              <a:gd name="p0y12" fmla="*/ 0 h 54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47625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809625" y="16502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666750" y="3508534"/>
            <a:ext cx="42672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数据来源与标注</a:t>
            </a:r>
            <a:endParaRPr sz="42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666750" y="4436110"/>
            <a:ext cx="3303270" cy="9525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666750" y="4583906"/>
            <a:ext cx="349381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B8A"/>
                </a:solidFill>
                <a:cs typeface="+mn-lt"/>
              </a:rPr>
              <a:t>知识库烂，模型再强也是垃圾进垃圾出</a:t>
            </a:r>
            <a:endParaRPr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666750" y="4888706"/>
            <a:ext cx="3303318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知识库质量决定</a:t>
            </a:r>
            <a:r>
              <a:rPr lang="en-US" altLang="zh-CN" sz="1500" spc="30">
                <a:solidFill>
                  <a:srgbClr val="4A6B8A"/>
                </a:solidFill>
                <a:cs typeface="+mn-lt"/>
              </a:rPr>
              <a:t>AI</a:t>
            </a: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上限</a:t>
            </a:r>
            <a:endParaRPr lang="zh-CN" altLang="en-US"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 rot="2700000">
            <a:off x="666115" y="1714500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3"/>
            </p:custDataLst>
          </p:nvPr>
        </p:nvSpPr>
        <p:spPr>
          <a:xfrm>
            <a:off x="1819910" y="173355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4"/>
            </p:custDataLst>
          </p:nvPr>
        </p:nvSpPr>
        <p:spPr>
          <a:xfrm>
            <a:off x="666750" y="2097881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1A73E8">
                    <a:alpha val="12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03</a:t>
            </a:r>
            <a:endParaRPr sz="9000" b="1">
              <a:solidFill>
                <a:srgbClr val="1A73E8">
                  <a:alpha val="12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七大数据源清单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571500" y="2619375"/>
          <a:ext cx="11049008" cy="3857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281"/>
                <a:gridCol w="2015432"/>
                <a:gridCol w="1850012"/>
                <a:gridCol w="4707283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数据来源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格式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数据量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用途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</a:tr>
              <a:tr h="477068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产品手册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PDF/DOC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约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300</a:t>
                      </a:r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份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清洗、切块、向量化入知识库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477068"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SOP 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流程文档</a:t>
                      </a:r>
                      <a:endParaRPr lang="zh-CN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DOC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约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200</a:t>
                      </a:r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份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售前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售后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投诉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物流四大类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7068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退货换货政策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在线文档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约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15</a:t>
                      </a:r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份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按品类场景区分，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AI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检索引用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477068"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FAQ 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清单</a:t>
                      </a:r>
                      <a:endParaRPr lang="zh-CN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Excel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500</a:t>
                      </a:r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条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高频问答的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QA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结构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7068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客服话术库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Excel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约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300</a:t>
                      </a:r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条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补全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QA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对后入库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477068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历史工单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数据库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/API</a:t>
                      </a:r>
                      <a:endParaRPr lang="en-US" altLang="zh-CN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15 </a:t>
                      </a:r>
                      <a:r>
                        <a:rPr lang="zh-CN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万</a:t>
                      </a:r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条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挖掘高频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QA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，不直接向量化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7068"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物流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订单系统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API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实时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不入库，提问时实时调用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1500" y="1104900"/>
            <a:ext cx="11049000" cy="1285875"/>
          </a:xfrm>
          <a:custGeom>
            <a:avLst/>
            <a:gdLst>
              <a:gd name="sw" fmla="*/ 1 w 17400"/>
              <a:gd name="sh" fmla="*/ 1 h 2025"/>
              <a:gd name="mins" fmla="min sw sh"/>
              <a:gd name="dsw" fmla="+- 0 sw mins"/>
              <a:gd name="dsh" fmla="+- 0 sh mins"/>
              <a:gd name="p0x0" fmla="*/ 240 w 17400"/>
              <a:gd name="p0y0" fmla="*/ 0 h 2025"/>
              <a:gd name="p0x1" fmla="*/ 17160 w 17400"/>
              <a:gd name="p0y1" fmla="*/ 0 h 2025"/>
              <a:gd name="p0x2" fmla="*/ 17292 w 17400"/>
              <a:gd name="p0y2" fmla="*/ 0 h 2025"/>
              <a:gd name="p0x3" fmla="*/ 17400 w 17400"/>
              <a:gd name="p0y3" fmla="*/ 107 h 2025"/>
              <a:gd name="p0x4" fmla="*/ 17400 w 17400"/>
              <a:gd name="p0y4" fmla="*/ 240 h 2025"/>
              <a:gd name="p0x5" fmla="*/ 17400 w 17400"/>
              <a:gd name="p0y5" fmla="*/ 1785 h 2025"/>
              <a:gd name="p0x6" fmla="*/ 17400 w 17400"/>
              <a:gd name="p0y6" fmla="*/ 1917 h 2025"/>
              <a:gd name="p0x7" fmla="*/ 17292 w 17400"/>
              <a:gd name="p0y7" fmla="*/ 2025 h 2025"/>
              <a:gd name="p0x8" fmla="*/ 17160 w 17400"/>
              <a:gd name="p0y8" fmla="*/ 2025 h 2025"/>
              <a:gd name="p0x9" fmla="*/ 240 w 17400"/>
              <a:gd name="p0y9" fmla="*/ 2025 h 2025"/>
              <a:gd name="p0x10" fmla="*/ 107 w 17400"/>
              <a:gd name="p0y10" fmla="*/ 2025 h 2025"/>
              <a:gd name="p0x11" fmla="*/ 0 w 17400"/>
              <a:gd name="p0y11" fmla="*/ 1917 h 2025"/>
              <a:gd name="p0x12" fmla="*/ 0 w 17400"/>
              <a:gd name="p0y12" fmla="*/ 1785 h 2025"/>
              <a:gd name="p0x13" fmla="*/ 0 w 17400"/>
              <a:gd name="p0y13" fmla="*/ 240 h 2025"/>
              <a:gd name="p0x14" fmla="*/ 0 w 17400"/>
              <a:gd name="p0y14" fmla="*/ 107 h 2025"/>
              <a:gd name="p0x15" fmla="*/ 107 w 17400"/>
              <a:gd name="p0y15" fmla="*/ 0 h 2025"/>
              <a:gd name="p0x16" fmla="*/ 240 w 17400"/>
              <a:gd name="p0y16" fmla="*/ 0 h 20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62000" y="1589723"/>
            <a:ext cx="7454360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FFFFFF"/>
                </a:solidFill>
                <a:cs typeface="+mn-lt"/>
              </a:rPr>
              <a:t>知识库质量决定</a:t>
            </a:r>
            <a:r>
              <a:rPr lang="en-US" altLang="zh-CN">
                <a:solidFill>
                  <a:srgbClr val="FFFFFF"/>
                </a:solidFill>
                <a:cs typeface="+mn-lt"/>
              </a:rPr>
              <a:t> AI </a:t>
            </a:r>
            <a:r>
              <a:rPr lang="zh-CN" altLang="en-US">
                <a:solidFill>
                  <a:srgbClr val="FFFFFF"/>
                </a:solidFill>
                <a:cs typeface="+mn-lt"/>
              </a:rPr>
              <a:t>上限</a:t>
            </a:r>
            <a:r>
              <a:rPr lang="en-US" altLang="zh-CN">
                <a:solidFill>
                  <a:srgbClr val="FFFFFF"/>
                </a:solidFill>
                <a:cs typeface="+mn-lt"/>
              </a:rPr>
              <a:t>——</a:t>
            </a:r>
            <a:r>
              <a:rPr b="1">
                <a:solidFill>
                  <a:srgbClr val="0A1E33"/>
                </a:solidFill>
                <a:cs typeface="+mn-lt"/>
              </a:rPr>
              <a:t>模型再强，知识库烂也是垃圾进垃圾出</a:t>
            </a:r>
            <a:r>
              <a:rPr>
                <a:solidFill>
                  <a:srgbClr val="FFFFFF"/>
                </a:solidFill>
                <a:cs typeface="+mn-lt"/>
              </a:rPr>
              <a:t>。</a:t>
            </a:r>
            <a:endParaRPr>
              <a:solidFill>
                <a:srgbClr val="FFFFFF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知识库构建四环节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1504950" y="279527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40 w 780"/>
              <a:gd name="p0y0" fmla="*/ 0 h 780"/>
              <a:gd name="p0x1" fmla="*/ 540 w 780"/>
              <a:gd name="p0y1" fmla="*/ 0 h 780"/>
              <a:gd name="p0x2" fmla="*/ 672 w 780"/>
              <a:gd name="p0y2" fmla="*/ 0 h 780"/>
              <a:gd name="p0x3" fmla="*/ 780 w 780"/>
              <a:gd name="p0y3" fmla="*/ 107 h 780"/>
              <a:gd name="p0x4" fmla="*/ 780 w 780"/>
              <a:gd name="p0y4" fmla="*/ 240 h 780"/>
              <a:gd name="p0x5" fmla="*/ 780 w 780"/>
              <a:gd name="p0y5" fmla="*/ 540 h 780"/>
              <a:gd name="p0x6" fmla="*/ 780 w 780"/>
              <a:gd name="p0y6" fmla="*/ 672 h 780"/>
              <a:gd name="p0x7" fmla="*/ 672 w 780"/>
              <a:gd name="p0y7" fmla="*/ 780 h 780"/>
              <a:gd name="p0x8" fmla="*/ 540 w 780"/>
              <a:gd name="p0y8" fmla="*/ 780 h 780"/>
              <a:gd name="p0x9" fmla="*/ 240 w 780"/>
              <a:gd name="p0y9" fmla="*/ 780 h 780"/>
              <a:gd name="p0x10" fmla="*/ 107 w 780"/>
              <a:gd name="p0y10" fmla="*/ 780 h 780"/>
              <a:gd name="p0x11" fmla="*/ 0 w 780"/>
              <a:gd name="p0y11" fmla="*/ 672 h 780"/>
              <a:gd name="p0x12" fmla="*/ 0 w 780"/>
              <a:gd name="p0y12" fmla="*/ 540 h 780"/>
              <a:gd name="p0x13" fmla="*/ 0 w 780"/>
              <a:gd name="p0y13" fmla="*/ 240 h 780"/>
              <a:gd name="p0x14" fmla="*/ 0 w 780"/>
              <a:gd name="p0y14" fmla="*/ 107 h 780"/>
              <a:gd name="p0x15" fmla="*/ 107 w 780"/>
              <a:gd name="p0y15" fmla="*/ 0 h 780"/>
              <a:gd name="p0x16" fmla="*/ 24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657502" y="2868930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A73E8"/>
                </a:solidFill>
                <a:cs typeface="+mn-lt"/>
              </a:rPr>
              <a:t>1</a:t>
            </a:r>
            <a:endParaRPr sz="2400" b="1">
              <a:solidFill>
                <a:srgbClr val="1A73E8"/>
              </a:solidFill>
              <a:cs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075134" y="3388995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1B3A5C"/>
                </a:solidFill>
                <a:cs typeface="+mn-lt"/>
              </a:rPr>
              <a:t>资料整理</a:t>
            </a:r>
            <a:endParaRPr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61092" y="3762375"/>
            <a:ext cx="218301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>
                <a:solidFill>
                  <a:srgbClr val="4A6B8A"/>
                </a:solidFill>
                <a:cs typeface="+mn-lt"/>
              </a:rPr>
              <a:t>收集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 </a:t>
            </a:r>
            <a:r>
              <a:rPr lang="en-US" altLang="zh-CN" sz="1500" b="1">
                <a:solidFill>
                  <a:schemeClr val="accent1"/>
                </a:solidFill>
                <a:cs typeface="+mn-lt"/>
              </a:rPr>
              <a:t>FAQ</a:t>
            </a:r>
            <a:r>
              <a:rPr lang="zh-CN" altLang="en-US" sz="1500" b="1">
                <a:solidFill>
                  <a:schemeClr val="accent1"/>
                </a:solidFill>
                <a:cs typeface="+mn-lt"/>
              </a:rPr>
              <a:t>、政策、活动规则、商品说明、话术</a:t>
            </a:r>
            <a:endParaRPr lang="zh-CN" altLang="en-US" sz="15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947420" y="4505325"/>
            <a:ext cx="1609725" cy="276225"/>
          </a:xfrm>
          <a:custGeom>
            <a:avLst/>
            <a:gdLst>
              <a:gd name="sw" fmla="*/ 1 w 2535"/>
              <a:gd name="sh" fmla="*/ 1 h 435"/>
              <a:gd name="mins" fmla="min sw sh"/>
              <a:gd name="dsw" fmla="+- 0 sw mins"/>
              <a:gd name="dsh" fmla="+- 0 sh mins"/>
              <a:gd name="p0x0" fmla="*/ 217 w 2535"/>
              <a:gd name="p0y0" fmla="*/ 0 h 435"/>
              <a:gd name="p0x1" fmla="*/ 2317 w 2535"/>
              <a:gd name="p0y1" fmla="*/ 0 h 435"/>
              <a:gd name="p0x2" fmla="*/ 2437 w 2535"/>
              <a:gd name="p0y2" fmla="*/ 0 h 435"/>
              <a:gd name="p0x3" fmla="*/ 2535 w 2535"/>
              <a:gd name="p0y3" fmla="*/ 97 h 435"/>
              <a:gd name="p0x4" fmla="*/ 2535 w 2535"/>
              <a:gd name="p0y4" fmla="*/ 217 h 435"/>
              <a:gd name="p0x5" fmla="*/ 2535 w 2535"/>
              <a:gd name="p0y5" fmla="*/ 337 h 435"/>
              <a:gd name="p0x6" fmla="*/ 2437 w 2535"/>
              <a:gd name="p0y6" fmla="*/ 435 h 435"/>
              <a:gd name="p0x7" fmla="*/ 2317 w 2535"/>
              <a:gd name="p0y7" fmla="*/ 435 h 435"/>
              <a:gd name="p0x8" fmla="*/ 217 w 2535"/>
              <a:gd name="p0y8" fmla="*/ 435 h 435"/>
              <a:gd name="p0x9" fmla="*/ 97 w 2535"/>
              <a:gd name="p0y9" fmla="*/ 435 h 435"/>
              <a:gd name="p0x10" fmla="*/ 0 w 2535"/>
              <a:gd name="p0y10" fmla="*/ 337 h 435"/>
              <a:gd name="p0x11" fmla="*/ 0 w 2535"/>
              <a:gd name="p0y11" fmla="*/ 217 h 435"/>
              <a:gd name="p0x12" fmla="*/ 0 w 2535"/>
              <a:gd name="p0y12" fmla="*/ 97 h 435"/>
              <a:gd name="p0x13" fmla="*/ 97 w 2535"/>
              <a:gd name="p0y13" fmla="*/ 0 h 435"/>
              <a:gd name="p0x14" fmla="*/ 217 w 2535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lumMod val="16268"/>
                <a:lumOff val="83732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990524" y="4539615"/>
            <a:ext cx="1524076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A3D7A"/>
                </a:solidFill>
                <a:cs typeface="+mn-lt"/>
              </a:rPr>
              <a:t>产出：可用知识清单</a:t>
            </a:r>
            <a:endParaRPr sz="1200">
              <a:solidFill>
                <a:srgbClr val="0A3D7A"/>
              </a:solidFill>
              <a:cs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3048000" y="3588544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 b="1">
                <a:solidFill>
                  <a:schemeClr val="accent1"/>
                </a:solidFill>
                <a:cs typeface="+mn-lt"/>
              </a:rPr>
              <a:t>→</a:t>
            </a:r>
            <a:endParaRPr sz="24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4400550" y="279527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40 w 780"/>
              <a:gd name="p0y0" fmla="*/ 0 h 780"/>
              <a:gd name="p0x1" fmla="*/ 540 w 780"/>
              <a:gd name="p0y1" fmla="*/ 0 h 780"/>
              <a:gd name="p0x2" fmla="*/ 672 w 780"/>
              <a:gd name="p0y2" fmla="*/ 0 h 780"/>
              <a:gd name="p0x3" fmla="*/ 780 w 780"/>
              <a:gd name="p0y3" fmla="*/ 107 h 780"/>
              <a:gd name="p0x4" fmla="*/ 780 w 780"/>
              <a:gd name="p0y4" fmla="*/ 240 h 780"/>
              <a:gd name="p0x5" fmla="*/ 780 w 780"/>
              <a:gd name="p0y5" fmla="*/ 540 h 780"/>
              <a:gd name="p0x6" fmla="*/ 780 w 780"/>
              <a:gd name="p0y6" fmla="*/ 672 h 780"/>
              <a:gd name="p0x7" fmla="*/ 672 w 780"/>
              <a:gd name="p0y7" fmla="*/ 780 h 780"/>
              <a:gd name="p0x8" fmla="*/ 540 w 780"/>
              <a:gd name="p0y8" fmla="*/ 780 h 780"/>
              <a:gd name="p0x9" fmla="*/ 240 w 780"/>
              <a:gd name="p0y9" fmla="*/ 780 h 780"/>
              <a:gd name="p0x10" fmla="*/ 107 w 780"/>
              <a:gd name="p0y10" fmla="*/ 780 h 780"/>
              <a:gd name="p0x11" fmla="*/ 0 w 780"/>
              <a:gd name="p0y11" fmla="*/ 672 h 780"/>
              <a:gd name="p0x12" fmla="*/ 0 w 780"/>
              <a:gd name="p0y12" fmla="*/ 540 h 780"/>
              <a:gd name="p0x13" fmla="*/ 0 w 780"/>
              <a:gd name="p0y13" fmla="*/ 240 h 780"/>
              <a:gd name="p0x14" fmla="*/ 0 w 780"/>
              <a:gd name="p0y14" fmla="*/ 107 h 780"/>
              <a:gd name="p0x15" fmla="*/ 107 w 780"/>
              <a:gd name="p0y15" fmla="*/ 0 h 780"/>
              <a:gd name="p0x16" fmla="*/ 24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4553102" y="2868930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A73E8"/>
                </a:solidFill>
                <a:cs typeface="+mn-lt"/>
              </a:rPr>
              <a:t>2</a:t>
            </a:r>
            <a:endParaRPr sz="2400" b="1">
              <a:solidFill>
                <a:srgbClr val="1A73E8"/>
              </a:solidFill>
              <a:cs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3970734" y="3388995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1B3A5C"/>
                </a:solidFill>
                <a:cs typeface="+mn-lt"/>
              </a:rPr>
              <a:t>知识加工</a:t>
            </a:r>
            <a:endParaRPr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3600450" y="3762375"/>
            <a:ext cx="2095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4A6B8A"/>
                </a:solidFill>
                <a:cs typeface="+mn-lt"/>
              </a:rPr>
              <a:t>长文档</a:t>
            </a:r>
            <a:r>
              <a:rPr sz="1500" b="1">
                <a:solidFill>
                  <a:schemeClr val="accent1"/>
                </a:solidFill>
                <a:cs typeface="+mn-lt"/>
              </a:rPr>
              <a:t>拆小片段</a:t>
            </a:r>
            <a:r>
              <a:rPr sz="1500">
                <a:solidFill>
                  <a:srgbClr val="4A6B8A"/>
                </a:solidFill>
                <a:cs typeface="+mn-lt"/>
              </a:rPr>
              <a:t>，保留来源、版本、生效时间</a:t>
            </a:r>
            <a:endParaRPr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3843020" y="4505325"/>
            <a:ext cx="1609725" cy="276225"/>
          </a:xfrm>
          <a:custGeom>
            <a:avLst/>
            <a:gdLst>
              <a:gd name="sw" fmla="*/ 1 w 2535"/>
              <a:gd name="sh" fmla="*/ 1 h 435"/>
              <a:gd name="mins" fmla="min sw sh"/>
              <a:gd name="dsw" fmla="+- 0 sw mins"/>
              <a:gd name="dsh" fmla="+- 0 sh mins"/>
              <a:gd name="p0x0" fmla="*/ 217 w 2535"/>
              <a:gd name="p0y0" fmla="*/ 0 h 435"/>
              <a:gd name="p0x1" fmla="*/ 2317 w 2535"/>
              <a:gd name="p0y1" fmla="*/ 0 h 435"/>
              <a:gd name="p0x2" fmla="*/ 2437 w 2535"/>
              <a:gd name="p0y2" fmla="*/ 0 h 435"/>
              <a:gd name="p0x3" fmla="*/ 2535 w 2535"/>
              <a:gd name="p0y3" fmla="*/ 97 h 435"/>
              <a:gd name="p0x4" fmla="*/ 2535 w 2535"/>
              <a:gd name="p0y4" fmla="*/ 217 h 435"/>
              <a:gd name="p0x5" fmla="*/ 2535 w 2535"/>
              <a:gd name="p0y5" fmla="*/ 337 h 435"/>
              <a:gd name="p0x6" fmla="*/ 2437 w 2535"/>
              <a:gd name="p0y6" fmla="*/ 435 h 435"/>
              <a:gd name="p0x7" fmla="*/ 2317 w 2535"/>
              <a:gd name="p0y7" fmla="*/ 435 h 435"/>
              <a:gd name="p0x8" fmla="*/ 217 w 2535"/>
              <a:gd name="p0y8" fmla="*/ 435 h 435"/>
              <a:gd name="p0x9" fmla="*/ 97 w 2535"/>
              <a:gd name="p0y9" fmla="*/ 435 h 435"/>
              <a:gd name="p0x10" fmla="*/ 0 w 2535"/>
              <a:gd name="p0y10" fmla="*/ 337 h 435"/>
              <a:gd name="p0x11" fmla="*/ 0 w 2535"/>
              <a:gd name="p0y11" fmla="*/ 217 h 435"/>
              <a:gd name="p0x12" fmla="*/ 0 w 2535"/>
              <a:gd name="p0y12" fmla="*/ 97 h 435"/>
              <a:gd name="p0x13" fmla="*/ 97 w 2535"/>
              <a:gd name="p0y13" fmla="*/ 0 h 435"/>
              <a:gd name="p0x14" fmla="*/ 217 w 2535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lumMod val="16268"/>
                <a:lumOff val="83732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3886124" y="4539615"/>
            <a:ext cx="1524076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A3D7A"/>
                </a:solidFill>
                <a:cs typeface="+mn-lt"/>
              </a:rPr>
              <a:t>产出：可检索知识库</a:t>
            </a:r>
            <a:endParaRPr sz="1200">
              <a:solidFill>
                <a:srgbClr val="0A3D7A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5943600" y="3588544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 b="1">
                <a:solidFill>
                  <a:schemeClr val="accent1"/>
                </a:solidFill>
                <a:cs typeface="+mn-lt"/>
              </a:rPr>
              <a:t>→</a:t>
            </a:r>
            <a:endParaRPr sz="24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7296150" y="279527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40 w 780"/>
              <a:gd name="p0y0" fmla="*/ 0 h 780"/>
              <a:gd name="p0x1" fmla="*/ 540 w 780"/>
              <a:gd name="p0y1" fmla="*/ 0 h 780"/>
              <a:gd name="p0x2" fmla="*/ 672 w 780"/>
              <a:gd name="p0y2" fmla="*/ 0 h 780"/>
              <a:gd name="p0x3" fmla="*/ 780 w 780"/>
              <a:gd name="p0y3" fmla="*/ 107 h 780"/>
              <a:gd name="p0x4" fmla="*/ 780 w 780"/>
              <a:gd name="p0y4" fmla="*/ 240 h 780"/>
              <a:gd name="p0x5" fmla="*/ 780 w 780"/>
              <a:gd name="p0y5" fmla="*/ 540 h 780"/>
              <a:gd name="p0x6" fmla="*/ 780 w 780"/>
              <a:gd name="p0y6" fmla="*/ 672 h 780"/>
              <a:gd name="p0x7" fmla="*/ 672 w 780"/>
              <a:gd name="p0y7" fmla="*/ 780 h 780"/>
              <a:gd name="p0x8" fmla="*/ 540 w 780"/>
              <a:gd name="p0y8" fmla="*/ 780 h 780"/>
              <a:gd name="p0x9" fmla="*/ 240 w 780"/>
              <a:gd name="p0y9" fmla="*/ 780 h 780"/>
              <a:gd name="p0x10" fmla="*/ 107 w 780"/>
              <a:gd name="p0y10" fmla="*/ 780 h 780"/>
              <a:gd name="p0x11" fmla="*/ 0 w 780"/>
              <a:gd name="p0y11" fmla="*/ 672 h 780"/>
              <a:gd name="p0x12" fmla="*/ 0 w 780"/>
              <a:gd name="p0y12" fmla="*/ 540 h 780"/>
              <a:gd name="p0x13" fmla="*/ 0 w 780"/>
              <a:gd name="p0y13" fmla="*/ 240 h 780"/>
              <a:gd name="p0x14" fmla="*/ 0 w 780"/>
              <a:gd name="p0y14" fmla="*/ 107 h 780"/>
              <a:gd name="p0x15" fmla="*/ 107 w 780"/>
              <a:gd name="p0y15" fmla="*/ 0 h 780"/>
              <a:gd name="p0x16" fmla="*/ 24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7448703" y="2868930"/>
            <a:ext cx="495004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A73E8"/>
                </a:solidFill>
                <a:cs typeface="+mn-lt"/>
              </a:rPr>
              <a:t>3</a:t>
            </a:r>
            <a:endParaRPr sz="2400" b="1">
              <a:solidFill>
                <a:srgbClr val="1A73E8"/>
              </a:solidFill>
              <a:cs typeface="+mn-lt"/>
            </a:endParaRPr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6866334" y="3388995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1B3A5C"/>
                </a:solidFill>
                <a:cs typeface="+mn-lt"/>
              </a:rPr>
              <a:t>问答沉淀</a:t>
            </a:r>
            <a:endParaRPr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6400800" y="3762375"/>
            <a:ext cx="2286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4A6B8A"/>
                </a:solidFill>
                <a:cs typeface="+mn-lt"/>
              </a:rPr>
              <a:t>高频问题整理</a:t>
            </a:r>
            <a:r>
              <a:rPr sz="1500" b="1">
                <a:solidFill>
                  <a:schemeClr val="accent1"/>
                </a:solidFill>
                <a:cs typeface="+mn-lt"/>
              </a:rPr>
              <a:t>标准答案</a:t>
            </a:r>
            <a:r>
              <a:rPr sz="1500">
                <a:solidFill>
                  <a:srgbClr val="4A6B8A"/>
                </a:solidFill>
                <a:cs typeface="+mn-lt"/>
              </a:rPr>
              <a:t>，补常见问法</a:t>
            </a:r>
            <a:endParaRPr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6814820" y="4505325"/>
            <a:ext cx="1457325" cy="276225"/>
          </a:xfrm>
          <a:custGeom>
            <a:avLst/>
            <a:gdLst>
              <a:gd name="sw" fmla="*/ 1 w 2295"/>
              <a:gd name="sh" fmla="*/ 1 h 435"/>
              <a:gd name="mins" fmla="min sw sh"/>
              <a:gd name="dsw" fmla="+- 0 sw mins"/>
              <a:gd name="dsh" fmla="+- 0 sh mins"/>
              <a:gd name="p0x0" fmla="*/ 217 w 2295"/>
              <a:gd name="p0y0" fmla="*/ 0 h 435"/>
              <a:gd name="p0x1" fmla="*/ 2077 w 2295"/>
              <a:gd name="p0y1" fmla="*/ 0 h 435"/>
              <a:gd name="p0x2" fmla="*/ 2197 w 2295"/>
              <a:gd name="p0y2" fmla="*/ 0 h 435"/>
              <a:gd name="p0x3" fmla="*/ 2295 w 2295"/>
              <a:gd name="p0y3" fmla="*/ 97 h 435"/>
              <a:gd name="p0x4" fmla="*/ 2295 w 2295"/>
              <a:gd name="p0y4" fmla="*/ 217 h 435"/>
              <a:gd name="p0x5" fmla="*/ 2295 w 2295"/>
              <a:gd name="p0y5" fmla="*/ 337 h 435"/>
              <a:gd name="p0x6" fmla="*/ 2197 w 2295"/>
              <a:gd name="p0y6" fmla="*/ 435 h 435"/>
              <a:gd name="p0x7" fmla="*/ 2077 w 2295"/>
              <a:gd name="p0y7" fmla="*/ 435 h 435"/>
              <a:gd name="p0x8" fmla="*/ 217 w 2295"/>
              <a:gd name="p0y8" fmla="*/ 435 h 435"/>
              <a:gd name="p0x9" fmla="*/ 97 w 2295"/>
              <a:gd name="p0y9" fmla="*/ 435 h 435"/>
              <a:gd name="p0x10" fmla="*/ 0 w 2295"/>
              <a:gd name="p0y10" fmla="*/ 337 h 435"/>
              <a:gd name="p0x11" fmla="*/ 0 w 2295"/>
              <a:gd name="p0y11" fmla="*/ 217 h 435"/>
              <a:gd name="p0x12" fmla="*/ 0 w 2295"/>
              <a:gd name="p0y12" fmla="*/ 97 h 435"/>
              <a:gd name="p0x13" fmla="*/ 97 w 2295"/>
              <a:gd name="p0y13" fmla="*/ 0 h 435"/>
              <a:gd name="p0x14" fmla="*/ 217 w 2295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lumMod val="16268"/>
                <a:lumOff val="83732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6857924" y="4539615"/>
            <a:ext cx="1371676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4000"/>
              </a:lnSpc>
            </a:pPr>
            <a:r>
              <a:rPr sz="1200">
                <a:solidFill>
                  <a:srgbClr val="0A3D7A"/>
                </a:solidFill>
                <a:cs typeface="+mn-lt"/>
              </a:rPr>
              <a:t>产出：标准问答库</a:t>
            </a:r>
            <a:endParaRPr sz="1200">
              <a:solidFill>
                <a:srgbClr val="0A3D7A"/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8839200" y="3588544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 b="1">
                <a:solidFill>
                  <a:schemeClr val="accent1"/>
                </a:solidFill>
                <a:cs typeface="+mn-lt"/>
              </a:rPr>
              <a:t>→</a:t>
            </a:r>
            <a:endParaRPr sz="24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25" name="任意多边形 24"/>
          <p:cNvSpPr/>
          <p:nvPr>
            <p:custDataLst>
              <p:tags r:id="rId23"/>
            </p:custDataLst>
          </p:nvPr>
        </p:nvSpPr>
        <p:spPr>
          <a:xfrm>
            <a:off x="10191115" y="294767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240 w 780"/>
              <a:gd name="p0y0" fmla="*/ 0 h 780"/>
              <a:gd name="p0x1" fmla="*/ 540 w 780"/>
              <a:gd name="p0y1" fmla="*/ 0 h 780"/>
              <a:gd name="p0x2" fmla="*/ 672 w 780"/>
              <a:gd name="p0y2" fmla="*/ 0 h 780"/>
              <a:gd name="p0x3" fmla="*/ 780 w 780"/>
              <a:gd name="p0y3" fmla="*/ 107 h 780"/>
              <a:gd name="p0x4" fmla="*/ 780 w 780"/>
              <a:gd name="p0y4" fmla="*/ 240 h 780"/>
              <a:gd name="p0x5" fmla="*/ 780 w 780"/>
              <a:gd name="p0y5" fmla="*/ 540 h 780"/>
              <a:gd name="p0x6" fmla="*/ 780 w 780"/>
              <a:gd name="p0y6" fmla="*/ 672 h 780"/>
              <a:gd name="p0x7" fmla="*/ 672 w 780"/>
              <a:gd name="p0y7" fmla="*/ 780 h 780"/>
              <a:gd name="p0x8" fmla="*/ 540 w 780"/>
              <a:gd name="p0y8" fmla="*/ 780 h 780"/>
              <a:gd name="p0x9" fmla="*/ 240 w 780"/>
              <a:gd name="p0y9" fmla="*/ 780 h 780"/>
              <a:gd name="p0x10" fmla="*/ 107 w 780"/>
              <a:gd name="p0y10" fmla="*/ 780 h 780"/>
              <a:gd name="p0x11" fmla="*/ 0 w 780"/>
              <a:gd name="p0y11" fmla="*/ 672 h 780"/>
              <a:gd name="p0x12" fmla="*/ 0 w 780"/>
              <a:gd name="p0y12" fmla="*/ 540 h 780"/>
              <a:gd name="p0x13" fmla="*/ 0 w 780"/>
              <a:gd name="p0y13" fmla="*/ 240 h 780"/>
              <a:gd name="p0x14" fmla="*/ 0 w 780"/>
              <a:gd name="p0y14" fmla="*/ 107 h 780"/>
              <a:gd name="p0x15" fmla="*/ 107 w 780"/>
              <a:gd name="p0y15" fmla="*/ 0 h 780"/>
              <a:gd name="p0x16" fmla="*/ 24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10344226" y="3021330"/>
            <a:ext cx="495005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1A73E8"/>
                </a:solidFill>
                <a:cs typeface="+mn-lt"/>
              </a:rPr>
              <a:t>4</a:t>
            </a:r>
            <a:endParaRPr sz="2400" b="1">
              <a:solidFill>
                <a:srgbClr val="1A73E8"/>
              </a:solidFill>
              <a:cs typeface="+mn-lt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9761934" y="3541395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1B3A5C"/>
                </a:solidFill>
                <a:cs typeface="+mn-lt"/>
              </a:rPr>
              <a:t>上线验证</a:t>
            </a:r>
            <a:endParaRPr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9391574" y="3914775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4A6B8A"/>
                </a:solidFill>
                <a:cs typeface="+mn-lt"/>
              </a:rPr>
              <a:t>典型问题</a:t>
            </a:r>
            <a:r>
              <a:rPr sz="1500" b="1">
                <a:solidFill>
                  <a:schemeClr val="accent1"/>
                </a:solidFill>
                <a:cs typeface="+mn-lt"/>
              </a:rPr>
              <a:t>测试检索效果</a:t>
            </a:r>
            <a:endParaRPr sz="15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29" name="任意多边形 28"/>
          <p:cNvSpPr/>
          <p:nvPr>
            <p:custDataLst>
              <p:tags r:id="rId27"/>
            </p:custDataLst>
          </p:nvPr>
        </p:nvSpPr>
        <p:spPr>
          <a:xfrm>
            <a:off x="9357995" y="4352925"/>
            <a:ext cx="2162175" cy="276225"/>
          </a:xfrm>
          <a:custGeom>
            <a:avLst/>
            <a:gdLst>
              <a:gd name="sw" fmla="*/ 1 w 3404"/>
              <a:gd name="sh" fmla="*/ 1 h 435"/>
              <a:gd name="mins" fmla="min sw sh"/>
              <a:gd name="dsw" fmla="+- 0 sw mins"/>
              <a:gd name="dsh" fmla="+- 0 sh mins"/>
              <a:gd name="p0x0" fmla="*/ 217 w 3404"/>
              <a:gd name="p0y0" fmla="*/ 0 h 435"/>
              <a:gd name="p0x1" fmla="*/ 3187 w 3404"/>
              <a:gd name="p0y1" fmla="*/ 0 h 435"/>
              <a:gd name="p0x2" fmla="*/ 3307 w 3404"/>
              <a:gd name="p0y2" fmla="*/ 0 h 435"/>
              <a:gd name="p0x3" fmla="*/ 3404 w 3404"/>
              <a:gd name="p0y3" fmla="*/ 97 h 435"/>
              <a:gd name="p0x4" fmla="*/ 3404 w 3404"/>
              <a:gd name="p0y4" fmla="*/ 217 h 435"/>
              <a:gd name="p0x5" fmla="*/ 3404 w 3404"/>
              <a:gd name="p0y5" fmla="*/ 337 h 435"/>
              <a:gd name="p0x6" fmla="*/ 3307 w 3404"/>
              <a:gd name="p0y6" fmla="*/ 435 h 435"/>
              <a:gd name="p0x7" fmla="*/ 3187 w 3404"/>
              <a:gd name="p0y7" fmla="*/ 435 h 435"/>
              <a:gd name="p0x8" fmla="*/ 217 w 3404"/>
              <a:gd name="p0y8" fmla="*/ 435 h 435"/>
              <a:gd name="p0x9" fmla="*/ 97 w 3404"/>
              <a:gd name="p0y9" fmla="*/ 435 h 435"/>
              <a:gd name="p0x10" fmla="*/ 0 w 3404"/>
              <a:gd name="p0y10" fmla="*/ 337 h 435"/>
              <a:gd name="p0x11" fmla="*/ 0 w 3404"/>
              <a:gd name="p0y11" fmla="*/ 217 h 435"/>
              <a:gd name="p0x12" fmla="*/ 0 w 3404"/>
              <a:gd name="p0y12" fmla="*/ 97 h 435"/>
              <a:gd name="p0x13" fmla="*/ 97 w 3404"/>
              <a:gd name="p0y13" fmla="*/ 0 h 435"/>
              <a:gd name="p0x14" fmla="*/ 217 w 3404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lumMod val="16268"/>
                <a:lumOff val="83732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9401175" y="4387215"/>
            <a:ext cx="2076374" cy="2076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200">
                <a:solidFill>
                  <a:srgbClr val="0A3D7A"/>
                </a:solidFill>
                <a:cs typeface="+mn-lt"/>
              </a:rPr>
              <a:t>产出：测试结论</a:t>
            </a:r>
            <a:r>
              <a:rPr lang="en-US" altLang="zh-CN" sz="1200">
                <a:solidFill>
                  <a:srgbClr val="0A3D7A"/>
                </a:solidFill>
                <a:cs typeface="+mn-lt"/>
              </a:rPr>
              <a:t>+</a:t>
            </a:r>
            <a:r>
              <a:rPr lang="zh-CN" altLang="en-US" sz="1200">
                <a:solidFill>
                  <a:srgbClr val="0A3D7A"/>
                </a:solidFill>
                <a:cs typeface="+mn-lt"/>
              </a:rPr>
              <a:t>待优化清单</a:t>
            </a:r>
            <a:endParaRPr lang="zh-CN" altLang="en-US" sz="1200">
              <a:solidFill>
                <a:srgbClr val="0A3D7A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数据质量红线与当前状态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4543425"/>
          </a:xfrm>
          <a:custGeom>
            <a:avLst/>
            <a:gdLst>
              <a:gd name="sw" fmla="*/ 1 w 17385"/>
              <a:gd name="sh" fmla="*/ 1 h 7155"/>
              <a:gd name="mins" fmla="min sw sh"/>
              <a:gd name="dsw" fmla="+- 0 sw mins"/>
              <a:gd name="dsh" fmla="+- 0 sh mins"/>
              <a:gd name="p0x0" fmla="*/ 300 w 17385"/>
              <a:gd name="p0y0" fmla="*/ 0 h 7155"/>
              <a:gd name="p0x1" fmla="*/ 17085 w 17385"/>
              <a:gd name="p0y1" fmla="*/ 0 h 7155"/>
              <a:gd name="p0x2" fmla="*/ 17250 w 17385"/>
              <a:gd name="p0y2" fmla="*/ 0 h 7155"/>
              <a:gd name="p0x3" fmla="*/ 17385 w 17385"/>
              <a:gd name="p0y3" fmla="*/ 134 h 7155"/>
              <a:gd name="p0x4" fmla="*/ 17385 w 17385"/>
              <a:gd name="p0y4" fmla="*/ 300 h 7155"/>
              <a:gd name="p0x5" fmla="*/ 17385 w 17385"/>
              <a:gd name="p0y5" fmla="*/ 6855 h 7155"/>
              <a:gd name="p0x6" fmla="*/ 17385 w 17385"/>
              <a:gd name="p0y6" fmla="*/ 7020 h 7155"/>
              <a:gd name="p0x7" fmla="*/ 17250 w 17385"/>
              <a:gd name="p0y7" fmla="*/ 7155 h 7155"/>
              <a:gd name="p0x8" fmla="*/ 17085 w 17385"/>
              <a:gd name="p0y8" fmla="*/ 7155 h 7155"/>
              <a:gd name="p0x9" fmla="*/ 300 w 17385"/>
              <a:gd name="p0y9" fmla="*/ 7155 h 7155"/>
              <a:gd name="p0x10" fmla="*/ 134 w 17385"/>
              <a:gd name="p0y10" fmla="*/ 7155 h 7155"/>
              <a:gd name="p0x11" fmla="*/ 0 w 17385"/>
              <a:gd name="p0y11" fmla="*/ 7020 h 7155"/>
              <a:gd name="p0x12" fmla="*/ 0 w 17385"/>
              <a:gd name="p0y12" fmla="*/ 6855 h 7155"/>
              <a:gd name="p0x13" fmla="*/ 0 w 17385"/>
              <a:gd name="p0y13" fmla="*/ 300 h 7155"/>
              <a:gd name="p0x14" fmla="*/ 0 w 17385"/>
              <a:gd name="p0y14" fmla="*/ 134 h 7155"/>
              <a:gd name="p0x15" fmla="*/ 134 w 17385"/>
              <a:gd name="p0y15" fmla="*/ 0 h 7155"/>
              <a:gd name="p0x16" fmla="*/ 300 w 17385"/>
              <a:gd name="p0y16" fmla="*/ 0 h 7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771525" y="1304925"/>
          <a:ext cx="10648950" cy="415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069"/>
                <a:gridCol w="2330272"/>
                <a:gridCol w="2068934"/>
                <a:gridCol w="4248673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检查项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最低标准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当前状态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应对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</a:tr>
              <a:tr h="908669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文档可解析率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tx2"/>
                          </a:solidFill>
                          <a:cs typeface="+mn-lt"/>
                        </a:rPr>
                        <a:t>≥95%</a:t>
                      </a:r>
                      <a:endParaRPr sz="1500" b="1" spc="-15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lang="zh-CN" altLang="en-US" sz="1500" b="1" spc="-15">
                          <a:solidFill>
                            <a:schemeClr val="tx2"/>
                          </a:solidFill>
                          <a:cs typeface="+mn-lt"/>
                        </a:rPr>
                        <a:t>约</a:t>
                      </a:r>
                      <a:r>
                        <a:rPr lang="en-US" altLang="zh-CN" sz="1500" b="1" spc="-15">
                          <a:solidFill>
                            <a:schemeClr val="tx2"/>
                          </a:solidFill>
                          <a:cs typeface="+mn-lt"/>
                        </a:rPr>
                        <a:t> 92%</a:t>
                      </a:r>
                      <a:endParaRPr lang="en-US" altLang="zh-CN" sz="1500" b="1" spc="-15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扫描件先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OCR</a:t>
                      </a:r>
                      <a:endParaRPr lang="en-US" altLang="zh-CN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908669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知识时效性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1" spc="-15">
                          <a:solidFill>
                            <a:schemeClr val="tx2"/>
                          </a:solidFill>
                          <a:cs typeface="+mn-lt"/>
                        </a:rPr>
                        <a:t>无超</a:t>
                      </a:r>
                      <a:r>
                        <a:rPr lang="en-US" altLang="zh-CN" sz="1500" b="1" spc="-15">
                          <a:solidFill>
                            <a:schemeClr val="tx2"/>
                          </a:solidFill>
                          <a:cs typeface="+mn-lt"/>
                        </a:rPr>
                        <a:t> 2 </a:t>
                      </a:r>
                      <a:r>
                        <a:rPr lang="zh-CN" altLang="en-US" sz="1500" b="1" spc="-15">
                          <a:solidFill>
                            <a:schemeClr val="tx2"/>
                          </a:solidFill>
                          <a:cs typeface="+mn-lt"/>
                        </a:rPr>
                        <a:t>年未更新</a:t>
                      </a:r>
                      <a:endParaRPr lang="zh-CN" altLang="en-US" sz="1500" b="1" spc="-15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lang="zh-CN" altLang="en-US" sz="1500" b="1" spc="-15">
                          <a:solidFill>
                            <a:schemeClr val="tx2"/>
                          </a:solidFill>
                          <a:cs typeface="+mn-lt"/>
                        </a:rPr>
                        <a:t>约</a:t>
                      </a:r>
                      <a:r>
                        <a:rPr lang="en-US" altLang="zh-CN" sz="1500" b="1" spc="-15">
                          <a:solidFill>
                            <a:schemeClr val="tx2"/>
                          </a:solidFill>
                          <a:cs typeface="+mn-lt"/>
                        </a:rPr>
                        <a:t> 85%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达标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标记过期不纳入检索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08669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信息一致性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无矛盾文档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发现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en-US" altLang="zh-CN" sz="1500" b="1" spc="-15">
                          <a:solidFill>
                            <a:schemeClr val="tx2"/>
                          </a:solidFill>
                          <a:cs typeface="+mn-lt"/>
                        </a:rPr>
                        <a:t>8 </a:t>
                      </a:r>
                      <a:r>
                        <a:rPr lang="zh-CN" altLang="en-US" sz="1500" b="1" spc="-15">
                          <a:solidFill>
                            <a:schemeClr val="tx2"/>
                          </a:solidFill>
                          <a:cs typeface="+mn-lt"/>
                        </a:rPr>
                        <a:t>处</a:t>
                      </a:r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冲突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人工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Review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去重，保留最新版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908744"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QA 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覆盖率</a:t>
                      </a:r>
                      <a:endParaRPr lang="zh-CN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tx2"/>
                          </a:solidFill>
                          <a:cs typeface="+mn-lt"/>
                        </a:rPr>
                        <a:t>Top 50</a:t>
                      </a:r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全覆盖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r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覆盖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en-US" altLang="zh-CN" sz="1500" b="1" spc="-15">
                          <a:solidFill>
                            <a:schemeClr val="tx2"/>
                          </a:solidFill>
                          <a:cs typeface="+mn-lt"/>
                        </a:rPr>
                        <a:t>46 </a:t>
                      </a:r>
                      <a:r>
                        <a:rPr lang="zh-CN" altLang="en-US" sz="1500" b="1" spc="-15">
                          <a:solidFill>
                            <a:schemeClr val="tx2"/>
                          </a:solidFill>
                          <a:cs typeface="+mn-lt"/>
                        </a:rPr>
                        <a:t>个</a:t>
                      </a:r>
                      <a:endParaRPr lang="zh-CN" altLang="en-US" sz="1500" b="1" spc="-15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人工补缺失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QA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对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1500" y="581025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62000" y="5985510"/>
            <a:ext cx="6629695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cs typeface="+mn-lt"/>
              </a:rPr>
              <a:t>四项指标中</a:t>
            </a:r>
            <a:r>
              <a:rPr b="1">
                <a:solidFill>
                  <a:srgbClr val="0A1E33"/>
                </a:solidFill>
                <a:cs typeface="+mn-lt"/>
              </a:rPr>
              <a:t>三项未达标</a:t>
            </a:r>
            <a:r>
              <a:rPr>
                <a:solidFill>
                  <a:srgbClr val="FFFFFF"/>
                </a:solidFill>
                <a:cs typeface="+mn-lt"/>
              </a:rPr>
              <a:t>，</a:t>
            </a:r>
            <a:r>
              <a:rPr b="1">
                <a:solidFill>
                  <a:srgbClr val="0A1E33"/>
                </a:solidFill>
                <a:cs typeface="+mn-lt"/>
              </a:rPr>
              <a:t>知识库治理是上线前的刚性前置工作</a:t>
            </a:r>
            <a:endParaRPr b="1">
              <a:solidFill>
                <a:srgbClr val="0A1E33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数据安全与合规五约束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71500" y="1104900"/>
          <a:ext cx="11049000" cy="4552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895"/>
                <a:gridCol w="5043935"/>
                <a:gridCol w="4480169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约束项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要求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实现方式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</a:tr>
              <a:tr h="80694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租户隔离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A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企业知识绝不进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B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企业回答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tenant_id 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过滤，独立向量集合</a:t>
                      </a:r>
                      <a:endParaRPr lang="zh-CN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80694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隐私脱敏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手机号、身份证、银行卡、地址脱敏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输出层正则替换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+ Prompt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约束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0694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数据权限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客服只能看权限内用户数据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继承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CRM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权限体系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806946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对话存储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加密存储，</a:t>
                      </a:r>
                      <a:r>
                        <a:rPr lang="en-US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90 </a:t>
                      </a:r>
                      <a:r>
                        <a:rPr lang="zh-CN" altLang="en-US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天</a:t>
                      </a:r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后归档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AES-256</a:t>
                      </a:r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加密，定时归档删除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07020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模型数据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不用对话数据训练基础模型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合同明确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API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不用于厂商训练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581025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62000" y="5985510"/>
            <a:ext cx="8001229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cs typeface="+mn-lt"/>
              </a:rPr>
              <a:t>五重保障覆盖</a:t>
            </a:r>
            <a:r>
              <a:rPr b="1">
                <a:solidFill>
                  <a:srgbClr val="0A1E33"/>
                </a:solidFill>
                <a:cs typeface="+mn-lt"/>
              </a:rPr>
              <a:t>隔离、脱敏、权限、存储、模型</a:t>
            </a:r>
            <a:r>
              <a:rPr>
                <a:solidFill>
                  <a:srgbClr val="FFFFFF"/>
                </a:solidFill>
                <a:cs typeface="+mn-lt"/>
              </a:rPr>
              <a:t>全链路，满足企业级合规要求</a:t>
            </a:r>
            <a:endParaRPr>
              <a:solidFill>
                <a:srgbClr val="FFFFFF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数据标注与</a:t>
            </a:r>
            <a:r>
              <a:rPr lang="en-US" altLang="zh-CN"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 Bad Case </a:t>
            </a:r>
            <a:r>
              <a:rPr lang="zh-CN" altLang="en-US"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回流</a:t>
            </a:r>
            <a:endParaRPr lang="zh-CN" altLang="en-US"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71500" y="1104900"/>
          <a:ext cx="11049000" cy="2628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611"/>
                <a:gridCol w="4336922"/>
                <a:gridCol w="2189930"/>
                <a:gridCol w="2678534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标注对象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标注内容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确认人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用途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</a:tr>
              <a:tr h="1055341"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历史高频问题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分类、标准答案、来源、</a:t>
                      </a:r>
                      <a:r>
                        <a:rPr lang="zh-CN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是否适</a:t>
                      </a:r>
                      <a:r>
                        <a:rPr lang="en-US" altLang="zh-CN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 AI </a:t>
                      </a:r>
                      <a:r>
                        <a:rPr lang="zh-CN" altLang="en-US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回复</a:t>
                      </a:r>
                      <a:endParaRPr lang="zh-CN" altLang="en-US" sz="1500" b="1" spc="-15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运营初标，主管抽检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形成测试集评估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AI</a:t>
                      </a:r>
                      <a:endParaRPr lang="en-US" altLang="zh-CN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1055417"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点踩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转人工对话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失败原因：知识缺失、理解错误、话术不佳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运营每周复盘</a:t>
                      </a:r>
                      <a:endParaRPr sz="1500" b="1" spc="-15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入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Bad Case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池反向修库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5945" y="3890645"/>
            <a:ext cx="11039475" cy="2581275"/>
          </a:xfrm>
          <a:custGeom>
            <a:avLst/>
            <a:gdLst>
              <a:gd name="sw" fmla="*/ 1 w 17385"/>
              <a:gd name="sh" fmla="*/ 1 h 4065"/>
              <a:gd name="mins" fmla="min sw sh"/>
              <a:gd name="dsw" fmla="+- 0 sw mins"/>
              <a:gd name="dsh" fmla="+- 0 sh mins"/>
              <a:gd name="p0x0" fmla="*/ 300 w 17385"/>
              <a:gd name="p0y0" fmla="*/ 0 h 4065"/>
              <a:gd name="p0x1" fmla="*/ 17085 w 17385"/>
              <a:gd name="p0y1" fmla="*/ 0 h 4065"/>
              <a:gd name="p0x2" fmla="*/ 17250 w 17385"/>
              <a:gd name="p0y2" fmla="*/ 0 h 4065"/>
              <a:gd name="p0x3" fmla="*/ 17385 w 17385"/>
              <a:gd name="p0y3" fmla="*/ 134 h 4065"/>
              <a:gd name="p0x4" fmla="*/ 17385 w 17385"/>
              <a:gd name="p0y4" fmla="*/ 300 h 4065"/>
              <a:gd name="p0x5" fmla="*/ 17385 w 17385"/>
              <a:gd name="p0y5" fmla="*/ 3765 h 4065"/>
              <a:gd name="p0x6" fmla="*/ 17385 w 17385"/>
              <a:gd name="p0y6" fmla="*/ 3930 h 4065"/>
              <a:gd name="p0x7" fmla="*/ 17250 w 17385"/>
              <a:gd name="p0y7" fmla="*/ 4065 h 4065"/>
              <a:gd name="p0x8" fmla="*/ 17085 w 17385"/>
              <a:gd name="p0y8" fmla="*/ 4065 h 4065"/>
              <a:gd name="p0x9" fmla="*/ 300 w 17385"/>
              <a:gd name="p0y9" fmla="*/ 4065 h 4065"/>
              <a:gd name="p0x10" fmla="*/ 134 w 17385"/>
              <a:gd name="p0y10" fmla="*/ 4065 h 4065"/>
              <a:gd name="p0x11" fmla="*/ 0 w 17385"/>
              <a:gd name="p0y11" fmla="*/ 3930 h 4065"/>
              <a:gd name="p0x12" fmla="*/ 0 w 17385"/>
              <a:gd name="p0y12" fmla="*/ 3765 h 4065"/>
              <a:gd name="p0x13" fmla="*/ 0 w 17385"/>
              <a:gd name="p0y13" fmla="*/ 300 h 4065"/>
              <a:gd name="p0x14" fmla="*/ 0 w 17385"/>
              <a:gd name="p0y14" fmla="*/ 134 h 4065"/>
              <a:gd name="p0x15" fmla="*/ 134 w 17385"/>
              <a:gd name="p0y15" fmla="*/ 0 h 4065"/>
              <a:gd name="p0x16" fmla="*/ 300 w 173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771525" y="4086225"/>
            <a:ext cx="10648950" cy="427990"/>
            <a:chOff x="1215" y="6435"/>
            <a:chExt cx="16770" cy="674"/>
          </a:xfrm>
        </p:grpSpPr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1215" y="6435"/>
              <a:ext cx="16770" cy="675"/>
            </a:xfrm>
            <a:custGeom>
              <a:avLst/>
              <a:gdLst>
                <a:gd name="sw" fmla="*/ 1 w 16770"/>
                <a:gd name="sh" fmla="*/ 1 h 675"/>
                <a:gd name="mins" fmla="min sw sh"/>
                <a:gd name="dsw" fmla="+- 0 sw mins"/>
                <a:gd name="dsh" fmla="+- 0 sh mins"/>
                <a:gd name="p0x0" fmla="*/ 0 w 16770"/>
                <a:gd name="p0y0" fmla="*/ 0 h 675"/>
                <a:gd name="p0x1" fmla="*/ 16770 w 16770"/>
                <a:gd name="p0y1" fmla="*/ 0 h 675"/>
                <a:gd name="p0x2" fmla="*/ 16770 w 16770"/>
                <a:gd name="p0y2" fmla="*/ 675 h 675"/>
                <a:gd name="p0x3" fmla="*/ 0 w 16770"/>
                <a:gd name="p0y3" fmla="*/ 675 h 675"/>
                <a:gd name="p0x4" fmla="*/ 0 w 16770"/>
                <a:gd name="p0y4" fmla="*/ 0 h 6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5"/>
              </p:custDataLst>
            </p:nvPr>
          </p:nvSpPr>
          <p:spPr>
            <a:xfrm>
              <a:off x="1215" y="7095"/>
              <a:ext cx="16770" cy="15"/>
            </a:xfrm>
            <a:custGeom>
              <a:avLst/>
              <a:gdLst>
                <a:gd name="sw" fmla="*/ 1 w 16770"/>
                <a:gd name="sh" fmla="*/ 1 h 15"/>
                <a:gd name="mins" fmla="min sw sh"/>
                <a:gd name="dsw" fmla="+- 0 sw mins"/>
                <a:gd name="dsh" fmla="+- 0 sh mins"/>
                <a:gd name="p0x0" fmla="*/ 16770 w 16770"/>
                <a:gd name="p0y0" fmla="*/ 15 h 15"/>
                <a:gd name="p0x1" fmla="*/ 0 w 16770"/>
                <a:gd name="p0y1" fmla="*/ 15 h 15"/>
                <a:gd name="p0x2" fmla="*/ 0 w 16770"/>
                <a:gd name="p0y2" fmla="*/ 0 h 15"/>
                <a:gd name="p0x3" fmla="*/ 16770 w 16770"/>
                <a:gd name="p0y3" fmla="*/ 0 h 15"/>
                <a:gd name="p0x4" fmla="*/ 16770 w 1677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771525" y="4086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40 w 540"/>
              <a:gd name="p0y0" fmla="*/ 0 h 540"/>
              <a:gd name="p0x1" fmla="*/ 300 w 540"/>
              <a:gd name="p0y1" fmla="*/ 0 h 540"/>
              <a:gd name="p0x2" fmla="*/ 432 w 540"/>
              <a:gd name="p0y2" fmla="*/ 0 h 540"/>
              <a:gd name="p0x3" fmla="*/ 540 w 540"/>
              <a:gd name="p0y3" fmla="*/ 107 h 540"/>
              <a:gd name="p0x4" fmla="*/ 540 w 540"/>
              <a:gd name="p0y4" fmla="*/ 240 h 540"/>
              <a:gd name="p0x5" fmla="*/ 540 w 540"/>
              <a:gd name="p0y5" fmla="*/ 300 h 540"/>
              <a:gd name="p0x6" fmla="*/ 540 w 540"/>
              <a:gd name="p0y6" fmla="*/ 432 h 540"/>
              <a:gd name="p0x7" fmla="*/ 432 w 540"/>
              <a:gd name="p0y7" fmla="*/ 540 h 540"/>
              <a:gd name="p0x8" fmla="*/ 300 w 540"/>
              <a:gd name="p0y8" fmla="*/ 540 h 540"/>
              <a:gd name="p0x9" fmla="*/ 240 w 540"/>
              <a:gd name="p0y9" fmla="*/ 540 h 540"/>
              <a:gd name="p0x10" fmla="*/ 107 w 540"/>
              <a:gd name="p0y10" fmla="*/ 540 h 540"/>
              <a:gd name="p0x11" fmla="*/ 0 w 540"/>
              <a:gd name="p0y11" fmla="*/ 432 h 540"/>
              <a:gd name="p0x12" fmla="*/ 0 w 540"/>
              <a:gd name="p0y12" fmla="*/ 300 h 540"/>
              <a:gd name="p0x13" fmla="*/ 0 w 540"/>
              <a:gd name="p0y13" fmla="*/ 240 h 540"/>
              <a:gd name="p0x14" fmla="*/ 0 w 540"/>
              <a:gd name="p0y14" fmla="*/ 107 h 540"/>
              <a:gd name="p0x15" fmla="*/ 107 w 540"/>
              <a:gd name="p0y15" fmla="*/ 0 h 540"/>
              <a:gd name="p0x16" fmla="*/ 24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7895" t="-9298" r="-7895" b="-9298"/>
          <a:stretch>
            <a:fillRect/>
          </a:stretch>
        </p:blipFill>
        <p:spPr>
          <a:xfrm>
            <a:off x="838200" y="4147820"/>
            <a:ext cx="209550" cy="2146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190625" y="4074795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B3A5C"/>
                </a:solidFill>
                <a:cs typeface="+mn-lt"/>
              </a:rPr>
              <a:t>标注示例</a:t>
            </a:r>
            <a:endParaRPr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771525" y="4916170"/>
            <a:ext cx="10648950" cy="404495"/>
          </a:xfrm>
          <a:custGeom>
            <a:avLst/>
            <a:gdLst>
              <a:gd name="sw" fmla="*/ 1 w 16770"/>
              <a:gd name="sh" fmla="*/ 1 h 637"/>
              <a:gd name="mins" fmla="min sw sh"/>
              <a:gd name="dsw" fmla="+- 0 sw mins"/>
              <a:gd name="dsh" fmla="+- 0 sh mins"/>
              <a:gd name="p0x0" fmla="*/ 120 w 16770"/>
              <a:gd name="p0y0" fmla="*/ 0 h 637"/>
              <a:gd name="p0x1" fmla="*/ 16650 w 16770"/>
              <a:gd name="p0y1" fmla="*/ 0 h 637"/>
              <a:gd name="p0x2" fmla="*/ 16716 w 16770"/>
              <a:gd name="p0y2" fmla="*/ 0 h 637"/>
              <a:gd name="p0x3" fmla="*/ 16770 w 16770"/>
              <a:gd name="p0y3" fmla="*/ 53 h 637"/>
              <a:gd name="p0x4" fmla="*/ 16770 w 16770"/>
              <a:gd name="p0y4" fmla="*/ 120 h 637"/>
              <a:gd name="p0x5" fmla="*/ 16770 w 16770"/>
              <a:gd name="p0y5" fmla="*/ 517 h 637"/>
              <a:gd name="p0x6" fmla="*/ 16770 w 16770"/>
              <a:gd name="p0y6" fmla="*/ 583 h 637"/>
              <a:gd name="p0x7" fmla="*/ 16716 w 16770"/>
              <a:gd name="p0y7" fmla="*/ 637 h 637"/>
              <a:gd name="p0x8" fmla="*/ 16650 w 16770"/>
              <a:gd name="p0y8" fmla="*/ 637 h 637"/>
              <a:gd name="p0x9" fmla="*/ 120 w 16770"/>
              <a:gd name="p0y9" fmla="*/ 637 h 637"/>
              <a:gd name="p0x10" fmla="*/ 53 w 16770"/>
              <a:gd name="p0y10" fmla="*/ 637 h 637"/>
              <a:gd name="p0x11" fmla="*/ 0 w 16770"/>
              <a:gd name="p0y11" fmla="*/ 583 h 637"/>
              <a:gd name="p0x12" fmla="*/ 0 w 16770"/>
              <a:gd name="p0y12" fmla="*/ 517 h 637"/>
              <a:gd name="p0x13" fmla="*/ 0 w 16770"/>
              <a:gd name="p0y13" fmla="*/ 120 h 637"/>
              <a:gd name="p0x14" fmla="*/ 0 w 16770"/>
              <a:gd name="p0y14" fmla="*/ 53 h 637"/>
              <a:gd name="p0x15" fmla="*/ 53 w 16770"/>
              <a:gd name="p0y15" fmla="*/ 0 h 637"/>
              <a:gd name="p0x16" fmla="*/ 120 w 16770"/>
              <a:gd name="p0y16" fmla="*/ 0 h 6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885825" y="4992662"/>
            <a:ext cx="131370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chemeClr val="tx2"/>
                </a:solidFill>
                <a:cs typeface="+mn-lt"/>
              </a:rPr>
              <a:t>「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T 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恤缩水」</a:t>
            </a:r>
            <a:endParaRPr lang="zh-CN" altLang="en-US" sz="1500" b="1">
              <a:solidFill>
                <a:schemeClr val="tx2"/>
              </a:solidFill>
              <a:cs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941" t="-27222" r="-2941" b="-27222"/>
          <a:stretch>
            <a:fillRect/>
          </a:stretch>
        </p:blipFill>
        <p:spPr>
          <a:xfrm>
            <a:off x="2106295" y="5027930"/>
            <a:ext cx="171450" cy="1765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2375745" y="4992662"/>
            <a:ext cx="290497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4A6B8A"/>
                </a:solidFill>
                <a:cs typeface="+mn-lt"/>
              </a:rPr>
              <a:t>标注为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 </a:t>
            </a:r>
            <a:r>
              <a:rPr lang="zh-CN" altLang="zh-CN" sz="1500" b="1" spc="-15">
                <a:solidFill>
                  <a:schemeClr val="accent1"/>
                </a:solidFill>
                <a:cs typeface="+mn-lt"/>
              </a:rPr>
              <a:t>投诉</a:t>
            </a:r>
            <a:r>
              <a:rPr lang="en-US" altLang="zh-CN" sz="1500" b="1" spc="-15">
                <a:solidFill>
                  <a:schemeClr val="accent1"/>
                </a:solidFill>
                <a:cs typeface="+mn-lt"/>
              </a:rPr>
              <a:t> / </a:t>
            </a:r>
            <a:r>
              <a:rPr lang="zh-CN" altLang="en-US" sz="1500" b="1" spc="-15">
                <a:solidFill>
                  <a:schemeClr val="accent1"/>
                </a:solidFill>
                <a:cs typeface="+mn-lt"/>
              </a:rPr>
              <a:t>质量问题</a:t>
            </a:r>
            <a:r>
              <a:rPr lang="en-US" altLang="zh-CN" sz="1500" b="1" spc="-15">
                <a:solidFill>
                  <a:schemeClr val="accent1"/>
                </a:solidFill>
                <a:cs typeface="+mn-lt"/>
              </a:rPr>
              <a:t> / </a:t>
            </a:r>
            <a:r>
              <a:rPr lang="zh-CN" altLang="en-US" sz="1500" b="1" spc="-15">
                <a:solidFill>
                  <a:schemeClr val="accent1"/>
                </a:solidFill>
                <a:cs typeface="+mn-lt"/>
              </a:rPr>
              <a:t>需审核</a:t>
            </a:r>
            <a:endParaRPr lang="zh-CN" altLang="en-US" sz="1500" b="1" spc="-15">
              <a:solidFill>
                <a:schemeClr val="accent1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809625" y="5684787"/>
            <a:ext cx="571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chemeClr val="tx2"/>
                </a:solidFill>
                <a:cs typeface="+mn-lt"/>
              </a:rPr>
              <a:t>原因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1266825" y="5670499"/>
            <a:ext cx="467267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4A6B8A"/>
                </a:solidFill>
                <a:cs typeface="+mn-lt"/>
              </a:rPr>
              <a:t>涉及赔偿和情绪，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AI </a:t>
            </a:r>
            <a:r>
              <a:rPr lang="zh-CN" altLang="en-US" sz="1500">
                <a:solidFill>
                  <a:srgbClr val="4A6B8A"/>
                </a:solidFill>
                <a:cs typeface="+mn-lt"/>
              </a:rPr>
              <a:t>可给建议但</a:t>
            </a:r>
            <a:r>
              <a:rPr lang="en-US" altLang="zh-CN" sz="1500">
                <a:solidFill>
                  <a:srgbClr val="4A6B8A"/>
                </a:solidFill>
                <a:cs typeface="+mn-lt"/>
              </a:rPr>
              <a:t> </a:t>
            </a:r>
            <a:r>
              <a:rPr sz="1500" b="1" spc="-15">
                <a:solidFill>
                  <a:schemeClr val="tx2"/>
                </a:solidFill>
                <a:cs typeface="+mn-lt"/>
              </a:rPr>
              <a:t>不应直接承诺赔付</a:t>
            </a:r>
            <a:endParaRPr sz="1500" b="1" spc="-15">
              <a:solidFill>
                <a:schemeClr val="tx2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8801100" y="-685800"/>
            <a:ext cx="4000500" cy="4000500"/>
          </a:xfrm>
          <a:custGeom>
            <a:avLst/>
            <a:gdLst>
              <a:gd name="sw" fmla="*/ 1 w 6300"/>
              <a:gd name="sh" fmla="*/ 1 h 6300"/>
              <a:gd name="mins" fmla="min sw sh"/>
              <a:gd name="dsw" fmla="+- 0 sw mins"/>
              <a:gd name="dsh" fmla="+- 0 sh mins"/>
              <a:gd name="p0x0" fmla="*/ 3150 w 6300"/>
              <a:gd name="p0y0" fmla="*/ 0 h 6300"/>
              <a:gd name="p0x1" fmla="*/ 4889 w 6300"/>
              <a:gd name="p0y1" fmla="*/ 0 h 6300"/>
              <a:gd name="p0x2" fmla="*/ 6300 w 6300"/>
              <a:gd name="p0y2" fmla="*/ 1410 h 6300"/>
              <a:gd name="p0x3" fmla="*/ 6300 w 6300"/>
              <a:gd name="p0y3" fmla="*/ 3150 h 6300"/>
              <a:gd name="p0x4" fmla="*/ 6300 w 6300"/>
              <a:gd name="p0y4" fmla="*/ 4889 h 6300"/>
              <a:gd name="p0x5" fmla="*/ 4889 w 6300"/>
              <a:gd name="p0y5" fmla="*/ 6300 h 6300"/>
              <a:gd name="p0x6" fmla="*/ 3150 w 6300"/>
              <a:gd name="p0y6" fmla="*/ 6300 h 6300"/>
              <a:gd name="p0x7" fmla="*/ 1410 w 6300"/>
              <a:gd name="p0y7" fmla="*/ 6300 h 6300"/>
              <a:gd name="p0x8" fmla="*/ 0 w 6300"/>
              <a:gd name="p0y8" fmla="*/ 4889 h 6300"/>
              <a:gd name="p0x9" fmla="*/ 0 w 6300"/>
              <a:gd name="p0y9" fmla="*/ 3150 h 6300"/>
              <a:gd name="p0x10" fmla="*/ 0 w 6300"/>
              <a:gd name="p0y10" fmla="*/ 1410 h 6300"/>
              <a:gd name="p0x11" fmla="*/ 1410 w 6300"/>
              <a:gd name="p0y11" fmla="*/ 0 h 6300"/>
              <a:gd name="p0x12" fmla="*/ 3150 w 6300"/>
              <a:gd name="p0y12" fmla="*/ 0 h 6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571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4"/>
            </p:custDataLst>
          </p:nvPr>
        </p:nvSpPr>
        <p:spPr>
          <a:xfrm>
            <a:off x="-365125" y="3977005"/>
            <a:ext cx="3428365" cy="3429000"/>
          </a:xfrm>
          <a:custGeom>
            <a:avLst/>
            <a:gdLst>
              <a:gd name="sw" fmla="*/ 1 w 5400"/>
              <a:gd name="sh" fmla="*/ 1 h 5400"/>
              <a:gd name="mins" fmla="min sw sh"/>
              <a:gd name="dsw" fmla="+- 0 sw mins"/>
              <a:gd name="dsh" fmla="+- 0 sh mins"/>
              <a:gd name="p0x0" fmla="*/ 2700 w 5400"/>
              <a:gd name="p0y0" fmla="*/ 0 h 5400"/>
              <a:gd name="p0x1" fmla="*/ 4191 w 5400"/>
              <a:gd name="p0y1" fmla="*/ 0 h 5400"/>
              <a:gd name="p0x2" fmla="*/ 5400 w 5400"/>
              <a:gd name="p0y2" fmla="*/ 1208 h 5400"/>
              <a:gd name="p0x3" fmla="*/ 5400 w 5400"/>
              <a:gd name="p0y3" fmla="*/ 2700 h 5400"/>
              <a:gd name="p0x4" fmla="*/ 5400 w 5400"/>
              <a:gd name="p0y4" fmla="*/ 4191 h 5400"/>
              <a:gd name="p0x5" fmla="*/ 4191 w 5400"/>
              <a:gd name="p0y5" fmla="*/ 5400 h 5400"/>
              <a:gd name="p0x6" fmla="*/ 2700 w 5400"/>
              <a:gd name="p0y6" fmla="*/ 5400 h 5400"/>
              <a:gd name="p0x7" fmla="*/ 1208 w 5400"/>
              <a:gd name="p0y7" fmla="*/ 5400 h 5400"/>
              <a:gd name="p0x8" fmla="*/ 0 w 5400"/>
              <a:gd name="p0y8" fmla="*/ 4191 h 5400"/>
              <a:gd name="p0x9" fmla="*/ 0 w 5400"/>
              <a:gd name="p0y9" fmla="*/ 2700 h 5400"/>
              <a:gd name="p0x10" fmla="*/ 0 w 5400"/>
              <a:gd name="p0y10" fmla="*/ 1208 h 5400"/>
              <a:gd name="p0x11" fmla="*/ 1208 w 5400"/>
              <a:gd name="p0y11" fmla="*/ 0 h 5400"/>
              <a:gd name="p0x12" fmla="*/ 2700 w 5400"/>
              <a:gd name="p0y12" fmla="*/ 0 h 54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47625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809625" y="16502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666750" y="3508534"/>
            <a:ext cx="53340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产品入口与落地方案</a:t>
            </a:r>
            <a:endParaRPr sz="42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666750" y="4436110"/>
            <a:ext cx="2914650" cy="9525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666750" y="4583906"/>
            <a:ext cx="31051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B8A"/>
                </a:solidFill>
                <a:cs typeface="+mn-lt"/>
              </a:rPr>
              <a:t>先稳定，再智能；先问答，再动作</a:t>
            </a:r>
            <a:endParaRPr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666750" y="4888706"/>
            <a:ext cx="29146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B8A"/>
                </a:solidFill>
                <a:cs typeface="+mn-lt"/>
              </a:rPr>
              <a:t>入口选择与处理链路</a:t>
            </a:r>
            <a:endParaRPr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 rot="2700000">
            <a:off x="666115" y="1714500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3"/>
            </p:custDataLst>
          </p:nvPr>
        </p:nvSpPr>
        <p:spPr>
          <a:xfrm>
            <a:off x="1819910" y="173355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4"/>
            </p:custDataLst>
          </p:nvPr>
        </p:nvSpPr>
        <p:spPr>
          <a:xfrm>
            <a:off x="666750" y="2097881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1A73E8">
                    <a:alpha val="12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04</a:t>
            </a:r>
            <a:endParaRPr sz="9000" b="1">
              <a:solidFill>
                <a:srgbClr val="1A73E8">
                  <a:alpha val="12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四大产品入口与取舍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4505325"/>
          </a:xfrm>
          <a:custGeom>
            <a:avLst/>
            <a:gdLst>
              <a:gd name="sw" fmla="*/ 1 w 17385"/>
              <a:gd name="sh" fmla="*/ 1 h 7095"/>
              <a:gd name="mins" fmla="min sw sh"/>
              <a:gd name="dsw" fmla="+- 0 sw mins"/>
              <a:gd name="dsh" fmla="+- 0 sh mins"/>
              <a:gd name="p0x0" fmla="*/ 300 w 17385"/>
              <a:gd name="p0y0" fmla="*/ 0 h 7095"/>
              <a:gd name="p0x1" fmla="*/ 17085 w 17385"/>
              <a:gd name="p0y1" fmla="*/ 0 h 7095"/>
              <a:gd name="p0x2" fmla="*/ 17250 w 17385"/>
              <a:gd name="p0y2" fmla="*/ 0 h 7095"/>
              <a:gd name="p0x3" fmla="*/ 17385 w 17385"/>
              <a:gd name="p0y3" fmla="*/ 134 h 7095"/>
              <a:gd name="p0x4" fmla="*/ 17385 w 17385"/>
              <a:gd name="p0y4" fmla="*/ 300 h 7095"/>
              <a:gd name="p0x5" fmla="*/ 17385 w 17385"/>
              <a:gd name="p0y5" fmla="*/ 6795 h 7095"/>
              <a:gd name="p0x6" fmla="*/ 17385 w 17385"/>
              <a:gd name="p0y6" fmla="*/ 6960 h 7095"/>
              <a:gd name="p0x7" fmla="*/ 17250 w 17385"/>
              <a:gd name="p0y7" fmla="*/ 7095 h 7095"/>
              <a:gd name="p0x8" fmla="*/ 17085 w 17385"/>
              <a:gd name="p0y8" fmla="*/ 7095 h 7095"/>
              <a:gd name="p0x9" fmla="*/ 300 w 17385"/>
              <a:gd name="p0y9" fmla="*/ 7095 h 7095"/>
              <a:gd name="p0x10" fmla="*/ 134 w 17385"/>
              <a:gd name="p0y10" fmla="*/ 7095 h 7095"/>
              <a:gd name="p0x11" fmla="*/ 0 w 17385"/>
              <a:gd name="p0y11" fmla="*/ 6960 h 7095"/>
              <a:gd name="p0x12" fmla="*/ 0 w 17385"/>
              <a:gd name="p0y12" fmla="*/ 6795 h 7095"/>
              <a:gd name="p0x13" fmla="*/ 0 w 17385"/>
              <a:gd name="p0y13" fmla="*/ 300 h 7095"/>
              <a:gd name="p0x14" fmla="*/ 0 w 17385"/>
              <a:gd name="p0y14" fmla="*/ 134 h 7095"/>
              <a:gd name="p0x15" fmla="*/ 134 w 17385"/>
              <a:gd name="p0y15" fmla="*/ 0 h 7095"/>
              <a:gd name="p0x16" fmla="*/ 300 w 17385"/>
              <a:gd name="p0y16" fmla="*/ 0 h 7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771525" y="1304925"/>
          <a:ext cx="1064895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7443"/>
                <a:gridCol w="2017071"/>
                <a:gridCol w="6224435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入口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面向对象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设计说明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</a:tr>
              <a:tr h="899144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tx2"/>
                          </a:solidFill>
                          <a:cs typeface="+mn-lt"/>
                        </a:rPr>
                        <a:t>在线客服聊天窗</a:t>
                      </a:r>
                      <a:endParaRPr sz="15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C 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端用户</a:t>
                      </a:r>
                      <a:endParaRPr lang="zh-CN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chemeClr val="tx2"/>
                          </a:solidFill>
                          <a:cs typeface="+mn-lt"/>
                        </a:rPr>
                        <a:t>V1 </a:t>
                      </a:r>
                      <a:r>
                        <a:rPr lang="zh-CN" sz="1500" b="1">
                          <a:solidFill>
                            <a:schemeClr val="tx2"/>
                          </a:solidFill>
                          <a:cs typeface="+mn-lt"/>
                        </a:rPr>
                        <a:t>主入口</a:t>
                      </a:r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，</a:t>
                      </a:r>
                      <a:r>
                        <a:rPr lang="en-US" sz="1500" b="1">
                          <a:solidFill>
                            <a:schemeClr val="tx2"/>
                          </a:solidFill>
                          <a:cs typeface="+mn-lt"/>
                        </a:rPr>
                        <a:t>AI </a:t>
                      </a:r>
                      <a:r>
                        <a:rPr lang="zh-CN" altLang="en-US" sz="1500" b="1">
                          <a:solidFill>
                            <a:schemeClr val="tx2"/>
                          </a:solidFill>
                          <a:cs typeface="+mn-lt"/>
                        </a:rPr>
                        <a:t>先接高频</a:t>
                      </a:r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，处理不了转人工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899144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tx2"/>
                          </a:solidFill>
                          <a:cs typeface="+mn-lt"/>
                        </a:rPr>
                        <a:t>工作台侧边栏</a:t>
                      </a:r>
                      <a:endParaRPr sz="15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客服人员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用户摘要、推荐话术、参考来源，可采纳与否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99144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tx2"/>
                          </a:solidFill>
                          <a:cs typeface="+mn-lt"/>
                        </a:rPr>
                        <a:t>知识库运营后台</a:t>
                      </a:r>
                      <a:endParaRPr sz="15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AI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运营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主管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维护文档、查看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Bad Case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、复盘答错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899219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tx2"/>
                          </a:solidFill>
                          <a:cs typeface="+mn-lt"/>
                        </a:rPr>
                        <a:t>平台统一登录</a:t>
                      </a:r>
                      <a:endParaRPr sz="1500" b="1">
                        <a:solidFill>
                          <a:schemeClr val="tx2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管理员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客服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共享平台租户与权限体系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1500" y="581025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62000" y="5985510"/>
            <a:ext cx="7879337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cs typeface="+mn-lt"/>
              </a:rPr>
              <a:t>取舍：</a:t>
            </a:r>
            <a:r>
              <a:rPr lang="en-US" b="1">
                <a:solidFill>
                  <a:srgbClr val="0A1E33"/>
                </a:solidFill>
                <a:cs typeface="+mn-lt"/>
              </a:rPr>
              <a:t>V1 </a:t>
            </a:r>
            <a:r>
              <a:rPr lang="zh-CN" altLang="en-US" b="1">
                <a:solidFill>
                  <a:srgbClr val="0A1E33"/>
                </a:solidFill>
                <a:cs typeface="+mn-lt"/>
              </a:rPr>
              <a:t>贴近现有客服流程，不单独做全新</a:t>
            </a:r>
            <a:r>
              <a:rPr lang="en-US" altLang="zh-CN" b="1">
                <a:solidFill>
                  <a:srgbClr val="0A1E33"/>
                </a:solidFill>
                <a:cs typeface="+mn-lt"/>
              </a:rPr>
              <a:t> AI </a:t>
            </a:r>
            <a:r>
              <a:rPr lang="zh-CN" altLang="en-US" b="1">
                <a:solidFill>
                  <a:srgbClr val="0A1E33"/>
                </a:solidFill>
                <a:cs typeface="+mn-lt"/>
              </a:rPr>
              <a:t>客服</a:t>
            </a:r>
            <a:r>
              <a:rPr lang="en-US" altLang="zh-CN" b="1">
                <a:solidFill>
                  <a:srgbClr val="0A1E33"/>
                </a:solidFill>
                <a:cs typeface="+mn-lt"/>
              </a:rPr>
              <a:t> App</a:t>
            </a:r>
            <a:r>
              <a:rPr>
                <a:solidFill>
                  <a:srgbClr val="FFFFFF"/>
                </a:solidFill>
                <a:cs typeface="+mn-lt"/>
              </a:rPr>
              <a:t>，降低使用成本</a:t>
            </a:r>
            <a:endParaRPr>
              <a:solidFill>
                <a:srgbClr val="FFFFFF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AI</a:t>
            </a:r>
            <a:r>
              <a:rPr lang="zh-CN"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处理链路全流程</a:t>
            </a:r>
            <a:endParaRPr lang="zh-CN"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39" name="任意多边形 38"/>
          <p:cNvSpPr/>
          <p:nvPr>
            <p:custDataLst>
              <p:tags r:id="rId2"/>
            </p:custDataLst>
          </p:nvPr>
        </p:nvSpPr>
        <p:spPr>
          <a:xfrm>
            <a:off x="571500" y="6019800"/>
            <a:ext cx="11049000" cy="457200"/>
          </a:xfrm>
          <a:custGeom>
            <a:avLst/>
            <a:gdLst>
              <a:gd name="sw" fmla="*/ 1 w 17400"/>
              <a:gd name="sh" fmla="*/ 1 h 720"/>
              <a:gd name="mins" fmla="min sw sh"/>
              <a:gd name="dsw" fmla="+- 0 sw mins"/>
              <a:gd name="dsh" fmla="+- 0 sh mins"/>
              <a:gd name="p0x0" fmla="*/ 240 w 17400"/>
              <a:gd name="p0y0" fmla="*/ 0 h 720"/>
              <a:gd name="p0x1" fmla="*/ 17160 w 17400"/>
              <a:gd name="p0y1" fmla="*/ 0 h 720"/>
              <a:gd name="p0x2" fmla="*/ 17292 w 17400"/>
              <a:gd name="p0y2" fmla="*/ 0 h 720"/>
              <a:gd name="p0x3" fmla="*/ 17400 w 17400"/>
              <a:gd name="p0y3" fmla="*/ 107 h 720"/>
              <a:gd name="p0x4" fmla="*/ 17400 w 17400"/>
              <a:gd name="p0y4" fmla="*/ 240 h 720"/>
              <a:gd name="p0x5" fmla="*/ 17400 w 17400"/>
              <a:gd name="p0y5" fmla="*/ 480 h 720"/>
              <a:gd name="p0x6" fmla="*/ 17400 w 17400"/>
              <a:gd name="p0y6" fmla="*/ 612 h 720"/>
              <a:gd name="p0x7" fmla="*/ 17292 w 17400"/>
              <a:gd name="p0y7" fmla="*/ 720 h 720"/>
              <a:gd name="p0x8" fmla="*/ 17160 w 17400"/>
              <a:gd name="p0y8" fmla="*/ 720 h 720"/>
              <a:gd name="p0x9" fmla="*/ 240 w 17400"/>
              <a:gd name="p0y9" fmla="*/ 720 h 720"/>
              <a:gd name="p0x10" fmla="*/ 107 w 17400"/>
              <a:gd name="p0y10" fmla="*/ 720 h 720"/>
              <a:gd name="p0x11" fmla="*/ 0 w 17400"/>
              <a:gd name="p0y11" fmla="*/ 612 h 720"/>
              <a:gd name="p0x12" fmla="*/ 0 w 17400"/>
              <a:gd name="p0y12" fmla="*/ 480 h 720"/>
              <a:gd name="p0x13" fmla="*/ 0 w 17400"/>
              <a:gd name="p0y13" fmla="*/ 240 h 720"/>
              <a:gd name="p0x14" fmla="*/ 0 w 17400"/>
              <a:gd name="p0y14" fmla="*/ 107 h 720"/>
              <a:gd name="p0x15" fmla="*/ 107 w 17400"/>
              <a:gd name="p0y15" fmla="*/ 0 h 720"/>
              <a:gd name="p0x16" fmla="*/ 240 w 1740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"/>
            </p:custDataLst>
          </p:nvPr>
        </p:nvSpPr>
        <p:spPr>
          <a:xfrm>
            <a:off x="2197075" y="6081713"/>
            <a:ext cx="779777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链路核心是</a:t>
            </a:r>
            <a:r>
              <a:rPr sz="1500" b="1">
                <a:solidFill>
                  <a:srgbClr val="0A1E33"/>
                </a:solidFill>
                <a:cs typeface="+mn-lt"/>
              </a:rPr>
              <a:t>置信度分流闸门</a:t>
            </a:r>
            <a:r>
              <a:rPr lang="en-US"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 —— AI </a:t>
            </a:r>
            <a:r>
              <a:rPr lang="zh-CN" altLang="en-US" sz="1500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能答的自动答，拿不准的交人审，高风险必转人工。</a:t>
            </a:r>
            <a:endParaRPr lang="zh-CN" altLang="en-US" sz="1500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628650" y="1539240"/>
            <a:ext cx="19050" cy="548640"/>
          </a:xfrm>
          <a:prstGeom prst="rect">
            <a:avLst/>
          </a:prstGeom>
          <a:solidFill>
            <a:schemeClr val="accent1">
              <a:alpha val="3803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628650" y="2087880"/>
            <a:ext cx="19050" cy="982980"/>
          </a:xfrm>
          <a:prstGeom prst="rect">
            <a:avLst/>
          </a:prstGeom>
          <a:solidFill>
            <a:schemeClr val="accent1">
              <a:alpha val="3803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628650" y="3070860"/>
            <a:ext cx="19050" cy="982980"/>
          </a:xfrm>
          <a:prstGeom prst="rect">
            <a:avLst/>
          </a:prstGeom>
          <a:solidFill>
            <a:schemeClr val="accent1">
              <a:alpha val="3803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>
            <p:custDataLst>
              <p:tags r:id="rId7"/>
            </p:custDataLst>
          </p:nvPr>
        </p:nvSpPr>
        <p:spPr>
          <a:xfrm>
            <a:off x="628650" y="4053840"/>
            <a:ext cx="19050" cy="982980"/>
          </a:xfrm>
          <a:prstGeom prst="rect">
            <a:avLst/>
          </a:prstGeom>
          <a:solidFill>
            <a:schemeClr val="accent1">
              <a:alpha val="3803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>
            <p:custDataLst>
              <p:tags r:id="rId8"/>
            </p:custDataLst>
          </p:nvPr>
        </p:nvSpPr>
        <p:spPr>
          <a:xfrm>
            <a:off x="628650" y="5036820"/>
            <a:ext cx="19050" cy="434340"/>
          </a:xfrm>
          <a:prstGeom prst="rect">
            <a:avLst/>
          </a:prstGeom>
          <a:solidFill>
            <a:schemeClr val="accent1">
              <a:alpha val="38039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9"/>
            </p:custDataLst>
          </p:nvPr>
        </p:nvSpPr>
        <p:spPr>
          <a:xfrm>
            <a:off x="590550" y="149161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10"/>
            </p:custDataLst>
          </p:nvPr>
        </p:nvSpPr>
        <p:spPr>
          <a:xfrm>
            <a:off x="823595" y="1109345"/>
            <a:ext cx="10791825" cy="859155"/>
          </a:xfrm>
          <a:custGeom>
            <a:avLst/>
            <a:gdLst>
              <a:gd name="sw" fmla="*/ 1 w 16995"/>
              <a:gd name="sh" fmla="*/ 1 h 1353"/>
              <a:gd name="mins" fmla="min sw sh"/>
              <a:gd name="dsw" fmla="+- 0 sw mins"/>
              <a:gd name="dsh" fmla="+- 0 sh mins"/>
              <a:gd name="p0x0" fmla="*/ 300 w 16995"/>
              <a:gd name="p0y0" fmla="*/ 0 h 1353"/>
              <a:gd name="p0x1" fmla="*/ 16695 w 16995"/>
              <a:gd name="p0y1" fmla="*/ 0 h 1353"/>
              <a:gd name="p0x2" fmla="*/ 16860 w 16995"/>
              <a:gd name="p0y2" fmla="*/ 0 h 1353"/>
              <a:gd name="p0x3" fmla="*/ 16995 w 16995"/>
              <a:gd name="p0y3" fmla="*/ 134 h 1353"/>
              <a:gd name="p0x4" fmla="*/ 16995 w 16995"/>
              <a:gd name="p0y4" fmla="*/ 300 h 1353"/>
              <a:gd name="p0x5" fmla="*/ 16995 w 16995"/>
              <a:gd name="p0y5" fmla="*/ 1053 h 1353"/>
              <a:gd name="p0x6" fmla="*/ 16995 w 16995"/>
              <a:gd name="p0y6" fmla="*/ 1218 h 1353"/>
              <a:gd name="p0x7" fmla="*/ 16860 w 16995"/>
              <a:gd name="p0y7" fmla="*/ 1353 h 1353"/>
              <a:gd name="p0x8" fmla="*/ 16695 w 16995"/>
              <a:gd name="p0y8" fmla="*/ 1353 h 1353"/>
              <a:gd name="p0x9" fmla="*/ 300 w 16995"/>
              <a:gd name="p0y9" fmla="*/ 1353 h 1353"/>
              <a:gd name="p0x10" fmla="*/ 134 w 16995"/>
              <a:gd name="p0y10" fmla="*/ 1353 h 1353"/>
              <a:gd name="p0x11" fmla="*/ 0 w 16995"/>
              <a:gd name="p0y11" fmla="*/ 1218 h 1353"/>
              <a:gd name="p0x12" fmla="*/ 0 w 16995"/>
              <a:gd name="p0y12" fmla="*/ 1053 h 1353"/>
              <a:gd name="p0x13" fmla="*/ 0 w 16995"/>
              <a:gd name="p0y13" fmla="*/ 300 h 1353"/>
              <a:gd name="p0x14" fmla="*/ 0 w 16995"/>
              <a:gd name="p0y14" fmla="*/ 134 h 1353"/>
              <a:gd name="p0x15" fmla="*/ 134 w 16995"/>
              <a:gd name="p0y15" fmla="*/ 0 h 1353"/>
              <a:gd name="p0x16" fmla="*/ 300 w 16995"/>
              <a:gd name="p0y16" fmla="*/ 0 h 13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11"/>
            </p:custDataLst>
          </p:nvPr>
        </p:nvSpPr>
        <p:spPr>
          <a:xfrm>
            <a:off x="942975" y="1257300"/>
            <a:ext cx="696595" cy="250825"/>
          </a:xfrm>
          <a:custGeom>
            <a:avLst/>
            <a:gdLst>
              <a:gd name="sw" fmla="*/ 1 w 1097"/>
              <a:gd name="sh" fmla="*/ 1 h 395"/>
              <a:gd name="mins" fmla="min sw sh"/>
              <a:gd name="dsw" fmla="+- 0 sw mins"/>
              <a:gd name="dsh" fmla="+- 0 sh mins"/>
              <a:gd name="p0x0" fmla="*/ 197 w 1097"/>
              <a:gd name="p0y0" fmla="*/ 0 h 395"/>
              <a:gd name="p0x1" fmla="*/ 899 w 1097"/>
              <a:gd name="p0y1" fmla="*/ 0 h 395"/>
              <a:gd name="p0x2" fmla="*/ 1008 w 1097"/>
              <a:gd name="p0y2" fmla="*/ 0 h 395"/>
              <a:gd name="p0x3" fmla="*/ 1097 w 1097"/>
              <a:gd name="p0y3" fmla="*/ 88 h 395"/>
              <a:gd name="p0x4" fmla="*/ 1097 w 1097"/>
              <a:gd name="p0y4" fmla="*/ 197 h 395"/>
              <a:gd name="p0x5" fmla="*/ 1097 w 1097"/>
              <a:gd name="p0y5" fmla="*/ 307 h 395"/>
              <a:gd name="p0x6" fmla="*/ 1008 w 1097"/>
              <a:gd name="p0y6" fmla="*/ 395 h 395"/>
              <a:gd name="p0x7" fmla="*/ 899 w 1097"/>
              <a:gd name="p0y7" fmla="*/ 395 h 395"/>
              <a:gd name="p0x8" fmla="*/ 197 w 1097"/>
              <a:gd name="p0y8" fmla="*/ 395 h 395"/>
              <a:gd name="p0x9" fmla="*/ 88 w 1097"/>
              <a:gd name="p0y9" fmla="*/ 395 h 395"/>
              <a:gd name="p0x10" fmla="*/ 0 w 1097"/>
              <a:gd name="p0y10" fmla="*/ 307 h 395"/>
              <a:gd name="p0x11" fmla="*/ 0 w 1097"/>
              <a:gd name="p0y11" fmla="*/ 197 h 395"/>
              <a:gd name="p0x12" fmla="*/ 0 w 1097"/>
              <a:gd name="p0y12" fmla="*/ 88 h 395"/>
              <a:gd name="p0x13" fmla="*/ 88 w 1097"/>
              <a:gd name="p0y13" fmla="*/ 0 h 395"/>
              <a:gd name="p0x14" fmla="*/ 197 w 1097"/>
              <a:gd name="p0y14" fmla="*/ 0 h 3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2"/>
            </p:custDataLst>
          </p:nvPr>
        </p:nvSpPr>
        <p:spPr>
          <a:xfrm>
            <a:off x="1019175" y="1265873"/>
            <a:ext cx="696963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步骤</a:t>
            </a:r>
            <a:r>
              <a:rPr lang="en-US" altLang="zh-CN"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 01</a:t>
            </a:r>
            <a:endParaRPr lang="en-US" altLang="zh-CN" sz="1200" b="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13"/>
            </p:custDataLst>
          </p:nvPr>
        </p:nvSpPr>
        <p:spPr>
          <a:xfrm>
            <a:off x="1716138" y="1249632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意图识别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14"/>
            </p:custDataLst>
          </p:nvPr>
        </p:nvSpPr>
        <p:spPr>
          <a:xfrm>
            <a:off x="942975" y="1531601"/>
            <a:ext cx="105537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A6B8A"/>
                </a:solidFill>
                <a:cs typeface="+mn-lt"/>
              </a:rPr>
              <a:t>判断类型</a:t>
            </a:r>
            <a:r>
              <a:rPr lang="en-US" altLang="zh-CN" sz="1350">
                <a:solidFill>
                  <a:srgbClr val="4A6B8A"/>
                </a:solidFill>
                <a:cs typeface="+mn-lt"/>
              </a:rPr>
              <a:t>——FAQ / </a:t>
            </a:r>
            <a:r>
              <a:rPr lang="zh-CN" altLang="en-US" sz="1350">
                <a:solidFill>
                  <a:srgbClr val="4A6B8A"/>
                </a:solidFill>
                <a:cs typeface="+mn-lt"/>
              </a:rPr>
              <a:t>查订单</a:t>
            </a:r>
            <a:r>
              <a:rPr lang="en-US" altLang="zh-CN" sz="1350">
                <a:solidFill>
                  <a:srgbClr val="4A6B8A"/>
                </a:solidFill>
                <a:cs typeface="+mn-lt"/>
              </a:rPr>
              <a:t> / </a:t>
            </a:r>
            <a:r>
              <a:rPr lang="zh-CN" altLang="en-US" sz="1350">
                <a:solidFill>
                  <a:srgbClr val="4A6B8A"/>
                </a:solidFill>
                <a:cs typeface="+mn-lt"/>
              </a:rPr>
              <a:t>查物流</a:t>
            </a:r>
            <a:r>
              <a:rPr lang="en-US" altLang="zh-CN" sz="1350">
                <a:solidFill>
                  <a:srgbClr val="4A6B8A"/>
                </a:solidFill>
                <a:cs typeface="+mn-lt"/>
              </a:rPr>
              <a:t> / </a:t>
            </a:r>
            <a:r>
              <a:rPr lang="zh-CN" altLang="en-US" sz="1350">
                <a:solidFill>
                  <a:srgbClr val="4A6B8A"/>
                </a:solidFill>
                <a:cs typeface="+mn-lt"/>
              </a:rPr>
              <a:t>投诉</a:t>
            </a:r>
            <a:r>
              <a:rPr lang="en-US" altLang="zh-CN" sz="1350">
                <a:solidFill>
                  <a:srgbClr val="4A6B8A"/>
                </a:solidFill>
                <a:cs typeface="+mn-lt"/>
              </a:rPr>
              <a:t> / </a:t>
            </a:r>
            <a:r>
              <a:rPr lang="zh-CN" altLang="en-US" sz="1350">
                <a:solidFill>
                  <a:srgbClr val="4A6B8A"/>
                </a:solidFill>
                <a:cs typeface="+mn-lt"/>
              </a:rPr>
              <a:t>闲聊</a:t>
            </a:r>
            <a:endParaRPr lang="zh-CN" altLang="en-US"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15"/>
            </p:custDataLst>
          </p:nvPr>
        </p:nvSpPr>
        <p:spPr>
          <a:xfrm>
            <a:off x="590550" y="247459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6"/>
            </p:custDataLst>
          </p:nvPr>
        </p:nvSpPr>
        <p:spPr>
          <a:xfrm>
            <a:off x="823595" y="2092325"/>
            <a:ext cx="10791825" cy="859155"/>
          </a:xfrm>
          <a:custGeom>
            <a:avLst/>
            <a:gdLst>
              <a:gd name="sw" fmla="*/ 1 w 16995"/>
              <a:gd name="sh" fmla="*/ 1 h 1353"/>
              <a:gd name="mins" fmla="min sw sh"/>
              <a:gd name="dsw" fmla="+- 0 sw mins"/>
              <a:gd name="dsh" fmla="+- 0 sh mins"/>
              <a:gd name="p0x0" fmla="*/ 300 w 16995"/>
              <a:gd name="p0y0" fmla="*/ 0 h 1353"/>
              <a:gd name="p0x1" fmla="*/ 16695 w 16995"/>
              <a:gd name="p0y1" fmla="*/ 0 h 1353"/>
              <a:gd name="p0x2" fmla="*/ 16860 w 16995"/>
              <a:gd name="p0y2" fmla="*/ 0 h 1353"/>
              <a:gd name="p0x3" fmla="*/ 16995 w 16995"/>
              <a:gd name="p0y3" fmla="*/ 134 h 1353"/>
              <a:gd name="p0x4" fmla="*/ 16995 w 16995"/>
              <a:gd name="p0y4" fmla="*/ 300 h 1353"/>
              <a:gd name="p0x5" fmla="*/ 16995 w 16995"/>
              <a:gd name="p0y5" fmla="*/ 1053 h 1353"/>
              <a:gd name="p0x6" fmla="*/ 16995 w 16995"/>
              <a:gd name="p0y6" fmla="*/ 1218 h 1353"/>
              <a:gd name="p0x7" fmla="*/ 16860 w 16995"/>
              <a:gd name="p0y7" fmla="*/ 1353 h 1353"/>
              <a:gd name="p0x8" fmla="*/ 16695 w 16995"/>
              <a:gd name="p0y8" fmla="*/ 1353 h 1353"/>
              <a:gd name="p0x9" fmla="*/ 300 w 16995"/>
              <a:gd name="p0y9" fmla="*/ 1353 h 1353"/>
              <a:gd name="p0x10" fmla="*/ 134 w 16995"/>
              <a:gd name="p0y10" fmla="*/ 1353 h 1353"/>
              <a:gd name="p0x11" fmla="*/ 0 w 16995"/>
              <a:gd name="p0y11" fmla="*/ 1218 h 1353"/>
              <a:gd name="p0x12" fmla="*/ 0 w 16995"/>
              <a:gd name="p0y12" fmla="*/ 1053 h 1353"/>
              <a:gd name="p0x13" fmla="*/ 0 w 16995"/>
              <a:gd name="p0y13" fmla="*/ 300 h 1353"/>
              <a:gd name="p0x14" fmla="*/ 0 w 16995"/>
              <a:gd name="p0y14" fmla="*/ 134 h 1353"/>
              <a:gd name="p0x15" fmla="*/ 134 w 16995"/>
              <a:gd name="p0y15" fmla="*/ 0 h 1353"/>
              <a:gd name="p0x16" fmla="*/ 300 w 16995"/>
              <a:gd name="p0y16" fmla="*/ 0 h 13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7"/>
            </p:custDataLst>
          </p:nvPr>
        </p:nvSpPr>
        <p:spPr>
          <a:xfrm>
            <a:off x="942975" y="2240280"/>
            <a:ext cx="696595" cy="251460"/>
          </a:xfrm>
          <a:custGeom>
            <a:avLst/>
            <a:gdLst>
              <a:gd name="sw" fmla="*/ 1 w 1097"/>
              <a:gd name="sh" fmla="*/ 1 h 395"/>
              <a:gd name="mins" fmla="min sw sh"/>
              <a:gd name="dsw" fmla="+- 0 sw mins"/>
              <a:gd name="dsh" fmla="+- 0 sh mins"/>
              <a:gd name="p0x0" fmla="*/ 197 w 1097"/>
              <a:gd name="p0y0" fmla="*/ 0 h 395"/>
              <a:gd name="p0x1" fmla="*/ 899 w 1097"/>
              <a:gd name="p0y1" fmla="*/ 0 h 395"/>
              <a:gd name="p0x2" fmla="*/ 1008 w 1097"/>
              <a:gd name="p0y2" fmla="*/ 0 h 395"/>
              <a:gd name="p0x3" fmla="*/ 1097 w 1097"/>
              <a:gd name="p0y3" fmla="*/ 88 h 395"/>
              <a:gd name="p0x4" fmla="*/ 1097 w 1097"/>
              <a:gd name="p0y4" fmla="*/ 197 h 395"/>
              <a:gd name="p0x5" fmla="*/ 1097 w 1097"/>
              <a:gd name="p0y5" fmla="*/ 307 h 395"/>
              <a:gd name="p0x6" fmla="*/ 1008 w 1097"/>
              <a:gd name="p0y6" fmla="*/ 395 h 395"/>
              <a:gd name="p0x7" fmla="*/ 899 w 1097"/>
              <a:gd name="p0y7" fmla="*/ 395 h 395"/>
              <a:gd name="p0x8" fmla="*/ 197 w 1097"/>
              <a:gd name="p0y8" fmla="*/ 395 h 395"/>
              <a:gd name="p0x9" fmla="*/ 88 w 1097"/>
              <a:gd name="p0y9" fmla="*/ 395 h 395"/>
              <a:gd name="p0x10" fmla="*/ 0 w 1097"/>
              <a:gd name="p0y10" fmla="*/ 307 h 395"/>
              <a:gd name="p0x11" fmla="*/ 0 w 1097"/>
              <a:gd name="p0y11" fmla="*/ 197 h 395"/>
              <a:gd name="p0x12" fmla="*/ 0 w 1097"/>
              <a:gd name="p0y12" fmla="*/ 88 h 395"/>
              <a:gd name="p0x13" fmla="*/ 88 w 1097"/>
              <a:gd name="p0y13" fmla="*/ 0 h 395"/>
              <a:gd name="p0x14" fmla="*/ 197 w 1097"/>
              <a:gd name="p0y14" fmla="*/ 0 h 3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1019175" y="2248881"/>
            <a:ext cx="696963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步骤</a:t>
            </a:r>
            <a:r>
              <a:rPr lang="en-US" altLang="zh-CN"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 02</a:t>
            </a:r>
            <a:endParaRPr lang="en-US" altLang="zh-CN" sz="1200" b="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16" name="文本框 15"/>
          <p:cNvSpPr txBox="1"/>
          <p:nvPr>
            <p:custDataLst>
              <p:tags r:id="rId19"/>
            </p:custDataLst>
          </p:nvPr>
        </p:nvSpPr>
        <p:spPr>
          <a:xfrm>
            <a:off x="1716138" y="2232641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分流检索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20"/>
            </p:custDataLst>
          </p:nvPr>
        </p:nvSpPr>
        <p:spPr>
          <a:xfrm>
            <a:off x="942975" y="2514609"/>
            <a:ext cx="607985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4A6B8A"/>
                </a:solidFill>
                <a:cs typeface="+mn-lt"/>
              </a:rPr>
              <a:t>FAQ </a:t>
            </a:r>
            <a:r>
              <a:rPr lang="zh-CN" sz="1350">
                <a:solidFill>
                  <a:srgbClr val="4A6B8A"/>
                </a:solidFill>
                <a:cs typeface="+mn-lt"/>
              </a:rPr>
              <a:t>政策类走</a:t>
            </a:r>
            <a:r>
              <a:rPr sz="1350" b="1">
                <a:solidFill>
                  <a:schemeClr val="tx2"/>
                </a:solidFill>
                <a:cs typeface="+mn-lt"/>
              </a:rPr>
              <a:t>知识检索</a:t>
            </a:r>
            <a:r>
              <a:rPr sz="1350">
                <a:solidFill>
                  <a:srgbClr val="4A6B8A"/>
                </a:solidFill>
                <a:cs typeface="+mn-lt"/>
              </a:rPr>
              <a:t>；订单物流类走</a:t>
            </a:r>
            <a:r>
              <a:rPr sz="1350" b="1">
                <a:solidFill>
                  <a:schemeClr val="tx2"/>
                </a:solidFill>
                <a:cs typeface="+mn-lt"/>
              </a:rPr>
              <a:t>业务查询</a:t>
            </a:r>
            <a:r>
              <a:rPr sz="1350">
                <a:solidFill>
                  <a:srgbClr val="4A6B8A"/>
                </a:solidFill>
                <a:cs typeface="+mn-lt"/>
              </a:rPr>
              <a:t>；投诉争议类先做</a:t>
            </a:r>
            <a:r>
              <a:rPr sz="1350" b="1">
                <a:solidFill>
                  <a:schemeClr val="tx2"/>
                </a:solidFill>
                <a:cs typeface="+mn-lt"/>
              </a:rPr>
              <a:t>风险识别</a:t>
            </a:r>
            <a:endParaRPr sz="13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19" name="任意多边形 18"/>
          <p:cNvSpPr/>
          <p:nvPr>
            <p:custDataLst>
              <p:tags r:id="rId21"/>
            </p:custDataLst>
          </p:nvPr>
        </p:nvSpPr>
        <p:spPr>
          <a:xfrm>
            <a:off x="590550" y="345757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823595" y="3075305"/>
            <a:ext cx="10791825" cy="859155"/>
          </a:xfrm>
          <a:custGeom>
            <a:avLst/>
            <a:gdLst>
              <a:gd name="sw" fmla="*/ 1 w 16995"/>
              <a:gd name="sh" fmla="*/ 1 h 1353"/>
              <a:gd name="mins" fmla="min sw sh"/>
              <a:gd name="dsw" fmla="+- 0 sw mins"/>
              <a:gd name="dsh" fmla="+- 0 sh mins"/>
              <a:gd name="p0x0" fmla="*/ 300 w 16995"/>
              <a:gd name="p0y0" fmla="*/ 0 h 1353"/>
              <a:gd name="p0x1" fmla="*/ 16695 w 16995"/>
              <a:gd name="p0y1" fmla="*/ 0 h 1353"/>
              <a:gd name="p0x2" fmla="*/ 16860 w 16995"/>
              <a:gd name="p0y2" fmla="*/ 0 h 1353"/>
              <a:gd name="p0x3" fmla="*/ 16995 w 16995"/>
              <a:gd name="p0y3" fmla="*/ 134 h 1353"/>
              <a:gd name="p0x4" fmla="*/ 16995 w 16995"/>
              <a:gd name="p0y4" fmla="*/ 300 h 1353"/>
              <a:gd name="p0x5" fmla="*/ 16995 w 16995"/>
              <a:gd name="p0y5" fmla="*/ 1053 h 1353"/>
              <a:gd name="p0x6" fmla="*/ 16995 w 16995"/>
              <a:gd name="p0y6" fmla="*/ 1218 h 1353"/>
              <a:gd name="p0x7" fmla="*/ 16860 w 16995"/>
              <a:gd name="p0y7" fmla="*/ 1353 h 1353"/>
              <a:gd name="p0x8" fmla="*/ 16695 w 16995"/>
              <a:gd name="p0y8" fmla="*/ 1353 h 1353"/>
              <a:gd name="p0x9" fmla="*/ 300 w 16995"/>
              <a:gd name="p0y9" fmla="*/ 1353 h 1353"/>
              <a:gd name="p0x10" fmla="*/ 134 w 16995"/>
              <a:gd name="p0y10" fmla="*/ 1353 h 1353"/>
              <a:gd name="p0x11" fmla="*/ 0 w 16995"/>
              <a:gd name="p0y11" fmla="*/ 1218 h 1353"/>
              <a:gd name="p0x12" fmla="*/ 0 w 16995"/>
              <a:gd name="p0y12" fmla="*/ 1053 h 1353"/>
              <a:gd name="p0x13" fmla="*/ 0 w 16995"/>
              <a:gd name="p0y13" fmla="*/ 300 h 1353"/>
              <a:gd name="p0x14" fmla="*/ 0 w 16995"/>
              <a:gd name="p0y14" fmla="*/ 134 h 1353"/>
              <a:gd name="p0x15" fmla="*/ 134 w 16995"/>
              <a:gd name="p0y15" fmla="*/ 0 h 1353"/>
              <a:gd name="p0x16" fmla="*/ 300 w 16995"/>
              <a:gd name="p0y16" fmla="*/ 0 h 13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942975" y="3223260"/>
            <a:ext cx="696595" cy="251460"/>
          </a:xfrm>
          <a:custGeom>
            <a:avLst/>
            <a:gdLst>
              <a:gd name="sw" fmla="*/ 1 w 1097"/>
              <a:gd name="sh" fmla="*/ 1 h 395"/>
              <a:gd name="mins" fmla="min sw sh"/>
              <a:gd name="dsw" fmla="+- 0 sw mins"/>
              <a:gd name="dsh" fmla="+- 0 sh mins"/>
              <a:gd name="p0x0" fmla="*/ 197 w 1097"/>
              <a:gd name="p0y0" fmla="*/ 0 h 395"/>
              <a:gd name="p0x1" fmla="*/ 899 w 1097"/>
              <a:gd name="p0y1" fmla="*/ 0 h 395"/>
              <a:gd name="p0x2" fmla="*/ 1008 w 1097"/>
              <a:gd name="p0y2" fmla="*/ 0 h 395"/>
              <a:gd name="p0x3" fmla="*/ 1097 w 1097"/>
              <a:gd name="p0y3" fmla="*/ 88 h 395"/>
              <a:gd name="p0x4" fmla="*/ 1097 w 1097"/>
              <a:gd name="p0y4" fmla="*/ 197 h 395"/>
              <a:gd name="p0x5" fmla="*/ 1097 w 1097"/>
              <a:gd name="p0y5" fmla="*/ 307 h 395"/>
              <a:gd name="p0x6" fmla="*/ 1008 w 1097"/>
              <a:gd name="p0y6" fmla="*/ 395 h 395"/>
              <a:gd name="p0x7" fmla="*/ 899 w 1097"/>
              <a:gd name="p0y7" fmla="*/ 395 h 395"/>
              <a:gd name="p0x8" fmla="*/ 197 w 1097"/>
              <a:gd name="p0y8" fmla="*/ 395 h 395"/>
              <a:gd name="p0x9" fmla="*/ 88 w 1097"/>
              <a:gd name="p0y9" fmla="*/ 395 h 395"/>
              <a:gd name="p0x10" fmla="*/ 0 w 1097"/>
              <a:gd name="p0y10" fmla="*/ 307 h 395"/>
              <a:gd name="p0x11" fmla="*/ 0 w 1097"/>
              <a:gd name="p0y11" fmla="*/ 197 h 395"/>
              <a:gd name="p0x12" fmla="*/ 0 w 1097"/>
              <a:gd name="p0y12" fmla="*/ 88 h 395"/>
              <a:gd name="p0x13" fmla="*/ 88 w 1097"/>
              <a:gd name="p0y13" fmla="*/ 0 h 395"/>
              <a:gd name="p0x14" fmla="*/ 197 w 1097"/>
              <a:gd name="p0y14" fmla="*/ 0 h 3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1019175" y="3231890"/>
            <a:ext cx="696963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步骤</a:t>
            </a:r>
            <a:r>
              <a:rPr lang="en-US" altLang="zh-CN"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 03</a:t>
            </a:r>
            <a:endParaRPr lang="en-US" altLang="zh-CN" sz="1200" b="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25"/>
            </p:custDataLst>
          </p:nvPr>
        </p:nvSpPr>
        <p:spPr>
          <a:xfrm>
            <a:off x="1716138" y="3215649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回答生成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942975" y="3497618"/>
            <a:ext cx="105537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基于知识来源和业务查询结果生成回复或客服建议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26" name="任意多边形 25"/>
          <p:cNvSpPr/>
          <p:nvPr>
            <p:custDataLst>
              <p:tags r:id="rId27"/>
            </p:custDataLst>
          </p:nvPr>
        </p:nvSpPr>
        <p:spPr>
          <a:xfrm>
            <a:off x="590550" y="444055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8"/>
            </p:custDataLst>
          </p:nvPr>
        </p:nvSpPr>
        <p:spPr>
          <a:xfrm>
            <a:off x="823595" y="4058285"/>
            <a:ext cx="10791825" cy="859155"/>
          </a:xfrm>
          <a:custGeom>
            <a:avLst/>
            <a:gdLst>
              <a:gd name="sw" fmla="*/ 1 w 16995"/>
              <a:gd name="sh" fmla="*/ 1 h 1353"/>
              <a:gd name="mins" fmla="min sw sh"/>
              <a:gd name="dsw" fmla="+- 0 sw mins"/>
              <a:gd name="dsh" fmla="+- 0 sh mins"/>
              <a:gd name="p0x0" fmla="*/ 300 w 16995"/>
              <a:gd name="p0y0" fmla="*/ 0 h 1353"/>
              <a:gd name="p0x1" fmla="*/ 16695 w 16995"/>
              <a:gd name="p0y1" fmla="*/ 0 h 1353"/>
              <a:gd name="p0x2" fmla="*/ 16860 w 16995"/>
              <a:gd name="p0y2" fmla="*/ 0 h 1353"/>
              <a:gd name="p0x3" fmla="*/ 16995 w 16995"/>
              <a:gd name="p0y3" fmla="*/ 134 h 1353"/>
              <a:gd name="p0x4" fmla="*/ 16995 w 16995"/>
              <a:gd name="p0y4" fmla="*/ 300 h 1353"/>
              <a:gd name="p0x5" fmla="*/ 16995 w 16995"/>
              <a:gd name="p0y5" fmla="*/ 1053 h 1353"/>
              <a:gd name="p0x6" fmla="*/ 16995 w 16995"/>
              <a:gd name="p0y6" fmla="*/ 1218 h 1353"/>
              <a:gd name="p0x7" fmla="*/ 16860 w 16995"/>
              <a:gd name="p0y7" fmla="*/ 1353 h 1353"/>
              <a:gd name="p0x8" fmla="*/ 16695 w 16995"/>
              <a:gd name="p0y8" fmla="*/ 1353 h 1353"/>
              <a:gd name="p0x9" fmla="*/ 300 w 16995"/>
              <a:gd name="p0y9" fmla="*/ 1353 h 1353"/>
              <a:gd name="p0x10" fmla="*/ 134 w 16995"/>
              <a:gd name="p0y10" fmla="*/ 1353 h 1353"/>
              <a:gd name="p0x11" fmla="*/ 0 w 16995"/>
              <a:gd name="p0y11" fmla="*/ 1218 h 1353"/>
              <a:gd name="p0x12" fmla="*/ 0 w 16995"/>
              <a:gd name="p0y12" fmla="*/ 1053 h 1353"/>
              <a:gd name="p0x13" fmla="*/ 0 w 16995"/>
              <a:gd name="p0y13" fmla="*/ 300 h 1353"/>
              <a:gd name="p0x14" fmla="*/ 0 w 16995"/>
              <a:gd name="p0y14" fmla="*/ 134 h 1353"/>
              <a:gd name="p0x15" fmla="*/ 134 w 16995"/>
              <a:gd name="p0y15" fmla="*/ 0 h 1353"/>
              <a:gd name="p0x16" fmla="*/ 300 w 16995"/>
              <a:gd name="p0y16" fmla="*/ 0 h 13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29"/>
            </p:custDataLst>
          </p:nvPr>
        </p:nvSpPr>
        <p:spPr>
          <a:xfrm>
            <a:off x="942975" y="4206240"/>
            <a:ext cx="696595" cy="251460"/>
          </a:xfrm>
          <a:custGeom>
            <a:avLst/>
            <a:gdLst>
              <a:gd name="sw" fmla="*/ 1 w 1097"/>
              <a:gd name="sh" fmla="*/ 1 h 395"/>
              <a:gd name="mins" fmla="min sw sh"/>
              <a:gd name="dsw" fmla="+- 0 sw mins"/>
              <a:gd name="dsh" fmla="+- 0 sh mins"/>
              <a:gd name="p0x0" fmla="*/ 197 w 1097"/>
              <a:gd name="p0y0" fmla="*/ 0 h 395"/>
              <a:gd name="p0x1" fmla="*/ 899 w 1097"/>
              <a:gd name="p0y1" fmla="*/ 0 h 395"/>
              <a:gd name="p0x2" fmla="*/ 1008 w 1097"/>
              <a:gd name="p0y2" fmla="*/ 0 h 395"/>
              <a:gd name="p0x3" fmla="*/ 1097 w 1097"/>
              <a:gd name="p0y3" fmla="*/ 88 h 395"/>
              <a:gd name="p0x4" fmla="*/ 1097 w 1097"/>
              <a:gd name="p0y4" fmla="*/ 197 h 395"/>
              <a:gd name="p0x5" fmla="*/ 1097 w 1097"/>
              <a:gd name="p0y5" fmla="*/ 307 h 395"/>
              <a:gd name="p0x6" fmla="*/ 1008 w 1097"/>
              <a:gd name="p0y6" fmla="*/ 395 h 395"/>
              <a:gd name="p0x7" fmla="*/ 899 w 1097"/>
              <a:gd name="p0y7" fmla="*/ 395 h 395"/>
              <a:gd name="p0x8" fmla="*/ 197 w 1097"/>
              <a:gd name="p0y8" fmla="*/ 395 h 395"/>
              <a:gd name="p0x9" fmla="*/ 88 w 1097"/>
              <a:gd name="p0y9" fmla="*/ 395 h 395"/>
              <a:gd name="p0x10" fmla="*/ 0 w 1097"/>
              <a:gd name="p0y10" fmla="*/ 307 h 395"/>
              <a:gd name="p0x11" fmla="*/ 0 w 1097"/>
              <a:gd name="p0y11" fmla="*/ 197 h 395"/>
              <a:gd name="p0x12" fmla="*/ 0 w 1097"/>
              <a:gd name="p0y12" fmla="*/ 88 h 395"/>
              <a:gd name="p0x13" fmla="*/ 88 w 1097"/>
              <a:gd name="p0y13" fmla="*/ 0 h 395"/>
              <a:gd name="p0x14" fmla="*/ 197 w 1097"/>
              <a:gd name="p0y14" fmla="*/ 0 h 3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1019175" y="4214898"/>
            <a:ext cx="696963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步骤</a:t>
            </a:r>
            <a:r>
              <a:rPr lang="en-US" altLang="zh-CN"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 04</a:t>
            </a:r>
            <a:endParaRPr lang="en-US" altLang="zh-CN" sz="1200" b="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31"/>
            </p:custDataLst>
          </p:nvPr>
        </p:nvSpPr>
        <p:spPr>
          <a:xfrm>
            <a:off x="1716138" y="4198658"/>
            <a:ext cx="1143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置信度分流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32"/>
            </p:custDataLst>
          </p:nvPr>
        </p:nvSpPr>
        <p:spPr>
          <a:xfrm>
            <a:off x="942975" y="4480627"/>
            <a:ext cx="429934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高置信</a:t>
            </a:r>
            <a:r>
              <a:rPr sz="1350" b="1">
                <a:solidFill>
                  <a:schemeClr val="tx2"/>
                </a:solidFill>
                <a:cs typeface="+mn-lt"/>
              </a:rPr>
              <a:t>自动回复</a:t>
            </a:r>
            <a:r>
              <a:rPr lang="en-US" sz="1350">
                <a:solidFill>
                  <a:srgbClr val="4A6B8A"/>
                </a:solidFill>
                <a:cs typeface="+mn-lt"/>
              </a:rPr>
              <a:t> / </a:t>
            </a:r>
            <a:r>
              <a:rPr lang="zh-CN" altLang="en-US" sz="1350">
                <a:solidFill>
                  <a:srgbClr val="4A6B8A"/>
                </a:solidFill>
                <a:cs typeface="+mn-lt"/>
              </a:rPr>
              <a:t>中置信</a:t>
            </a:r>
            <a:r>
              <a:rPr sz="1350" b="1">
                <a:solidFill>
                  <a:schemeClr val="tx2"/>
                </a:solidFill>
                <a:cs typeface="+mn-lt"/>
              </a:rPr>
              <a:t>推客服审核</a:t>
            </a:r>
            <a:r>
              <a:rPr lang="en-US" sz="1350">
                <a:solidFill>
                  <a:srgbClr val="4A6B8A"/>
                </a:solidFill>
                <a:cs typeface="+mn-lt"/>
              </a:rPr>
              <a:t> / </a:t>
            </a:r>
            <a:r>
              <a:rPr lang="zh-CN" altLang="en-US" sz="1350">
                <a:solidFill>
                  <a:srgbClr val="4A6B8A"/>
                </a:solidFill>
                <a:cs typeface="+mn-lt"/>
              </a:rPr>
              <a:t>低置信</a:t>
            </a:r>
            <a:r>
              <a:rPr sz="1350" b="1">
                <a:solidFill>
                  <a:schemeClr val="tx2"/>
                </a:solidFill>
                <a:cs typeface="+mn-lt"/>
              </a:rPr>
              <a:t>转人工</a:t>
            </a:r>
            <a:endParaRPr sz="135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3" name="任意多边形 32"/>
          <p:cNvSpPr/>
          <p:nvPr>
            <p:custDataLst>
              <p:tags r:id="rId33"/>
            </p:custDataLst>
          </p:nvPr>
        </p:nvSpPr>
        <p:spPr>
          <a:xfrm>
            <a:off x="590550" y="5423535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bg2"/>
          </a:solidFill>
          <a:ln w="38100" cmpd="sng">
            <a:solidFill>
              <a:schemeClr val="accent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4"/>
            </p:custDataLst>
          </p:nvPr>
        </p:nvSpPr>
        <p:spPr>
          <a:xfrm>
            <a:off x="823595" y="5041265"/>
            <a:ext cx="10791825" cy="859155"/>
          </a:xfrm>
          <a:custGeom>
            <a:avLst/>
            <a:gdLst>
              <a:gd name="sw" fmla="*/ 1 w 16995"/>
              <a:gd name="sh" fmla="*/ 1 h 1353"/>
              <a:gd name="mins" fmla="min sw sh"/>
              <a:gd name="dsw" fmla="+- 0 sw mins"/>
              <a:gd name="dsh" fmla="+- 0 sh mins"/>
              <a:gd name="p0x0" fmla="*/ 300 w 16995"/>
              <a:gd name="p0y0" fmla="*/ 0 h 1353"/>
              <a:gd name="p0x1" fmla="*/ 16695 w 16995"/>
              <a:gd name="p0y1" fmla="*/ 0 h 1353"/>
              <a:gd name="p0x2" fmla="*/ 16860 w 16995"/>
              <a:gd name="p0y2" fmla="*/ 0 h 1353"/>
              <a:gd name="p0x3" fmla="*/ 16995 w 16995"/>
              <a:gd name="p0y3" fmla="*/ 134 h 1353"/>
              <a:gd name="p0x4" fmla="*/ 16995 w 16995"/>
              <a:gd name="p0y4" fmla="*/ 300 h 1353"/>
              <a:gd name="p0x5" fmla="*/ 16995 w 16995"/>
              <a:gd name="p0y5" fmla="*/ 1053 h 1353"/>
              <a:gd name="p0x6" fmla="*/ 16995 w 16995"/>
              <a:gd name="p0y6" fmla="*/ 1218 h 1353"/>
              <a:gd name="p0x7" fmla="*/ 16860 w 16995"/>
              <a:gd name="p0y7" fmla="*/ 1353 h 1353"/>
              <a:gd name="p0x8" fmla="*/ 16695 w 16995"/>
              <a:gd name="p0y8" fmla="*/ 1353 h 1353"/>
              <a:gd name="p0x9" fmla="*/ 300 w 16995"/>
              <a:gd name="p0y9" fmla="*/ 1353 h 1353"/>
              <a:gd name="p0x10" fmla="*/ 134 w 16995"/>
              <a:gd name="p0y10" fmla="*/ 1353 h 1353"/>
              <a:gd name="p0x11" fmla="*/ 0 w 16995"/>
              <a:gd name="p0y11" fmla="*/ 1218 h 1353"/>
              <a:gd name="p0x12" fmla="*/ 0 w 16995"/>
              <a:gd name="p0y12" fmla="*/ 1053 h 1353"/>
              <a:gd name="p0x13" fmla="*/ 0 w 16995"/>
              <a:gd name="p0y13" fmla="*/ 300 h 1353"/>
              <a:gd name="p0x14" fmla="*/ 0 w 16995"/>
              <a:gd name="p0y14" fmla="*/ 134 h 1353"/>
              <a:gd name="p0x15" fmla="*/ 134 w 16995"/>
              <a:gd name="p0y15" fmla="*/ 0 h 1353"/>
              <a:gd name="p0x16" fmla="*/ 300 w 16995"/>
              <a:gd name="p0y16" fmla="*/ 0 h 13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5"/>
            </p:custDataLst>
          </p:nvPr>
        </p:nvSpPr>
        <p:spPr>
          <a:xfrm>
            <a:off x="942975" y="5189220"/>
            <a:ext cx="696595" cy="251460"/>
          </a:xfrm>
          <a:custGeom>
            <a:avLst/>
            <a:gdLst>
              <a:gd name="sw" fmla="*/ 1 w 1097"/>
              <a:gd name="sh" fmla="*/ 1 h 395"/>
              <a:gd name="mins" fmla="min sw sh"/>
              <a:gd name="dsw" fmla="+- 0 sw mins"/>
              <a:gd name="dsh" fmla="+- 0 sh mins"/>
              <a:gd name="p0x0" fmla="*/ 197 w 1097"/>
              <a:gd name="p0y0" fmla="*/ 0 h 395"/>
              <a:gd name="p0x1" fmla="*/ 899 w 1097"/>
              <a:gd name="p0y1" fmla="*/ 0 h 395"/>
              <a:gd name="p0x2" fmla="*/ 1008 w 1097"/>
              <a:gd name="p0y2" fmla="*/ 0 h 395"/>
              <a:gd name="p0x3" fmla="*/ 1097 w 1097"/>
              <a:gd name="p0y3" fmla="*/ 88 h 395"/>
              <a:gd name="p0x4" fmla="*/ 1097 w 1097"/>
              <a:gd name="p0y4" fmla="*/ 197 h 395"/>
              <a:gd name="p0x5" fmla="*/ 1097 w 1097"/>
              <a:gd name="p0y5" fmla="*/ 307 h 395"/>
              <a:gd name="p0x6" fmla="*/ 1008 w 1097"/>
              <a:gd name="p0y6" fmla="*/ 395 h 395"/>
              <a:gd name="p0x7" fmla="*/ 899 w 1097"/>
              <a:gd name="p0y7" fmla="*/ 395 h 395"/>
              <a:gd name="p0x8" fmla="*/ 197 w 1097"/>
              <a:gd name="p0y8" fmla="*/ 395 h 395"/>
              <a:gd name="p0x9" fmla="*/ 88 w 1097"/>
              <a:gd name="p0y9" fmla="*/ 395 h 395"/>
              <a:gd name="p0x10" fmla="*/ 0 w 1097"/>
              <a:gd name="p0y10" fmla="*/ 307 h 395"/>
              <a:gd name="p0x11" fmla="*/ 0 w 1097"/>
              <a:gd name="p0y11" fmla="*/ 197 h 395"/>
              <a:gd name="p0x12" fmla="*/ 0 w 1097"/>
              <a:gd name="p0y12" fmla="*/ 88 h 395"/>
              <a:gd name="p0x13" fmla="*/ 88 w 1097"/>
              <a:gd name="p0y13" fmla="*/ 0 h 395"/>
              <a:gd name="p0x14" fmla="*/ 197 w 1097"/>
              <a:gd name="p0y14" fmla="*/ 0 h 3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6"/>
            </p:custDataLst>
          </p:nvPr>
        </p:nvSpPr>
        <p:spPr>
          <a:xfrm>
            <a:off x="1019175" y="5197916"/>
            <a:ext cx="696963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lang="zh-CN" altLang="en-US"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步骤</a:t>
            </a:r>
            <a:r>
              <a:rPr lang="en-US" altLang="zh-CN"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 05</a:t>
            </a:r>
            <a:endParaRPr lang="en-US" altLang="zh-CN" sz="1200" b="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37" name="文本框 36"/>
          <p:cNvSpPr txBox="1"/>
          <p:nvPr>
            <p:custDataLst>
              <p:tags r:id="rId37"/>
            </p:custDataLst>
          </p:nvPr>
        </p:nvSpPr>
        <p:spPr>
          <a:xfrm>
            <a:off x="1716138" y="5181676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反馈记录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8" name="文本框 37"/>
          <p:cNvSpPr txBox="1"/>
          <p:nvPr>
            <p:custDataLst>
              <p:tags r:id="rId38"/>
            </p:custDataLst>
          </p:nvPr>
        </p:nvSpPr>
        <p:spPr>
          <a:xfrm>
            <a:off x="942975" y="5463645"/>
            <a:ext cx="105537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点赞、点踩、追问、转人工原因全部留痕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选型原则与回答规则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graphicFrame>
        <p:nvGraphicFramePr>
          <p:cNvPr id="25" name="表格 24"/>
          <p:cNvGraphicFramePr/>
          <p:nvPr>
            <p:custDataLst>
              <p:tags r:id="rId2"/>
            </p:custDataLst>
          </p:nvPr>
        </p:nvGraphicFramePr>
        <p:xfrm>
          <a:off x="581025" y="2495550"/>
          <a:ext cx="11039474" cy="3162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597"/>
                <a:gridCol w="5969422"/>
                <a:gridCol w="2044455"/>
              </a:tblGrid>
              <a:tr h="527669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规则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说明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目的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78160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回答有来源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政策售后类回答关联知识来源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降幻觉风险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  <a:tr h="878160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不确定就转人工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知识缺失、情绪激烈、赔偿争议不硬答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保护体验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  <a:tr h="878308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语气友好不乱承诺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可安抚，不承诺退款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赔偿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权益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控制风险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5945" y="1109345"/>
            <a:ext cx="3546475" cy="1219200"/>
          </a:xfrm>
          <a:custGeom>
            <a:avLst/>
            <a:gdLst>
              <a:gd name="sw" fmla="*/ 1 w 5585"/>
              <a:gd name="sh" fmla="*/ 1 h 1920"/>
              <a:gd name="mins" fmla="min sw sh"/>
              <a:gd name="dsw" fmla="+- 0 sw mins"/>
              <a:gd name="dsh" fmla="+- 0 sh mins"/>
              <a:gd name="p0x0" fmla="*/ 300 w 5585"/>
              <a:gd name="p0y0" fmla="*/ 0 h 1920"/>
              <a:gd name="p0x1" fmla="*/ 5285 w 5585"/>
              <a:gd name="p0y1" fmla="*/ 0 h 1920"/>
              <a:gd name="p0x2" fmla="*/ 5450 w 5585"/>
              <a:gd name="p0y2" fmla="*/ 0 h 1920"/>
              <a:gd name="p0x3" fmla="*/ 5585 w 5585"/>
              <a:gd name="p0y3" fmla="*/ 134 h 1920"/>
              <a:gd name="p0x4" fmla="*/ 5585 w 5585"/>
              <a:gd name="p0y4" fmla="*/ 300 h 1920"/>
              <a:gd name="p0x5" fmla="*/ 5585 w 5585"/>
              <a:gd name="p0y5" fmla="*/ 1620 h 1920"/>
              <a:gd name="p0x6" fmla="*/ 5585 w 5585"/>
              <a:gd name="p0y6" fmla="*/ 1785 h 1920"/>
              <a:gd name="p0x7" fmla="*/ 5450 w 5585"/>
              <a:gd name="p0y7" fmla="*/ 1920 h 1920"/>
              <a:gd name="p0x8" fmla="*/ 5285 w 5585"/>
              <a:gd name="p0y8" fmla="*/ 1920 h 1920"/>
              <a:gd name="p0x9" fmla="*/ 300 w 5585"/>
              <a:gd name="p0y9" fmla="*/ 1920 h 1920"/>
              <a:gd name="p0x10" fmla="*/ 134 w 5585"/>
              <a:gd name="p0y10" fmla="*/ 1920 h 1920"/>
              <a:gd name="p0x11" fmla="*/ 0 w 5585"/>
              <a:gd name="p0y11" fmla="*/ 1785 h 1920"/>
              <a:gd name="p0x12" fmla="*/ 0 w 5585"/>
              <a:gd name="p0y12" fmla="*/ 1620 h 1920"/>
              <a:gd name="p0x13" fmla="*/ 0 w 5585"/>
              <a:gd name="p0y13" fmla="*/ 300 h 1920"/>
              <a:gd name="p0x14" fmla="*/ 0 w 5585"/>
              <a:gd name="p0y14" fmla="*/ 134 h 1920"/>
              <a:gd name="p0x15" fmla="*/ 134 w 5585"/>
              <a:gd name="p0y15" fmla="*/ 0 h 1920"/>
              <a:gd name="p0x16" fmla="*/ 300 w 5585"/>
              <a:gd name="p0y16" fmla="*/ 0 h 19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771525" y="13144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828675" y="1371600"/>
            <a:ext cx="152400" cy="1524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114425" y="1289685"/>
            <a:ext cx="162766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1B3A5C"/>
                </a:solidFill>
                <a:cs typeface="+mn-lt"/>
              </a:rPr>
              <a:t>先稳定再智能</a:t>
            </a:r>
            <a:endParaRPr b="1" spc="36">
              <a:solidFill>
                <a:srgbClr val="1B3A5C"/>
              </a:solidFill>
              <a:cs typeface="+mn-lt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771525" y="1704975"/>
            <a:ext cx="3155950" cy="952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771525" y="1814513"/>
            <a:ext cx="31559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B8A"/>
                </a:solidFill>
                <a:cs typeface="+mn-lt"/>
              </a:rPr>
              <a:t>回答</a:t>
            </a:r>
            <a:r>
              <a:rPr sz="1500" b="1">
                <a:solidFill>
                  <a:schemeClr val="tx2"/>
                </a:solidFill>
                <a:cs typeface="+mn-lt"/>
              </a:rPr>
              <a:t>有依据、可追溯</a:t>
            </a:r>
            <a:r>
              <a:rPr sz="1500">
                <a:solidFill>
                  <a:srgbClr val="4A6B8A"/>
                </a:solidFill>
                <a:cs typeface="+mn-lt"/>
              </a:rPr>
              <a:t>、能转人工</a:t>
            </a:r>
            <a:endParaRPr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4322445" y="1109345"/>
            <a:ext cx="3546475" cy="1219200"/>
          </a:xfrm>
          <a:custGeom>
            <a:avLst/>
            <a:gdLst>
              <a:gd name="sw" fmla="*/ 1 w 5585"/>
              <a:gd name="sh" fmla="*/ 1 h 1920"/>
              <a:gd name="mins" fmla="min sw sh"/>
              <a:gd name="dsw" fmla="+- 0 sw mins"/>
              <a:gd name="dsh" fmla="+- 0 sh mins"/>
              <a:gd name="p0x0" fmla="*/ 300 w 5585"/>
              <a:gd name="p0y0" fmla="*/ 0 h 1920"/>
              <a:gd name="p0x1" fmla="*/ 5285 w 5585"/>
              <a:gd name="p0y1" fmla="*/ 0 h 1920"/>
              <a:gd name="p0x2" fmla="*/ 5450 w 5585"/>
              <a:gd name="p0y2" fmla="*/ 0 h 1920"/>
              <a:gd name="p0x3" fmla="*/ 5585 w 5585"/>
              <a:gd name="p0y3" fmla="*/ 134 h 1920"/>
              <a:gd name="p0x4" fmla="*/ 5585 w 5585"/>
              <a:gd name="p0y4" fmla="*/ 300 h 1920"/>
              <a:gd name="p0x5" fmla="*/ 5585 w 5585"/>
              <a:gd name="p0y5" fmla="*/ 1620 h 1920"/>
              <a:gd name="p0x6" fmla="*/ 5585 w 5585"/>
              <a:gd name="p0y6" fmla="*/ 1785 h 1920"/>
              <a:gd name="p0x7" fmla="*/ 5450 w 5585"/>
              <a:gd name="p0y7" fmla="*/ 1920 h 1920"/>
              <a:gd name="p0x8" fmla="*/ 5285 w 5585"/>
              <a:gd name="p0y8" fmla="*/ 1920 h 1920"/>
              <a:gd name="p0x9" fmla="*/ 300 w 5585"/>
              <a:gd name="p0y9" fmla="*/ 1920 h 1920"/>
              <a:gd name="p0x10" fmla="*/ 134 w 5585"/>
              <a:gd name="p0y10" fmla="*/ 1920 h 1920"/>
              <a:gd name="p0x11" fmla="*/ 0 w 5585"/>
              <a:gd name="p0y11" fmla="*/ 1785 h 1920"/>
              <a:gd name="p0x12" fmla="*/ 0 w 5585"/>
              <a:gd name="p0y12" fmla="*/ 1620 h 1920"/>
              <a:gd name="p0x13" fmla="*/ 0 w 5585"/>
              <a:gd name="p0y13" fmla="*/ 300 h 1920"/>
              <a:gd name="p0x14" fmla="*/ 0 w 5585"/>
              <a:gd name="p0y14" fmla="*/ 134 h 1920"/>
              <a:gd name="p0x15" fmla="*/ 134 w 5585"/>
              <a:gd name="p0y15" fmla="*/ 0 h 1920"/>
              <a:gd name="p0x16" fmla="*/ 300 w 5585"/>
              <a:gd name="p0y16" fmla="*/ 0 h 19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4518025" y="13144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4584700" y="1371600"/>
            <a:ext cx="133350" cy="1524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6"/>
            </p:custDataLst>
          </p:nvPr>
        </p:nvSpPr>
        <p:spPr>
          <a:xfrm>
            <a:off x="4860951" y="1289685"/>
            <a:ext cx="302672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1B3A5C"/>
                </a:solidFill>
                <a:cs typeface="+mn-lt"/>
              </a:rPr>
              <a:t>先接知识库再考虑自动动作</a:t>
            </a:r>
            <a:endParaRPr b="1" spc="36">
              <a:solidFill>
                <a:srgbClr val="1B3A5C"/>
              </a:solidFill>
              <a:cs typeface="+mn-lt"/>
            </a:endParaRPr>
          </a:p>
        </p:txBody>
      </p:sp>
      <p:sp>
        <p:nvSpPr>
          <p:cNvPr id="16" name="矩形 15"/>
          <p:cNvSpPr/>
          <p:nvPr>
            <p:custDataLst>
              <p:tags r:id="rId17"/>
            </p:custDataLst>
          </p:nvPr>
        </p:nvSpPr>
        <p:spPr>
          <a:xfrm>
            <a:off x="4518025" y="1704975"/>
            <a:ext cx="3155950" cy="952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8"/>
            </p:custDataLst>
          </p:nvPr>
        </p:nvSpPr>
        <p:spPr>
          <a:xfrm>
            <a:off x="4518051" y="1814513"/>
            <a:ext cx="315597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不做高风险</a:t>
            </a:r>
            <a:r>
              <a:rPr sz="1500">
                <a:solidFill>
                  <a:srgbClr val="4A6B8A"/>
                </a:solidFill>
                <a:cs typeface="+mn-lt"/>
              </a:rPr>
              <a:t>自动操作</a:t>
            </a:r>
            <a:endParaRPr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19"/>
            </p:custDataLst>
          </p:nvPr>
        </p:nvSpPr>
        <p:spPr>
          <a:xfrm>
            <a:off x="8068945" y="1109345"/>
            <a:ext cx="3546475" cy="1219200"/>
          </a:xfrm>
          <a:custGeom>
            <a:avLst/>
            <a:gdLst>
              <a:gd name="sw" fmla="*/ 1 w 5585"/>
              <a:gd name="sh" fmla="*/ 1 h 1920"/>
              <a:gd name="mins" fmla="min sw sh"/>
              <a:gd name="dsw" fmla="+- 0 sw mins"/>
              <a:gd name="dsh" fmla="+- 0 sh mins"/>
              <a:gd name="p0x0" fmla="*/ 300 w 5585"/>
              <a:gd name="p0y0" fmla="*/ 0 h 1920"/>
              <a:gd name="p0x1" fmla="*/ 5285 w 5585"/>
              <a:gd name="p0y1" fmla="*/ 0 h 1920"/>
              <a:gd name="p0x2" fmla="*/ 5450 w 5585"/>
              <a:gd name="p0y2" fmla="*/ 0 h 1920"/>
              <a:gd name="p0x3" fmla="*/ 5585 w 5585"/>
              <a:gd name="p0y3" fmla="*/ 134 h 1920"/>
              <a:gd name="p0x4" fmla="*/ 5585 w 5585"/>
              <a:gd name="p0y4" fmla="*/ 300 h 1920"/>
              <a:gd name="p0x5" fmla="*/ 5585 w 5585"/>
              <a:gd name="p0y5" fmla="*/ 1620 h 1920"/>
              <a:gd name="p0x6" fmla="*/ 5585 w 5585"/>
              <a:gd name="p0y6" fmla="*/ 1785 h 1920"/>
              <a:gd name="p0x7" fmla="*/ 5450 w 5585"/>
              <a:gd name="p0y7" fmla="*/ 1920 h 1920"/>
              <a:gd name="p0x8" fmla="*/ 5285 w 5585"/>
              <a:gd name="p0y8" fmla="*/ 1920 h 1920"/>
              <a:gd name="p0x9" fmla="*/ 300 w 5585"/>
              <a:gd name="p0y9" fmla="*/ 1920 h 1920"/>
              <a:gd name="p0x10" fmla="*/ 134 w 5585"/>
              <a:gd name="p0y10" fmla="*/ 1920 h 1920"/>
              <a:gd name="p0x11" fmla="*/ 0 w 5585"/>
              <a:gd name="p0y11" fmla="*/ 1785 h 1920"/>
              <a:gd name="p0x12" fmla="*/ 0 w 5585"/>
              <a:gd name="p0y12" fmla="*/ 1620 h 1920"/>
              <a:gd name="p0x13" fmla="*/ 0 w 5585"/>
              <a:gd name="p0y13" fmla="*/ 300 h 1920"/>
              <a:gd name="p0x14" fmla="*/ 0 w 5585"/>
              <a:gd name="p0y14" fmla="*/ 134 h 1920"/>
              <a:gd name="p0x15" fmla="*/ 134 w 5585"/>
              <a:gd name="p0y15" fmla="*/ 0 h 1920"/>
              <a:gd name="p0x16" fmla="*/ 300 w 5585"/>
              <a:gd name="p0y16" fmla="*/ 0 h 19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20"/>
            </p:custDataLst>
          </p:nvPr>
        </p:nvSpPr>
        <p:spPr>
          <a:xfrm>
            <a:off x="8264525" y="13144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5556" t="-3333" r="-5556" b="-3333"/>
          <a:stretch>
            <a:fillRect/>
          </a:stretch>
        </p:blipFill>
        <p:spPr>
          <a:xfrm>
            <a:off x="8302625" y="1371600"/>
            <a:ext cx="190500" cy="1524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8607476" y="1289685"/>
            <a:ext cx="186087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1B3A5C"/>
                </a:solidFill>
                <a:cs typeface="+mn-lt"/>
              </a:rPr>
              <a:t>保留人工审核位</a:t>
            </a:r>
            <a:endParaRPr b="1" spc="36">
              <a:solidFill>
                <a:srgbClr val="1B3A5C"/>
              </a:solidFill>
              <a:cs typeface="+mn-lt"/>
            </a:endParaRPr>
          </a:p>
        </p:txBody>
      </p:sp>
      <p:sp>
        <p:nvSpPr>
          <p:cNvPr id="23" name="矩形 22"/>
          <p:cNvSpPr/>
          <p:nvPr>
            <p:custDataLst>
              <p:tags r:id="rId25"/>
            </p:custDataLst>
          </p:nvPr>
        </p:nvSpPr>
        <p:spPr>
          <a:xfrm>
            <a:off x="8264525" y="1704975"/>
            <a:ext cx="3155950" cy="9525"/>
          </a:xfrm>
          <a:prstGeom prst="rect">
            <a:avLst/>
          </a:prstGeom>
          <a:solidFill>
            <a:schemeClr val="accent1">
              <a:alpha val="10196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8264576" y="1814513"/>
            <a:ext cx="195894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4A6B8A"/>
                </a:solidFill>
                <a:cs typeface="+mn-lt"/>
              </a:rPr>
              <a:t>AI </a:t>
            </a:r>
            <a:r>
              <a:rPr lang="zh-CN" sz="1500">
                <a:solidFill>
                  <a:srgbClr val="4A6B8A"/>
                </a:solidFill>
                <a:cs typeface="+mn-lt"/>
              </a:rPr>
              <a:t>不替人</a:t>
            </a:r>
            <a:r>
              <a:rPr sz="1500" b="1">
                <a:solidFill>
                  <a:schemeClr val="tx2"/>
                </a:solidFill>
                <a:cs typeface="+mn-lt"/>
              </a:rPr>
              <a:t>背业务责任</a:t>
            </a:r>
            <a:endParaRPr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6" name="任意多边形 25"/>
          <p:cNvSpPr/>
          <p:nvPr>
            <p:custDataLst>
              <p:tags r:id="rId27"/>
            </p:custDataLst>
          </p:nvPr>
        </p:nvSpPr>
        <p:spPr>
          <a:xfrm>
            <a:off x="571500" y="581025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762000" y="5985510"/>
            <a:ext cx="3657895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cs typeface="+mn-lt"/>
              </a:rPr>
              <a:t>宁可</a:t>
            </a:r>
            <a:r>
              <a:rPr b="1">
                <a:solidFill>
                  <a:srgbClr val="0A1E33"/>
                </a:solidFill>
                <a:cs typeface="+mn-lt"/>
              </a:rPr>
              <a:t>转人工</a:t>
            </a:r>
            <a:r>
              <a:rPr>
                <a:solidFill>
                  <a:srgbClr val="FFFFFF"/>
                </a:solidFill>
                <a:cs typeface="+mn-lt"/>
              </a:rPr>
              <a:t>，不可一本正经地</a:t>
            </a:r>
            <a:r>
              <a:rPr b="1">
                <a:solidFill>
                  <a:srgbClr val="0A1E33"/>
                </a:solidFill>
                <a:cs typeface="+mn-lt"/>
              </a:rPr>
              <a:t>答错</a:t>
            </a:r>
            <a:endParaRPr b="1">
              <a:solidFill>
                <a:srgbClr val="0A1E33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三类角色的呈现差异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280160"/>
            <a:ext cx="10668000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FFFFFF"/>
                </a:solidFill>
                <a:cs typeface="+mn-lt"/>
              </a:rPr>
              <a:t>同一套</a:t>
            </a:r>
            <a:r>
              <a:rPr lang="en-US" altLang="zh-CN">
                <a:solidFill>
                  <a:srgbClr val="FFFFFF"/>
                </a:solidFill>
                <a:cs typeface="+mn-lt"/>
              </a:rPr>
              <a:t> </a:t>
            </a:r>
            <a:r>
              <a:rPr lang="en-US" altLang="zh-CN" b="1">
                <a:solidFill>
                  <a:srgbClr val="0A1E33"/>
                </a:solidFill>
                <a:cs typeface="+mn-lt"/>
              </a:rPr>
              <a:t>AI </a:t>
            </a:r>
            <a:r>
              <a:rPr lang="zh-CN" altLang="en-US" b="1">
                <a:solidFill>
                  <a:srgbClr val="0A1E33"/>
                </a:solidFill>
                <a:cs typeface="+mn-lt"/>
              </a:rPr>
              <a:t>能力</a:t>
            </a:r>
            <a:r>
              <a:rPr>
                <a:solidFill>
                  <a:srgbClr val="FFFFFF"/>
                </a:solidFill>
                <a:cs typeface="+mn-lt"/>
              </a:rPr>
              <a:t>，面向三类角色呈现</a:t>
            </a:r>
            <a:r>
              <a:rPr b="1">
                <a:solidFill>
                  <a:srgbClr val="0A1E33"/>
                </a:solidFill>
                <a:cs typeface="+mn-lt"/>
              </a:rPr>
              <a:t>完全不同的信息视图</a:t>
            </a:r>
            <a:r>
              <a:rPr>
                <a:solidFill>
                  <a:srgbClr val="FFFFFF"/>
                </a:solidFill>
                <a:cs typeface="+mn-lt"/>
              </a:rPr>
              <a:t>，各取所需</a:t>
            </a:r>
            <a:endParaRPr>
              <a:solidFill>
                <a:srgbClr val="FFFFFF"/>
              </a:solidFill>
              <a:cs typeface="+mn-lt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1928495"/>
            <a:ext cx="11039475" cy="4543425"/>
          </a:xfrm>
          <a:custGeom>
            <a:avLst/>
            <a:gdLst>
              <a:gd name="sw" fmla="*/ 1 w 17385"/>
              <a:gd name="sh" fmla="*/ 1 h 7155"/>
              <a:gd name="mins" fmla="min sw sh"/>
              <a:gd name="dsw" fmla="+- 0 sw mins"/>
              <a:gd name="dsh" fmla="+- 0 sh mins"/>
              <a:gd name="p0x0" fmla="*/ 300 w 17385"/>
              <a:gd name="p0y0" fmla="*/ 0 h 7155"/>
              <a:gd name="p0x1" fmla="*/ 17085 w 17385"/>
              <a:gd name="p0y1" fmla="*/ 0 h 7155"/>
              <a:gd name="p0x2" fmla="*/ 17250 w 17385"/>
              <a:gd name="p0y2" fmla="*/ 0 h 7155"/>
              <a:gd name="p0x3" fmla="*/ 17385 w 17385"/>
              <a:gd name="p0y3" fmla="*/ 134 h 7155"/>
              <a:gd name="p0x4" fmla="*/ 17385 w 17385"/>
              <a:gd name="p0y4" fmla="*/ 300 h 7155"/>
              <a:gd name="p0x5" fmla="*/ 17385 w 17385"/>
              <a:gd name="p0y5" fmla="*/ 6855 h 7155"/>
              <a:gd name="p0x6" fmla="*/ 17385 w 17385"/>
              <a:gd name="p0y6" fmla="*/ 7020 h 7155"/>
              <a:gd name="p0x7" fmla="*/ 17250 w 17385"/>
              <a:gd name="p0y7" fmla="*/ 7155 h 7155"/>
              <a:gd name="p0x8" fmla="*/ 17085 w 17385"/>
              <a:gd name="p0y8" fmla="*/ 7155 h 7155"/>
              <a:gd name="p0x9" fmla="*/ 300 w 17385"/>
              <a:gd name="p0y9" fmla="*/ 7155 h 7155"/>
              <a:gd name="p0x10" fmla="*/ 134 w 17385"/>
              <a:gd name="p0y10" fmla="*/ 7155 h 7155"/>
              <a:gd name="p0x11" fmla="*/ 0 w 17385"/>
              <a:gd name="p0y11" fmla="*/ 7020 h 7155"/>
              <a:gd name="p0x12" fmla="*/ 0 w 17385"/>
              <a:gd name="p0y12" fmla="*/ 6855 h 7155"/>
              <a:gd name="p0x13" fmla="*/ 0 w 17385"/>
              <a:gd name="p0y13" fmla="*/ 300 h 7155"/>
              <a:gd name="p0x14" fmla="*/ 0 w 17385"/>
              <a:gd name="p0y14" fmla="*/ 134 h 7155"/>
              <a:gd name="p0x15" fmla="*/ 134 w 17385"/>
              <a:gd name="p0y15" fmla="*/ 0 h 7155"/>
              <a:gd name="p0x16" fmla="*/ 300 w 17385"/>
              <a:gd name="p0y16" fmla="*/ 0 h 7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/>
          <p:nvPr>
            <p:custDataLst>
              <p:tags r:id="rId5"/>
            </p:custDataLst>
          </p:nvPr>
        </p:nvGraphicFramePr>
        <p:xfrm>
          <a:off x="781050" y="2133600"/>
          <a:ext cx="10639424" cy="4143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378"/>
                <a:gridCol w="6681863"/>
                <a:gridCol w="2609183"/>
              </a:tblGrid>
              <a:tr h="527669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角色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看到什么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设计意图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205207"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rgbClr val="1B3A5C"/>
                          </a:solidFill>
                          <a:cs typeface="+mn-lt"/>
                        </a:rPr>
                        <a:t>C </a:t>
                      </a:r>
                      <a:r>
                        <a:rPr lang="zh-CN" sz="1500" b="1">
                          <a:solidFill>
                            <a:srgbClr val="1B3A5C"/>
                          </a:solidFill>
                          <a:cs typeface="+mn-lt"/>
                        </a:rPr>
                        <a:t>端用户</a:t>
                      </a:r>
                      <a:endParaRPr lang="zh-CN"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简洁回答、下一步操作、转人工入口、点赞点踩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只关心问题是否解决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  <a:tr h="1205207"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rgbClr val="1B3A5C"/>
                          </a:solidFill>
                          <a:cs typeface="+mn-lt"/>
                        </a:rPr>
                        <a:t>B </a:t>
                      </a:r>
                      <a:r>
                        <a:rPr lang="zh-CN" sz="1500" b="1">
                          <a:solidFill>
                            <a:srgbClr val="1B3A5C"/>
                          </a:solidFill>
                          <a:cs typeface="+mn-lt"/>
                        </a:rPr>
                        <a:t>端客服</a:t>
                      </a:r>
                      <a:endParaRPr lang="zh-CN"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建议话术、引用来源、用户摘要、置信度提示、审核按钮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判断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AI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是否可信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  <a:tr h="1205283"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rgbClr val="1B3A5C"/>
                          </a:solidFill>
                          <a:cs typeface="+mn-lt"/>
                        </a:rPr>
                        <a:t>AI </a:t>
                      </a:r>
                      <a:r>
                        <a:rPr lang="zh-CN" sz="1500" b="1">
                          <a:solidFill>
                            <a:srgbClr val="1B3A5C"/>
                          </a:solidFill>
                          <a:cs typeface="+mn-lt"/>
                        </a:rPr>
                        <a:t>运营</a:t>
                      </a:r>
                      <a:endParaRPr lang="zh-CN"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点踩原因、改写记录、转人工原因、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Bad Case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列表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复盘与持续优化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8801100" y="-685800"/>
            <a:ext cx="4000500" cy="4000500"/>
          </a:xfrm>
          <a:custGeom>
            <a:avLst/>
            <a:gdLst>
              <a:gd name="sw" fmla="*/ 1 w 6300"/>
              <a:gd name="sh" fmla="*/ 1 h 6300"/>
              <a:gd name="mins" fmla="min sw sh"/>
              <a:gd name="dsw" fmla="+- 0 sw mins"/>
              <a:gd name="dsh" fmla="+- 0 sh mins"/>
              <a:gd name="p0x0" fmla="*/ 3150 w 6300"/>
              <a:gd name="p0y0" fmla="*/ 0 h 6300"/>
              <a:gd name="p0x1" fmla="*/ 4889 w 6300"/>
              <a:gd name="p0y1" fmla="*/ 0 h 6300"/>
              <a:gd name="p0x2" fmla="*/ 6300 w 6300"/>
              <a:gd name="p0y2" fmla="*/ 1410 h 6300"/>
              <a:gd name="p0x3" fmla="*/ 6300 w 6300"/>
              <a:gd name="p0y3" fmla="*/ 3150 h 6300"/>
              <a:gd name="p0x4" fmla="*/ 6300 w 6300"/>
              <a:gd name="p0y4" fmla="*/ 4889 h 6300"/>
              <a:gd name="p0x5" fmla="*/ 4889 w 6300"/>
              <a:gd name="p0y5" fmla="*/ 6300 h 6300"/>
              <a:gd name="p0x6" fmla="*/ 3150 w 6300"/>
              <a:gd name="p0y6" fmla="*/ 6300 h 6300"/>
              <a:gd name="p0x7" fmla="*/ 1410 w 6300"/>
              <a:gd name="p0y7" fmla="*/ 6300 h 6300"/>
              <a:gd name="p0x8" fmla="*/ 0 w 6300"/>
              <a:gd name="p0y8" fmla="*/ 4889 h 6300"/>
              <a:gd name="p0x9" fmla="*/ 0 w 6300"/>
              <a:gd name="p0y9" fmla="*/ 3150 h 6300"/>
              <a:gd name="p0x10" fmla="*/ 0 w 6300"/>
              <a:gd name="p0y10" fmla="*/ 1410 h 6300"/>
              <a:gd name="p0x11" fmla="*/ 1410 w 6300"/>
              <a:gd name="p0y11" fmla="*/ 0 h 6300"/>
              <a:gd name="p0x12" fmla="*/ 3150 w 6300"/>
              <a:gd name="p0y12" fmla="*/ 0 h 6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571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4"/>
            </p:custDataLst>
          </p:nvPr>
        </p:nvSpPr>
        <p:spPr>
          <a:xfrm>
            <a:off x="-365125" y="3977005"/>
            <a:ext cx="3428365" cy="3429000"/>
          </a:xfrm>
          <a:custGeom>
            <a:avLst/>
            <a:gdLst>
              <a:gd name="sw" fmla="*/ 1 w 5400"/>
              <a:gd name="sh" fmla="*/ 1 h 5400"/>
              <a:gd name="mins" fmla="min sw sh"/>
              <a:gd name="dsw" fmla="+- 0 sw mins"/>
              <a:gd name="dsh" fmla="+- 0 sh mins"/>
              <a:gd name="p0x0" fmla="*/ 2700 w 5400"/>
              <a:gd name="p0y0" fmla="*/ 0 h 5400"/>
              <a:gd name="p0x1" fmla="*/ 4191 w 5400"/>
              <a:gd name="p0y1" fmla="*/ 0 h 5400"/>
              <a:gd name="p0x2" fmla="*/ 5400 w 5400"/>
              <a:gd name="p0y2" fmla="*/ 1208 h 5400"/>
              <a:gd name="p0x3" fmla="*/ 5400 w 5400"/>
              <a:gd name="p0y3" fmla="*/ 2700 h 5400"/>
              <a:gd name="p0x4" fmla="*/ 5400 w 5400"/>
              <a:gd name="p0y4" fmla="*/ 4191 h 5400"/>
              <a:gd name="p0x5" fmla="*/ 4191 w 5400"/>
              <a:gd name="p0y5" fmla="*/ 5400 h 5400"/>
              <a:gd name="p0x6" fmla="*/ 2700 w 5400"/>
              <a:gd name="p0y6" fmla="*/ 5400 h 5400"/>
              <a:gd name="p0x7" fmla="*/ 1208 w 5400"/>
              <a:gd name="p0y7" fmla="*/ 5400 h 5400"/>
              <a:gd name="p0x8" fmla="*/ 0 w 5400"/>
              <a:gd name="p0y8" fmla="*/ 4191 h 5400"/>
              <a:gd name="p0x9" fmla="*/ 0 w 5400"/>
              <a:gd name="p0y9" fmla="*/ 2700 h 5400"/>
              <a:gd name="p0x10" fmla="*/ 0 w 5400"/>
              <a:gd name="p0y10" fmla="*/ 1208 h 5400"/>
              <a:gd name="p0x11" fmla="*/ 1208 w 5400"/>
              <a:gd name="p0y11" fmla="*/ 0 h 5400"/>
              <a:gd name="p0x12" fmla="*/ 2700 w 5400"/>
              <a:gd name="p0y12" fmla="*/ 0 h 54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47625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809625" y="16502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666750" y="3508534"/>
            <a:ext cx="37338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人机协作设计</a:t>
            </a:r>
            <a:endParaRPr sz="42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666750" y="4436110"/>
            <a:ext cx="2132965" cy="9525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666750" y="4583906"/>
            <a:ext cx="232372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spc="30">
                <a:solidFill>
                  <a:srgbClr val="4A6B8A"/>
                </a:solidFill>
                <a:cs typeface="+mn-lt"/>
              </a:rPr>
              <a:t>AI</a:t>
            </a:r>
            <a:r>
              <a:rPr lang="zh-CN" sz="1500" spc="30">
                <a:solidFill>
                  <a:srgbClr val="4A6B8A"/>
                </a:solidFill>
                <a:cs typeface="+mn-lt"/>
              </a:rPr>
              <a:t>负责信息，人负责决策</a:t>
            </a:r>
            <a:endParaRPr lang="zh-CN"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666750" y="4888706"/>
            <a:ext cx="213322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spc="30">
                <a:solidFill>
                  <a:srgbClr val="4A6B8A"/>
                </a:solidFill>
                <a:cs typeface="+mn-lt"/>
              </a:rPr>
              <a:t>AI</a:t>
            </a:r>
            <a:r>
              <a:rPr lang="zh-CN" sz="1500" spc="30">
                <a:solidFill>
                  <a:srgbClr val="4A6B8A"/>
                </a:solidFill>
                <a:cs typeface="+mn-lt"/>
              </a:rPr>
              <a:t>做信息，人做决策</a:t>
            </a:r>
            <a:endParaRPr lang="zh-CN"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 rot="2700000">
            <a:off x="666115" y="1714500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3"/>
            </p:custDataLst>
          </p:nvPr>
        </p:nvSpPr>
        <p:spPr>
          <a:xfrm>
            <a:off x="1819910" y="173355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4"/>
            </p:custDataLst>
          </p:nvPr>
        </p:nvSpPr>
        <p:spPr>
          <a:xfrm>
            <a:off x="666750" y="2097881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1A73E8">
                    <a:alpha val="12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05</a:t>
            </a:r>
            <a:endParaRPr sz="9000" b="1">
              <a:solidFill>
                <a:srgbClr val="1A73E8">
                  <a:alpha val="12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人机协作四阶段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028700" cy="1071245"/>
          </a:xfrm>
          <a:custGeom>
            <a:avLst/>
            <a:gdLst>
              <a:gd name="sw" fmla="*/ 1 w 1620"/>
              <a:gd name="sh" fmla="*/ 1 h 1687"/>
              <a:gd name="mins" fmla="min sw sh"/>
              <a:gd name="dsw" fmla="+- 0 sw mins"/>
              <a:gd name="dsh" fmla="+- 0 sh mins"/>
              <a:gd name="p0x0" fmla="*/ 240 w 1620"/>
              <a:gd name="p0y0" fmla="*/ 0 h 1687"/>
              <a:gd name="p0x1" fmla="*/ 1380 w 1620"/>
              <a:gd name="p0y1" fmla="*/ 0 h 1687"/>
              <a:gd name="p0x2" fmla="*/ 1386 w 1620"/>
              <a:gd name="p0y2" fmla="*/ 0 h 1687"/>
              <a:gd name="p0x3" fmla="*/ 1392 w 1620"/>
              <a:gd name="p0y3" fmla="*/ 0 h 1687"/>
              <a:gd name="p0x4" fmla="*/ 1398 w 1620"/>
              <a:gd name="p0y4" fmla="*/ 0 h 1687"/>
              <a:gd name="p0x5" fmla="*/ 1404 w 1620"/>
              <a:gd name="p0y5" fmla="*/ 1 h 1687"/>
              <a:gd name="p0x6" fmla="*/ 1410 w 1620"/>
              <a:gd name="p0y6" fmla="*/ 1 h 1687"/>
              <a:gd name="p0x7" fmla="*/ 1620 w 1620"/>
              <a:gd name="p0y7" fmla="*/ 843 h 1687"/>
              <a:gd name="p0x8" fmla="*/ 1410 w 1620"/>
              <a:gd name="p0y8" fmla="*/ 1685 h 1687"/>
              <a:gd name="p0x9" fmla="*/ 1404 w 1620"/>
              <a:gd name="p0y9" fmla="*/ 1686 h 1687"/>
              <a:gd name="p0x10" fmla="*/ 1398 w 1620"/>
              <a:gd name="p0y10" fmla="*/ 1686 h 1687"/>
              <a:gd name="p0x11" fmla="*/ 1392 w 1620"/>
              <a:gd name="p0y11" fmla="*/ 1687 h 1687"/>
              <a:gd name="p0x12" fmla="*/ 1386 w 1620"/>
              <a:gd name="p0y12" fmla="*/ 1687 h 1687"/>
              <a:gd name="p0x13" fmla="*/ 1380 w 1620"/>
              <a:gd name="p0y13" fmla="*/ 1687 h 1687"/>
              <a:gd name="p0x14" fmla="*/ 240 w 1620"/>
              <a:gd name="p0y14" fmla="*/ 1687 h 1687"/>
              <a:gd name="p0x15" fmla="*/ 233 w 1620"/>
              <a:gd name="p0y15" fmla="*/ 1687 h 1687"/>
              <a:gd name="p0x16" fmla="*/ 227 w 1620"/>
              <a:gd name="p0y16" fmla="*/ 1687 h 1687"/>
              <a:gd name="p0x17" fmla="*/ 221 w 1620"/>
              <a:gd name="p0y17" fmla="*/ 1686 h 1687"/>
              <a:gd name="p0x18" fmla="*/ 215 w 1620"/>
              <a:gd name="p0y18" fmla="*/ 1686 h 1687"/>
              <a:gd name="p0x19" fmla="*/ 208 w 1620"/>
              <a:gd name="p0y19" fmla="*/ 1685 h 1687"/>
              <a:gd name="p0x20" fmla="*/ 202 w 1620"/>
              <a:gd name="p0y20" fmla="*/ 1684 h 1687"/>
              <a:gd name="p0x21" fmla="*/ 196 w 1620"/>
              <a:gd name="p0y21" fmla="*/ 1683 h 1687"/>
              <a:gd name="p0x22" fmla="*/ 190 w 1620"/>
              <a:gd name="p0y22" fmla="*/ 1682 h 1687"/>
              <a:gd name="p0x23" fmla="*/ 184 w 1620"/>
              <a:gd name="p0y23" fmla="*/ 1681 h 1687"/>
              <a:gd name="p0x24" fmla="*/ 179 w 1620"/>
              <a:gd name="p0y24" fmla="*/ 1679 h 1687"/>
              <a:gd name="p0x25" fmla="*/ 173 w 1620"/>
              <a:gd name="p0y25" fmla="*/ 1678 h 1687"/>
              <a:gd name="p0x26" fmla="*/ 167 w 1620"/>
              <a:gd name="p0y26" fmla="*/ 1676 h 1687"/>
              <a:gd name="p0x27" fmla="*/ 161 w 1620"/>
              <a:gd name="p0y27" fmla="*/ 1674 h 1687"/>
              <a:gd name="p0x28" fmla="*/ 156 w 1620"/>
              <a:gd name="p0y28" fmla="*/ 1672 h 1687"/>
              <a:gd name="p0x29" fmla="*/ 150 w 1620"/>
              <a:gd name="p0y29" fmla="*/ 1670 h 1687"/>
              <a:gd name="p0x30" fmla="*/ 145 w 1620"/>
              <a:gd name="p0y30" fmla="*/ 1668 h 1687"/>
              <a:gd name="p0x31" fmla="*/ 139 w 1620"/>
              <a:gd name="p0y31" fmla="*/ 1665 h 1687"/>
              <a:gd name="p0x32" fmla="*/ 134 w 1620"/>
              <a:gd name="p0y32" fmla="*/ 1663 h 1687"/>
              <a:gd name="p0x33" fmla="*/ 129 w 1620"/>
              <a:gd name="p0y33" fmla="*/ 1660 h 1687"/>
              <a:gd name="p0x34" fmla="*/ 123 w 1620"/>
              <a:gd name="p0y34" fmla="*/ 1657 h 1687"/>
              <a:gd name="p0x35" fmla="*/ 118 w 1620"/>
              <a:gd name="p0y35" fmla="*/ 1654 h 1687"/>
              <a:gd name="p0x36" fmla="*/ 113 w 1620"/>
              <a:gd name="p0y36" fmla="*/ 1651 h 1687"/>
              <a:gd name="p0x37" fmla="*/ 108 w 1620"/>
              <a:gd name="p0y37" fmla="*/ 1648 h 1687"/>
              <a:gd name="p0x38" fmla="*/ 103 w 1620"/>
              <a:gd name="p0y38" fmla="*/ 1645 h 1687"/>
              <a:gd name="p0x39" fmla="*/ 99 w 1620"/>
              <a:gd name="p0y39" fmla="*/ 1641 h 1687"/>
              <a:gd name="p0x40" fmla="*/ 94 w 1620"/>
              <a:gd name="p0y40" fmla="*/ 1638 h 1687"/>
              <a:gd name="p0x41" fmla="*/ 89 w 1620"/>
              <a:gd name="p0y41" fmla="*/ 1634 h 1687"/>
              <a:gd name="p0x42" fmla="*/ 85 w 1620"/>
              <a:gd name="p0y42" fmla="*/ 1631 h 1687"/>
              <a:gd name="p0x43" fmla="*/ 80 w 1620"/>
              <a:gd name="p0y43" fmla="*/ 1627 h 1687"/>
              <a:gd name="p0x44" fmla="*/ 76 w 1620"/>
              <a:gd name="p0y44" fmla="*/ 1623 h 1687"/>
              <a:gd name="p0x45" fmla="*/ 72 w 1620"/>
              <a:gd name="p0y45" fmla="*/ 1619 h 1687"/>
              <a:gd name="p0x46" fmla="*/ 68 w 1620"/>
              <a:gd name="p0y46" fmla="*/ 1615 h 1687"/>
              <a:gd name="p0x47" fmla="*/ 64 w 1620"/>
              <a:gd name="p0y47" fmla="*/ 1610 h 1687"/>
              <a:gd name="p0x48" fmla="*/ 60 w 1620"/>
              <a:gd name="p0y48" fmla="*/ 1606 h 1687"/>
              <a:gd name="p0x49" fmla="*/ 56 w 1620"/>
              <a:gd name="p0y49" fmla="*/ 1602 h 1687"/>
              <a:gd name="p0x50" fmla="*/ 52 w 1620"/>
              <a:gd name="p0y50" fmla="*/ 1597 h 1687"/>
              <a:gd name="p0x51" fmla="*/ 49 w 1620"/>
              <a:gd name="p0y51" fmla="*/ 1592 h 1687"/>
              <a:gd name="p0x52" fmla="*/ 45 w 1620"/>
              <a:gd name="p0y52" fmla="*/ 1588 h 1687"/>
              <a:gd name="p0x53" fmla="*/ 42 w 1620"/>
              <a:gd name="p0y53" fmla="*/ 1583 h 1687"/>
              <a:gd name="p0x54" fmla="*/ 38 w 1620"/>
              <a:gd name="p0y54" fmla="*/ 1578 h 1687"/>
              <a:gd name="p0x55" fmla="*/ 35 w 1620"/>
              <a:gd name="p0y55" fmla="*/ 1573 h 1687"/>
              <a:gd name="p0x56" fmla="*/ 32 w 1620"/>
              <a:gd name="p0y56" fmla="*/ 1568 h 1687"/>
              <a:gd name="p0x57" fmla="*/ 29 w 1620"/>
              <a:gd name="p0y57" fmla="*/ 1563 h 1687"/>
              <a:gd name="p0x58" fmla="*/ 27 w 1620"/>
              <a:gd name="p0y58" fmla="*/ 1558 h 1687"/>
              <a:gd name="p0x59" fmla="*/ 24 w 1620"/>
              <a:gd name="p0y59" fmla="*/ 1553 h 1687"/>
              <a:gd name="p0x60" fmla="*/ 21 w 1620"/>
              <a:gd name="p0y60" fmla="*/ 1547 h 1687"/>
              <a:gd name="p0x61" fmla="*/ 19 w 1620"/>
              <a:gd name="p0y61" fmla="*/ 1542 h 1687"/>
              <a:gd name="p0x62" fmla="*/ 17 w 1620"/>
              <a:gd name="p0y62" fmla="*/ 1536 h 1687"/>
              <a:gd name="p0x63" fmla="*/ 15 w 1620"/>
              <a:gd name="p0y63" fmla="*/ 1531 h 1687"/>
              <a:gd name="p0x64" fmla="*/ 13 w 1620"/>
              <a:gd name="p0y64" fmla="*/ 1525 h 1687"/>
              <a:gd name="p0x65" fmla="*/ 11 w 1620"/>
              <a:gd name="p0y65" fmla="*/ 1519 h 1687"/>
              <a:gd name="p0x66" fmla="*/ 9 w 1620"/>
              <a:gd name="p0y66" fmla="*/ 1514 h 1687"/>
              <a:gd name="p0x67" fmla="*/ 7 w 1620"/>
              <a:gd name="p0y67" fmla="*/ 1508 h 1687"/>
              <a:gd name="p0x68" fmla="*/ 6 w 1620"/>
              <a:gd name="p0y68" fmla="*/ 1502 h 1687"/>
              <a:gd name="p0x69" fmla="*/ 5 w 1620"/>
              <a:gd name="p0y69" fmla="*/ 1496 h 1687"/>
              <a:gd name="p0x70" fmla="*/ 3 w 1620"/>
              <a:gd name="p0y70" fmla="*/ 1490 h 1687"/>
              <a:gd name="p0x71" fmla="*/ 2 w 1620"/>
              <a:gd name="p0y71" fmla="*/ 1484 h 1687"/>
              <a:gd name="p0x72" fmla="*/ 1 w 1620"/>
              <a:gd name="p0y72" fmla="*/ 1478 h 1687"/>
              <a:gd name="p0x73" fmla="*/ 1 w 1620"/>
              <a:gd name="p0y73" fmla="*/ 1472 h 1687"/>
              <a:gd name="p0x74" fmla="*/ 0 w 1620"/>
              <a:gd name="p0y74" fmla="*/ 1466 h 1687"/>
              <a:gd name="p0x75" fmla="*/ 0 w 1620"/>
              <a:gd name="p0y75" fmla="*/ 1460 h 1687"/>
              <a:gd name="p0x76" fmla="*/ 0 w 1620"/>
              <a:gd name="p0y76" fmla="*/ 1453 h 1687"/>
              <a:gd name="p0x77" fmla="*/ 0 w 1620"/>
              <a:gd name="p0y77" fmla="*/ 1447 h 1687"/>
              <a:gd name="p0x78" fmla="*/ 0 w 1620"/>
              <a:gd name="p0y78" fmla="*/ 240 h 1687"/>
              <a:gd name="p0x79" fmla="*/ 0 w 1620"/>
              <a:gd name="p0y79" fmla="*/ 233 h 1687"/>
              <a:gd name="p0x80" fmla="*/ 0 w 1620"/>
              <a:gd name="p0y80" fmla="*/ 227 h 1687"/>
              <a:gd name="p0x81" fmla="*/ 0 w 1620"/>
              <a:gd name="p0y81" fmla="*/ 221 h 1687"/>
              <a:gd name="p0x82" fmla="*/ 1 w 1620"/>
              <a:gd name="p0y82" fmla="*/ 215 h 1687"/>
              <a:gd name="p0x83" fmla="*/ 1 w 1620"/>
              <a:gd name="p0y83" fmla="*/ 208 h 1687"/>
              <a:gd name="p0x84" fmla="*/ 2 w 1620"/>
              <a:gd name="p0y84" fmla="*/ 202 h 1687"/>
              <a:gd name="p0x85" fmla="*/ 3 w 1620"/>
              <a:gd name="p0y85" fmla="*/ 196 h 1687"/>
              <a:gd name="p0x86" fmla="*/ 5 w 1620"/>
              <a:gd name="p0y86" fmla="*/ 190 h 1687"/>
              <a:gd name="p0x87" fmla="*/ 6 w 1620"/>
              <a:gd name="p0y87" fmla="*/ 184 h 1687"/>
              <a:gd name="p0x88" fmla="*/ 7 w 1620"/>
              <a:gd name="p0y88" fmla="*/ 179 h 1687"/>
              <a:gd name="p0x89" fmla="*/ 9 w 1620"/>
              <a:gd name="p0y89" fmla="*/ 173 h 1687"/>
              <a:gd name="p0x90" fmla="*/ 11 w 1620"/>
              <a:gd name="p0y90" fmla="*/ 167 h 1687"/>
              <a:gd name="p0x91" fmla="*/ 13 w 1620"/>
              <a:gd name="p0y91" fmla="*/ 161 h 1687"/>
              <a:gd name="p0x92" fmla="*/ 15 w 1620"/>
              <a:gd name="p0y92" fmla="*/ 156 h 1687"/>
              <a:gd name="p0x93" fmla="*/ 17 w 1620"/>
              <a:gd name="p0y93" fmla="*/ 150 h 1687"/>
              <a:gd name="p0x94" fmla="*/ 19 w 1620"/>
              <a:gd name="p0y94" fmla="*/ 145 h 1687"/>
              <a:gd name="p0x95" fmla="*/ 21 w 1620"/>
              <a:gd name="p0y95" fmla="*/ 139 h 1687"/>
              <a:gd name="p0x96" fmla="*/ 24 w 1620"/>
              <a:gd name="p0y96" fmla="*/ 134 h 1687"/>
              <a:gd name="p0x97" fmla="*/ 27 w 1620"/>
              <a:gd name="p0y97" fmla="*/ 129 h 1687"/>
              <a:gd name="p0x98" fmla="*/ 29 w 1620"/>
              <a:gd name="p0y98" fmla="*/ 123 h 1687"/>
              <a:gd name="p0x99" fmla="*/ 32 w 1620"/>
              <a:gd name="p0y99" fmla="*/ 118 h 1687"/>
              <a:gd name="p0x100" fmla="*/ 35 w 1620"/>
              <a:gd name="p0y100" fmla="*/ 113 h 1687"/>
              <a:gd name="p0x101" fmla="*/ 38 w 1620"/>
              <a:gd name="p0y101" fmla="*/ 108 h 1687"/>
              <a:gd name="p0x102" fmla="*/ 42 w 1620"/>
              <a:gd name="p0y102" fmla="*/ 103 h 1687"/>
              <a:gd name="p0x103" fmla="*/ 45 w 1620"/>
              <a:gd name="p0y103" fmla="*/ 99 h 1687"/>
              <a:gd name="p0x104" fmla="*/ 49 w 1620"/>
              <a:gd name="p0y104" fmla="*/ 94 h 1687"/>
              <a:gd name="p0x105" fmla="*/ 52 w 1620"/>
              <a:gd name="p0y105" fmla="*/ 89 h 1687"/>
              <a:gd name="p0x106" fmla="*/ 56 w 1620"/>
              <a:gd name="p0y106" fmla="*/ 85 h 1687"/>
              <a:gd name="p0x107" fmla="*/ 60 w 1620"/>
              <a:gd name="p0y107" fmla="*/ 80 h 1687"/>
              <a:gd name="p0x108" fmla="*/ 64 w 1620"/>
              <a:gd name="p0y108" fmla="*/ 76 h 1687"/>
              <a:gd name="p0x109" fmla="*/ 68 w 1620"/>
              <a:gd name="p0y109" fmla="*/ 72 h 1687"/>
              <a:gd name="p0x110" fmla="*/ 72 w 1620"/>
              <a:gd name="p0y110" fmla="*/ 68 h 1687"/>
              <a:gd name="p0x111" fmla="*/ 76 w 1620"/>
              <a:gd name="p0y111" fmla="*/ 64 h 1687"/>
              <a:gd name="p0x112" fmla="*/ 80 w 1620"/>
              <a:gd name="p0y112" fmla="*/ 60 h 1687"/>
              <a:gd name="p0x113" fmla="*/ 85 w 1620"/>
              <a:gd name="p0y113" fmla="*/ 56 h 1687"/>
              <a:gd name="p0x114" fmla="*/ 89 w 1620"/>
              <a:gd name="p0y114" fmla="*/ 52 h 1687"/>
              <a:gd name="p0x115" fmla="*/ 94 w 1620"/>
              <a:gd name="p0y115" fmla="*/ 49 h 1687"/>
              <a:gd name="p0x116" fmla="*/ 99 w 1620"/>
              <a:gd name="p0y116" fmla="*/ 45 h 1687"/>
              <a:gd name="p0x117" fmla="*/ 103 w 1620"/>
              <a:gd name="p0y117" fmla="*/ 42 h 1687"/>
              <a:gd name="p0x118" fmla="*/ 108 w 1620"/>
              <a:gd name="p0y118" fmla="*/ 38 h 1687"/>
              <a:gd name="p0x119" fmla="*/ 113 w 1620"/>
              <a:gd name="p0y119" fmla="*/ 35 h 1687"/>
              <a:gd name="p0x120" fmla="*/ 118 w 1620"/>
              <a:gd name="p0y120" fmla="*/ 32 h 1687"/>
              <a:gd name="p0x121" fmla="*/ 123 w 1620"/>
              <a:gd name="p0y121" fmla="*/ 29 h 1687"/>
              <a:gd name="p0x122" fmla="*/ 129 w 1620"/>
              <a:gd name="p0y122" fmla="*/ 27 h 1687"/>
              <a:gd name="p0x123" fmla="*/ 134 w 1620"/>
              <a:gd name="p0y123" fmla="*/ 24 h 1687"/>
              <a:gd name="p0x124" fmla="*/ 139 w 1620"/>
              <a:gd name="p0y124" fmla="*/ 21 h 1687"/>
              <a:gd name="p0x125" fmla="*/ 145 w 1620"/>
              <a:gd name="p0y125" fmla="*/ 19 h 1687"/>
              <a:gd name="p0x126" fmla="*/ 150 w 1620"/>
              <a:gd name="p0y126" fmla="*/ 17 h 1687"/>
              <a:gd name="p0x127" fmla="*/ 156 w 1620"/>
              <a:gd name="p0y127" fmla="*/ 15 h 1687"/>
              <a:gd name="p0x128" fmla="*/ 161 w 1620"/>
              <a:gd name="p0y128" fmla="*/ 13 h 1687"/>
              <a:gd name="p0x129" fmla="*/ 167 w 1620"/>
              <a:gd name="p0y129" fmla="*/ 11 h 1687"/>
              <a:gd name="p0x130" fmla="*/ 173 w 1620"/>
              <a:gd name="p0y130" fmla="*/ 9 h 1687"/>
              <a:gd name="p0x131" fmla="*/ 179 w 1620"/>
              <a:gd name="p0y131" fmla="*/ 7 h 1687"/>
              <a:gd name="p0x132" fmla="*/ 184 w 1620"/>
              <a:gd name="p0y132" fmla="*/ 6 h 1687"/>
              <a:gd name="p0x133" fmla="*/ 190 w 1620"/>
              <a:gd name="p0y133" fmla="*/ 5 h 1687"/>
              <a:gd name="p0x134" fmla="*/ 196 w 1620"/>
              <a:gd name="p0y134" fmla="*/ 3 h 1687"/>
              <a:gd name="p0x135" fmla="*/ 202 w 1620"/>
              <a:gd name="p0y135" fmla="*/ 2 h 1687"/>
              <a:gd name="p0x136" fmla="*/ 208 w 1620"/>
              <a:gd name="p0y136" fmla="*/ 1 h 1687"/>
              <a:gd name="p0x137" fmla="*/ 215 w 1620"/>
              <a:gd name="p0y137" fmla="*/ 1 h 1687"/>
              <a:gd name="p0x138" fmla="*/ 221 w 1620"/>
              <a:gd name="p0y138" fmla="*/ 0 h 1687"/>
              <a:gd name="p0x139" fmla="*/ 227 w 1620"/>
              <a:gd name="p0y139" fmla="*/ 0 h 1687"/>
              <a:gd name="p0x140" fmla="*/ 233 w 1620"/>
              <a:gd name="p0y140" fmla="*/ 0 h 1687"/>
              <a:gd name="p0x141" fmla="*/ 240 w 1620"/>
              <a:gd name="p0y141" fmla="*/ 0 h 16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lnTo>
                  <a:pt x="p0x132" y="p0y132"/>
                </a:lnTo>
                <a:lnTo>
                  <a:pt x="p0x133" y="p0y133"/>
                </a:lnTo>
                <a:lnTo>
                  <a:pt x="p0x134" y="p0y134"/>
                </a:lnTo>
                <a:lnTo>
                  <a:pt x="p0x135" y="p0y135"/>
                </a:lnTo>
                <a:lnTo>
                  <a:pt x="p0x136" y="p0y136"/>
                </a:lnTo>
                <a:lnTo>
                  <a:pt x="p0x137" y="p0y137"/>
                </a:lnTo>
                <a:lnTo>
                  <a:pt x="p0x138" y="p0y138"/>
                </a:lnTo>
                <a:lnTo>
                  <a:pt x="p0x139" y="p0y139"/>
                </a:lnTo>
                <a:lnTo>
                  <a:pt x="p0x140" y="p0y140"/>
                </a:lnTo>
                <a:lnTo>
                  <a:pt x="p0x141" y="p0y14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80831" y="1426369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 1 </a:t>
            </a:r>
            <a:r>
              <a:rPr lang="zh-CN" altLang="en-US" sz="1050" spc="63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环</a:t>
            </a:r>
            <a:endParaRPr lang="zh-CN" altLang="en-US" sz="1050" spc="63">
              <a:solidFill>
                <a:srgbClr val="FFFFFF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09600" y="1602581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</a:rPr>
              <a:t>用户提问</a:t>
            </a:r>
            <a:endParaRPr sz="1500" b="1">
              <a:solidFill>
                <a:srgbClr val="FFFFFF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5"/>
            </p:custDataLst>
          </p:nvPr>
        </p:nvSpPr>
        <p:spPr>
          <a:xfrm>
            <a:off x="571500" y="2290445"/>
            <a:ext cx="1028700" cy="1071880"/>
          </a:xfrm>
          <a:custGeom>
            <a:avLst/>
            <a:gdLst>
              <a:gd name="sw" fmla="*/ 1 w 1620"/>
              <a:gd name="sh" fmla="*/ 1 h 1687"/>
              <a:gd name="mins" fmla="min sw sh"/>
              <a:gd name="dsw" fmla="+- 0 sw mins"/>
              <a:gd name="dsh" fmla="+- 0 sh mins"/>
              <a:gd name="p0x0" fmla="*/ 240 w 1620"/>
              <a:gd name="p0y0" fmla="*/ 0 h 1687"/>
              <a:gd name="p0x1" fmla="*/ 1380 w 1620"/>
              <a:gd name="p0y1" fmla="*/ 0 h 1687"/>
              <a:gd name="p0x2" fmla="*/ 1386 w 1620"/>
              <a:gd name="p0y2" fmla="*/ 0 h 1687"/>
              <a:gd name="p0x3" fmla="*/ 1392 w 1620"/>
              <a:gd name="p0y3" fmla="*/ 0 h 1687"/>
              <a:gd name="p0x4" fmla="*/ 1398 w 1620"/>
              <a:gd name="p0y4" fmla="*/ 0 h 1687"/>
              <a:gd name="p0x5" fmla="*/ 1404 w 1620"/>
              <a:gd name="p0y5" fmla="*/ 1 h 1687"/>
              <a:gd name="p0x6" fmla="*/ 1410 w 1620"/>
              <a:gd name="p0y6" fmla="*/ 1 h 1687"/>
              <a:gd name="p0x7" fmla="*/ 1620 w 1620"/>
              <a:gd name="p0y7" fmla="*/ 843 h 1687"/>
              <a:gd name="p0x8" fmla="*/ 1410 w 1620"/>
              <a:gd name="p0y8" fmla="*/ 1685 h 1687"/>
              <a:gd name="p0x9" fmla="*/ 1404 w 1620"/>
              <a:gd name="p0y9" fmla="*/ 1686 h 1687"/>
              <a:gd name="p0x10" fmla="*/ 1398 w 1620"/>
              <a:gd name="p0y10" fmla="*/ 1686 h 1687"/>
              <a:gd name="p0x11" fmla="*/ 1392 w 1620"/>
              <a:gd name="p0y11" fmla="*/ 1687 h 1687"/>
              <a:gd name="p0x12" fmla="*/ 1386 w 1620"/>
              <a:gd name="p0y12" fmla="*/ 1687 h 1687"/>
              <a:gd name="p0x13" fmla="*/ 1380 w 1620"/>
              <a:gd name="p0y13" fmla="*/ 1687 h 1687"/>
              <a:gd name="p0x14" fmla="*/ 240 w 1620"/>
              <a:gd name="p0y14" fmla="*/ 1687 h 1687"/>
              <a:gd name="p0x15" fmla="*/ 233 w 1620"/>
              <a:gd name="p0y15" fmla="*/ 1687 h 1687"/>
              <a:gd name="p0x16" fmla="*/ 227 w 1620"/>
              <a:gd name="p0y16" fmla="*/ 1687 h 1687"/>
              <a:gd name="p0x17" fmla="*/ 221 w 1620"/>
              <a:gd name="p0y17" fmla="*/ 1686 h 1687"/>
              <a:gd name="p0x18" fmla="*/ 215 w 1620"/>
              <a:gd name="p0y18" fmla="*/ 1686 h 1687"/>
              <a:gd name="p0x19" fmla="*/ 208 w 1620"/>
              <a:gd name="p0y19" fmla="*/ 1685 h 1687"/>
              <a:gd name="p0x20" fmla="*/ 202 w 1620"/>
              <a:gd name="p0y20" fmla="*/ 1684 h 1687"/>
              <a:gd name="p0x21" fmla="*/ 196 w 1620"/>
              <a:gd name="p0y21" fmla="*/ 1683 h 1687"/>
              <a:gd name="p0x22" fmla="*/ 190 w 1620"/>
              <a:gd name="p0y22" fmla="*/ 1682 h 1687"/>
              <a:gd name="p0x23" fmla="*/ 184 w 1620"/>
              <a:gd name="p0y23" fmla="*/ 1681 h 1687"/>
              <a:gd name="p0x24" fmla="*/ 179 w 1620"/>
              <a:gd name="p0y24" fmla="*/ 1679 h 1687"/>
              <a:gd name="p0x25" fmla="*/ 173 w 1620"/>
              <a:gd name="p0y25" fmla="*/ 1678 h 1687"/>
              <a:gd name="p0x26" fmla="*/ 167 w 1620"/>
              <a:gd name="p0y26" fmla="*/ 1676 h 1687"/>
              <a:gd name="p0x27" fmla="*/ 161 w 1620"/>
              <a:gd name="p0y27" fmla="*/ 1674 h 1687"/>
              <a:gd name="p0x28" fmla="*/ 156 w 1620"/>
              <a:gd name="p0y28" fmla="*/ 1672 h 1687"/>
              <a:gd name="p0x29" fmla="*/ 150 w 1620"/>
              <a:gd name="p0y29" fmla="*/ 1670 h 1687"/>
              <a:gd name="p0x30" fmla="*/ 145 w 1620"/>
              <a:gd name="p0y30" fmla="*/ 1668 h 1687"/>
              <a:gd name="p0x31" fmla="*/ 139 w 1620"/>
              <a:gd name="p0y31" fmla="*/ 1665 h 1687"/>
              <a:gd name="p0x32" fmla="*/ 134 w 1620"/>
              <a:gd name="p0y32" fmla="*/ 1663 h 1687"/>
              <a:gd name="p0x33" fmla="*/ 129 w 1620"/>
              <a:gd name="p0y33" fmla="*/ 1660 h 1687"/>
              <a:gd name="p0x34" fmla="*/ 123 w 1620"/>
              <a:gd name="p0y34" fmla="*/ 1657 h 1687"/>
              <a:gd name="p0x35" fmla="*/ 118 w 1620"/>
              <a:gd name="p0y35" fmla="*/ 1654 h 1687"/>
              <a:gd name="p0x36" fmla="*/ 113 w 1620"/>
              <a:gd name="p0y36" fmla="*/ 1651 h 1687"/>
              <a:gd name="p0x37" fmla="*/ 108 w 1620"/>
              <a:gd name="p0y37" fmla="*/ 1648 h 1687"/>
              <a:gd name="p0x38" fmla="*/ 103 w 1620"/>
              <a:gd name="p0y38" fmla="*/ 1645 h 1687"/>
              <a:gd name="p0x39" fmla="*/ 99 w 1620"/>
              <a:gd name="p0y39" fmla="*/ 1641 h 1687"/>
              <a:gd name="p0x40" fmla="*/ 94 w 1620"/>
              <a:gd name="p0y40" fmla="*/ 1638 h 1687"/>
              <a:gd name="p0x41" fmla="*/ 89 w 1620"/>
              <a:gd name="p0y41" fmla="*/ 1634 h 1687"/>
              <a:gd name="p0x42" fmla="*/ 85 w 1620"/>
              <a:gd name="p0y42" fmla="*/ 1631 h 1687"/>
              <a:gd name="p0x43" fmla="*/ 80 w 1620"/>
              <a:gd name="p0y43" fmla="*/ 1627 h 1687"/>
              <a:gd name="p0x44" fmla="*/ 76 w 1620"/>
              <a:gd name="p0y44" fmla="*/ 1623 h 1687"/>
              <a:gd name="p0x45" fmla="*/ 72 w 1620"/>
              <a:gd name="p0y45" fmla="*/ 1619 h 1687"/>
              <a:gd name="p0x46" fmla="*/ 68 w 1620"/>
              <a:gd name="p0y46" fmla="*/ 1615 h 1687"/>
              <a:gd name="p0x47" fmla="*/ 64 w 1620"/>
              <a:gd name="p0y47" fmla="*/ 1610 h 1687"/>
              <a:gd name="p0x48" fmla="*/ 60 w 1620"/>
              <a:gd name="p0y48" fmla="*/ 1606 h 1687"/>
              <a:gd name="p0x49" fmla="*/ 56 w 1620"/>
              <a:gd name="p0y49" fmla="*/ 1602 h 1687"/>
              <a:gd name="p0x50" fmla="*/ 52 w 1620"/>
              <a:gd name="p0y50" fmla="*/ 1597 h 1687"/>
              <a:gd name="p0x51" fmla="*/ 49 w 1620"/>
              <a:gd name="p0y51" fmla="*/ 1592 h 1687"/>
              <a:gd name="p0x52" fmla="*/ 45 w 1620"/>
              <a:gd name="p0y52" fmla="*/ 1588 h 1687"/>
              <a:gd name="p0x53" fmla="*/ 42 w 1620"/>
              <a:gd name="p0y53" fmla="*/ 1583 h 1687"/>
              <a:gd name="p0x54" fmla="*/ 38 w 1620"/>
              <a:gd name="p0y54" fmla="*/ 1578 h 1687"/>
              <a:gd name="p0x55" fmla="*/ 35 w 1620"/>
              <a:gd name="p0y55" fmla="*/ 1573 h 1687"/>
              <a:gd name="p0x56" fmla="*/ 32 w 1620"/>
              <a:gd name="p0y56" fmla="*/ 1568 h 1687"/>
              <a:gd name="p0x57" fmla="*/ 29 w 1620"/>
              <a:gd name="p0y57" fmla="*/ 1563 h 1687"/>
              <a:gd name="p0x58" fmla="*/ 27 w 1620"/>
              <a:gd name="p0y58" fmla="*/ 1558 h 1687"/>
              <a:gd name="p0x59" fmla="*/ 24 w 1620"/>
              <a:gd name="p0y59" fmla="*/ 1553 h 1687"/>
              <a:gd name="p0x60" fmla="*/ 21 w 1620"/>
              <a:gd name="p0y60" fmla="*/ 1547 h 1687"/>
              <a:gd name="p0x61" fmla="*/ 19 w 1620"/>
              <a:gd name="p0y61" fmla="*/ 1542 h 1687"/>
              <a:gd name="p0x62" fmla="*/ 17 w 1620"/>
              <a:gd name="p0y62" fmla="*/ 1536 h 1687"/>
              <a:gd name="p0x63" fmla="*/ 15 w 1620"/>
              <a:gd name="p0y63" fmla="*/ 1531 h 1687"/>
              <a:gd name="p0x64" fmla="*/ 13 w 1620"/>
              <a:gd name="p0y64" fmla="*/ 1525 h 1687"/>
              <a:gd name="p0x65" fmla="*/ 11 w 1620"/>
              <a:gd name="p0y65" fmla="*/ 1519 h 1687"/>
              <a:gd name="p0x66" fmla="*/ 9 w 1620"/>
              <a:gd name="p0y66" fmla="*/ 1514 h 1687"/>
              <a:gd name="p0x67" fmla="*/ 7 w 1620"/>
              <a:gd name="p0y67" fmla="*/ 1508 h 1687"/>
              <a:gd name="p0x68" fmla="*/ 6 w 1620"/>
              <a:gd name="p0y68" fmla="*/ 1502 h 1687"/>
              <a:gd name="p0x69" fmla="*/ 5 w 1620"/>
              <a:gd name="p0y69" fmla="*/ 1496 h 1687"/>
              <a:gd name="p0x70" fmla="*/ 3 w 1620"/>
              <a:gd name="p0y70" fmla="*/ 1490 h 1687"/>
              <a:gd name="p0x71" fmla="*/ 2 w 1620"/>
              <a:gd name="p0y71" fmla="*/ 1484 h 1687"/>
              <a:gd name="p0x72" fmla="*/ 1 w 1620"/>
              <a:gd name="p0y72" fmla="*/ 1478 h 1687"/>
              <a:gd name="p0x73" fmla="*/ 1 w 1620"/>
              <a:gd name="p0y73" fmla="*/ 1472 h 1687"/>
              <a:gd name="p0x74" fmla="*/ 0 w 1620"/>
              <a:gd name="p0y74" fmla="*/ 1466 h 1687"/>
              <a:gd name="p0x75" fmla="*/ 0 w 1620"/>
              <a:gd name="p0y75" fmla="*/ 1460 h 1687"/>
              <a:gd name="p0x76" fmla="*/ 0 w 1620"/>
              <a:gd name="p0y76" fmla="*/ 1453 h 1687"/>
              <a:gd name="p0x77" fmla="*/ 0 w 1620"/>
              <a:gd name="p0y77" fmla="*/ 1447 h 1687"/>
              <a:gd name="p0x78" fmla="*/ 0 w 1620"/>
              <a:gd name="p0y78" fmla="*/ 240 h 1687"/>
              <a:gd name="p0x79" fmla="*/ 0 w 1620"/>
              <a:gd name="p0y79" fmla="*/ 233 h 1687"/>
              <a:gd name="p0x80" fmla="*/ 0 w 1620"/>
              <a:gd name="p0y80" fmla="*/ 227 h 1687"/>
              <a:gd name="p0x81" fmla="*/ 0 w 1620"/>
              <a:gd name="p0y81" fmla="*/ 221 h 1687"/>
              <a:gd name="p0x82" fmla="*/ 1 w 1620"/>
              <a:gd name="p0y82" fmla="*/ 215 h 1687"/>
              <a:gd name="p0x83" fmla="*/ 1 w 1620"/>
              <a:gd name="p0y83" fmla="*/ 208 h 1687"/>
              <a:gd name="p0x84" fmla="*/ 2 w 1620"/>
              <a:gd name="p0y84" fmla="*/ 202 h 1687"/>
              <a:gd name="p0x85" fmla="*/ 3 w 1620"/>
              <a:gd name="p0y85" fmla="*/ 196 h 1687"/>
              <a:gd name="p0x86" fmla="*/ 5 w 1620"/>
              <a:gd name="p0y86" fmla="*/ 190 h 1687"/>
              <a:gd name="p0x87" fmla="*/ 6 w 1620"/>
              <a:gd name="p0y87" fmla="*/ 184 h 1687"/>
              <a:gd name="p0x88" fmla="*/ 7 w 1620"/>
              <a:gd name="p0y88" fmla="*/ 179 h 1687"/>
              <a:gd name="p0x89" fmla="*/ 9 w 1620"/>
              <a:gd name="p0y89" fmla="*/ 173 h 1687"/>
              <a:gd name="p0x90" fmla="*/ 11 w 1620"/>
              <a:gd name="p0y90" fmla="*/ 167 h 1687"/>
              <a:gd name="p0x91" fmla="*/ 13 w 1620"/>
              <a:gd name="p0y91" fmla="*/ 161 h 1687"/>
              <a:gd name="p0x92" fmla="*/ 15 w 1620"/>
              <a:gd name="p0y92" fmla="*/ 156 h 1687"/>
              <a:gd name="p0x93" fmla="*/ 17 w 1620"/>
              <a:gd name="p0y93" fmla="*/ 150 h 1687"/>
              <a:gd name="p0x94" fmla="*/ 19 w 1620"/>
              <a:gd name="p0y94" fmla="*/ 145 h 1687"/>
              <a:gd name="p0x95" fmla="*/ 21 w 1620"/>
              <a:gd name="p0y95" fmla="*/ 139 h 1687"/>
              <a:gd name="p0x96" fmla="*/ 24 w 1620"/>
              <a:gd name="p0y96" fmla="*/ 134 h 1687"/>
              <a:gd name="p0x97" fmla="*/ 27 w 1620"/>
              <a:gd name="p0y97" fmla="*/ 129 h 1687"/>
              <a:gd name="p0x98" fmla="*/ 29 w 1620"/>
              <a:gd name="p0y98" fmla="*/ 123 h 1687"/>
              <a:gd name="p0x99" fmla="*/ 32 w 1620"/>
              <a:gd name="p0y99" fmla="*/ 118 h 1687"/>
              <a:gd name="p0x100" fmla="*/ 35 w 1620"/>
              <a:gd name="p0y100" fmla="*/ 113 h 1687"/>
              <a:gd name="p0x101" fmla="*/ 38 w 1620"/>
              <a:gd name="p0y101" fmla="*/ 108 h 1687"/>
              <a:gd name="p0x102" fmla="*/ 42 w 1620"/>
              <a:gd name="p0y102" fmla="*/ 103 h 1687"/>
              <a:gd name="p0x103" fmla="*/ 45 w 1620"/>
              <a:gd name="p0y103" fmla="*/ 99 h 1687"/>
              <a:gd name="p0x104" fmla="*/ 49 w 1620"/>
              <a:gd name="p0y104" fmla="*/ 94 h 1687"/>
              <a:gd name="p0x105" fmla="*/ 52 w 1620"/>
              <a:gd name="p0y105" fmla="*/ 89 h 1687"/>
              <a:gd name="p0x106" fmla="*/ 56 w 1620"/>
              <a:gd name="p0y106" fmla="*/ 85 h 1687"/>
              <a:gd name="p0x107" fmla="*/ 60 w 1620"/>
              <a:gd name="p0y107" fmla="*/ 80 h 1687"/>
              <a:gd name="p0x108" fmla="*/ 64 w 1620"/>
              <a:gd name="p0y108" fmla="*/ 76 h 1687"/>
              <a:gd name="p0x109" fmla="*/ 68 w 1620"/>
              <a:gd name="p0y109" fmla="*/ 72 h 1687"/>
              <a:gd name="p0x110" fmla="*/ 72 w 1620"/>
              <a:gd name="p0y110" fmla="*/ 68 h 1687"/>
              <a:gd name="p0x111" fmla="*/ 76 w 1620"/>
              <a:gd name="p0y111" fmla="*/ 64 h 1687"/>
              <a:gd name="p0x112" fmla="*/ 80 w 1620"/>
              <a:gd name="p0y112" fmla="*/ 60 h 1687"/>
              <a:gd name="p0x113" fmla="*/ 85 w 1620"/>
              <a:gd name="p0y113" fmla="*/ 56 h 1687"/>
              <a:gd name="p0x114" fmla="*/ 89 w 1620"/>
              <a:gd name="p0y114" fmla="*/ 52 h 1687"/>
              <a:gd name="p0x115" fmla="*/ 94 w 1620"/>
              <a:gd name="p0y115" fmla="*/ 49 h 1687"/>
              <a:gd name="p0x116" fmla="*/ 99 w 1620"/>
              <a:gd name="p0y116" fmla="*/ 45 h 1687"/>
              <a:gd name="p0x117" fmla="*/ 103 w 1620"/>
              <a:gd name="p0y117" fmla="*/ 42 h 1687"/>
              <a:gd name="p0x118" fmla="*/ 108 w 1620"/>
              <a:gd name="p0y118" fmla="*/ 38 h 1687"/>
              <a:gd name="p0x119" fmla="*/ 113 w 1620"/>
              <a:gd name="p0y119" fmla="*/ 35 h 1687"/>
              <a:gd name="p0x120" fmla="*/ 118 w 1620"/>
              <a:gd name="p0y120" fmla="*/ 32 h 1687"/>
              <a:gd name="p0x121" fmla="*/ 123 w 1620"/>
              <a:gd name="p0y121" fmla="*/ 29 h 1687"/>
              <a:gd name="p0x122" fmla="*/ 129 w 1620"/>
              <a:gd name="p0y122" fmla="*/ 27 h 1687"/>
              <a:gd name="p0x123" fmla="*/ 134 w 1620"/>
              <a:gd name="p0y123" fmla="*/ 24 h 1687"/>
              <a:gd name="p0x124" fmla="*/ 139 w 1620"/>
              <a:gd name="p0y124" fmla="*/ 21 h 1687"/>
              <a:gd name="p0x125" fmla="*/ 145 w 1620"/>
              <a:gd name="p0y125" fmla="*/ 19 h 1687"/>
              <a:gd name="p0x126" fmla="*/ 150 w 1620"/>
              <a:gd name="p0y126" fmla="*/ 17 h 1687"/>
              <a:gd name="p0x127" fmla="*/ 156 w 1620"/>
              <a:gd name="p0y127" fmla="*/ 15 h 1687"/>
              <a:gd name="p0x128" fmla="*/ 161 w 1620"/>
              <a:gd name="p0y128" fmla="*/ 13 h 1687"/>
              <a:gd name="p0x129" fmla="*/ 167 w 1620"/>
              <a:gd name="p0y129" fmla="*/ 11 h 1687"/>
              <a:gd name="p0x130" fmla="*/ 173 w 1620"/>
              <a:gd name="p0y130" fmla="*/ 9 h 1687"/>
              <a:gd name="p0x131" fmla="*/ 179 w 1620"/>
              <a:gd name="p0y131" fmla="*/ 7 h 1687"/>
              <a:gd name="p0x132" fmla="*/ 184 w 1620"/>
              <a:gd name="p0y132" fmla="*/ 6 h 1687"/>
              <a:gd name="p0x133" fmla="*/ 190 w 1620"/>
              <a:gd name="p0y133" fmla="*/ 5 h 1687"/>
              <a:gd name="p0x134" fmla="*/ 196 w 1620"/>
              <a:gd name="p0y134" fmla="*/ 3 h 1687"/>
              <a:gd name="p0x135" fmla="*/ 202 w 1620"/>
              <a:gd name="p0y135" fmla="*/ 2 h 1687"/>
              <a:gd name="p0x136" fmla="*/ 208 w 1620"/>
              <a:gd name="p0y136" fmla="*/ 1 h 1687"/>
              <a:gd name="p0x137" fmla="*/ 215 w 1620"/>
              <a:gd name="p0y137" fmla="*/ 1 h 1687"/>
              <a:gd name="p0x138" fmla="*/ 221 w 1620"/>
              <a:gd name="p0y138" fmla="*/ 0 h 1687"/>
              <a:gd name="p0x139" fmla="*/ 227 w 1620"/>
              <a:gd name="p0y139" fmla="*/ 0 h 1687"/>
              <a:gd name="p0x140" fmla="*/ 233 w 1620"/>
              <a:gd name="p0y140" fmla="*/ 0 h 1687"/>
              <a:gd name="p0x141" fmla="*/ 240 w 1620"/>
              <a:gd name="p0y141" fmla="*/ 0 h 16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lnTo>
                  <a:pt x="p0x132" y="p0y132"/>
                </a:lnTo>
                <a:lnTo>
                  <a:pt x="p0x133" y="p0y133"/>
                </a:lnTo>
                <a:lnTo>
                  <a:pt x="p0x134" y="p0y134"/>
                </a:lnTo>
                <a:lnTo>
                  <a:pt x="p0x135" y="p0y135"/>
                </a:lnTo>
                <a:lnTo>
                  <a:pt x="p0x136" y="p0y136"/>
                </a:lnTo>
                <a:lnTo>
                  <a:pt x="p0x137" y="p0y137"/>
                </a:lnTo>
                <a:lnTo>
                  <a:pt x="p0x138" y="p0y138"/>
                </a:lnTo>
                <a:lnTo>
                  <a:pt x="p0x139" y="p0y139"/>
                </a:lnTo>
                <a:lnTo>
                  <a:pt x="p0x140" y="p0y140"/>
                </a:lnTo>
                <a:lnTo>
                  <a:pt x="p0x141" y="p0y14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780831" y="2612231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 2 </a:t>
            </a:r>
            <a:r>
              <a:rPr lang="zh-CN" altLang="en-US" sz="1050" spc="63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环</a:t>
            </a:r>
            <a:endParaRPr lang="zh-CN" altLang="en-US" sz="1050" spc="63">
              <a:solidFill>
                <a:srgbClr val="FFFFFF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609600" y="2788444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</a:rPr>
              <a:t>理解检索</a:t>
            </a:r>
            <a:endParaRPr sz="1500" b="1">
              <a:solidFill>
                <a:srgbClr val="FFFFFF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8"/>
            </p:custDataLst>
          </p:nvPr>
        </p:nvSpPr>
        <p:spPr>
          <a:xfrm>
            <a:off x="571500" y="3476625"/>
            <a:ext cx="1028700" cy="1071245"/>
          </a:xfrm>
          <a:custGeom>
            <a:avLst/>
            <a:gdLst>
              <a:gd name="sw" fmla="*/ 1 w 1620"/>
              <a:gd name="sh" fmla="*/ 1 h 1687"/>
              <a:gd name="mins" fmla="min sw sh"/>
              <a:gd name="dsw" fmla="+- 0 sw mins"/>
              <a:gd name="dsh" fmla="+- 0 sh mins"/>
              <a:gd name="p0x0" fmla="*/ 240 w 1620"/>
              <a:gd name="p0y0" fmla="*/ 0 h 1687"/>
              <a:gd name="p0x1" fmla="*/ 1380 w 1620"/>
              <a:gd name="p0y1" fmla="*/ 0 h 1687"/>
              <a:gd name="p0x2" fmla="*/ 1386 w 1620"/>
              <a:gd name="p0y2" fmla="*/ 0 h 1687"/>
              <a:gd name="p0x3" fmla="*/ 1392 w 1620"/>
              <a:gd name="p0y3" fmla="*/ 0 h 1687"/>
              <a:gd name="p0x4" fmla="*/ 1398 w 1620"/>
              <a:gd name="p0y4" fmla="*/ 0 h 1687"/>
              <a:gd name="p0x5" fmla="*/ 1404 w 1620"/>
              <a:gd name="p0y5" fmla="*/ 1 h 1687"/>
              <a:gd name="p0x6" fmla="*/ 1410 w 1620"/>
              <a:gd name="p0y6" fmla="*/ 1 h 1687"/>
              <a:gd name="p0x7" fmla="*/ 1620 w 1620"/>
              <a:gd name="p0y7" fmla="*/ 843 h 1687"/>
              <a:gd name="p0x8" fmla="*/ 1410 w 1620"/>
              <a:gd name="p0y8" fmla="*/ 1685 h 1687"/>
              <a:gd name="p0x9" fmla="*/ 1404 w 1620"/>
              <a:gd name="p0y9" fmla="*/ 1686 h 1687"/>
              <a:gd name="p0x10" fmla="*/ 1398 w 1620"/>
              <a:gd name="p0y10" fmla="*/ 1686 h 1687"/>
              <a:gd name="p0x11" fmla="*/ 1392 w 1620"/>
              <a:gd name="p0y11" fmla="*/ 1687 h 1687"/>
              <a:gd name="p0x12" fmla="*/ 1386 w 1620"/>
              <a:gd name="p0y12" fmla="*/ 1687 h 1687"/>
              <a:gd name="p0x13" fmla="*/ 1380 w 1620"/>
              <a:gd name="p0y13" fmla="*/ 1687 h 1687"/>
              <a:gd name="p0x14" fmla="*/ 240 w 1620"/>
              <a:gd name="p0y14" fmla="*/ 1687 h 1687"/>
              <a:gd name="p0x15" fmla="*/ 233 w 1620"/>
              <a:gd name="p0y15" fmla="*/ 1687 h 1687"/>
              <a:gd name="p0x16" fmla="*/ 227 w 1620"/>
              <a:gd name="p0y16" fmla="*/ 1687 h 1687"/>
              <a:gd name="p0x17" fmla="*/ 221 w 1620"/>
              <a:gd name="p0y17" fmla="*/ 1686 h 1687"/>
              <a:gd name="p0x18" fmla="*/ 215 w 1620"/>
              <a:gd name="p0y18" fmla="*/ 1686 h 1687"/>
              <a:gd name="p0x19" fmla="*/ 208 w 1620"/>
              <a:gd name="p0y19" fmla="*/ 1685 h 1687"/>
              <a:gd name="p0x20" fmla="*/ 202 w 1620"/>
              <a:gd name="p0y20" fmla="*/ 1684 h 1687"/>
              <a:gd name="p0x21" fmla="*/ 196 w 1620"/>
              <a:gd name="p0y21" fmla="*/ 1683 h 1687"/>
              <a:gd name="p0x22" fmla="*/ 190 w 1620"/>
              <a:gd name="p0y22" fmla="*/ 1682 h 1687"/>
              <a:gd name="p0x23" fmla="*/ 184 w 1620"/>
              <a:gd name="p0y23" fmla="*/ 1681 h 1687"/>
              <a:gd name="p0x24" fmla="*/ 179 w 1620"/>
              <a:gd name="p0y24" fmla="*/ 1679 h 1687"/>
              <a:gd name="p0x25" fmla="*/ 173 w 1620"/>
              <a:gd name="p0y25" fmla="*/ 1678 h 1687"/>
              <a:gd name="p0x26" fmla="*/ 167 w 1620"/>
              <a:gd name="p0y26" fmla="*/ 1676 h 1687"/>
              <a:gd name="p0x27" fmla="*/ 161 w 1620"/>
              <a:gd name="p0y27" fmla="*/ 1674 h 1687"/>
              <a:gd name="p0x28" fmla="*/ 156 w 1620"/>
              <a:gd name="p0y28" fmla="*/ 1672 h 1687"/>
              <a:gd name="p0x29" fmla="*/ 150 w 1620"/>
              <a:gd name="p0y29" fmla="*/ 1670 h 1687"/>
              <a:gd name="p0x30" fmla="*/ 145 w 1620"/>
              <a:gd name="p0y30" fmla="*/ 1668 h 1687"/>
              <a:gd name="p0x31" fmla="*/ 139 w 1620"/>
              <a:gd name="p0y31" fmla="*/ 1665 h 1687"/>
              <a:gd name="p0x32" fmla="*/ 134 w 1620"/>
              <a:gd name="p0y32" fmla="*/ 1663 h 1687"/>
              <a:gd name="p0x33" fmla="*/ 129 w 1620"/>
              <a:gd name="p0y33" fmla="*/ 1660 h 1687"/>
              <a:gd name="p0x34" fmla="*/ 123 w 1620"/>
              <a:gd name="p0y34" fmla="*/ 1657 h 1687"/>
              <a:gd name="p0x35" fmla="*/ 118 w 1620"/>
              <a:gd name="p0y35" fmla="*/ 1654 h 1687"/>
              <a:gd name="p0x36" fmla="*/ 113 w 1620"/>
              <a:gd name="p0y36" fmla="*/ 1651 h 1687"/>
              <a:gd name="p0x37" fmla="*/ 108 w 1620"/>
              <a:gd name="p0y37" fmla="*/ 1648 h 1687"/>
              <a:gd name="p0x38" fmla="*/ 103 w 1620"/>
              <a:gd name="p0y38" fmla="*/ 1645 h 1687"/>
              <a:gd name="p0x39" fmla="*/ 99 w 1620"/>
              <a:gd name="p0y39" fmla="*/ 1641 h 1687"/>
              <a:gd name="p0x40" fmla="*/ 94 w 1620"/>
              <a:gd name="p0y40" fmla="*/ 1638 h 1687"/>
              <a:gd name="p0x41" fmla="*/ 89 w 1620"/>
              <a:gd name="p0y41" fmla="*/ 1634 h 1687"/>
              <a:gd name="p0x42" fmla="*/ 85 w 1620"/>
              <a:gd name="p0y42" fmla="*/ 1631 h 1687"/>
              <a:gd name="p0x43" fmla="*/ 80 w 1620"/>
              <a:gd name="p0y43" fmla="*/ 1627 h 1687"/>
              <a:gd name="p0x44" fmla="*/ 76 w 1620"/>
              <a:gd name="p0y44" fmla="*/ 1623 h 1687"/>
              <a:gd name="p0x45" fmla="*/ 72 w 1620"/>
              <a:gd name="p0y45" fmla="*/ 1619 h 1687"/>
              <a:gd name="p0x46" fmla="*/ 68 w 1620"/>
              <a:gd name="p0y46" fmla="*/ 1615 h 1687"/>
              <a:gd name="p0x47" fmla="*/ 64 w 1620"/>
              <a:gd name="p0y47" fmla="*/ 1610 h 1687"/>
              <a:gd name="p0x48" fmla="*/ 60 w 1620"/>
              <a:gd name="p0y48" fmla="*/ 1606 h 1687"/>
              <a:gd name="p0x49" fmla="*/ 56 w 1620"/>
              <a:gd name="p0y49" fmla="*/ 1602 h 1687"/>
              <a:gd name="p0x50" fmla="*/ 52 w 1620"/>
              <a:gd name="p0y50" fmla="*/ 1597 h 1687"/>
              <a:gd name="p0x51" fmla="*/ 49 w 1620"/>
              <a:gd name="p0y51" fmla="*/ 1592 h 1687"/>
              <a:gd name="p0x52" fmla="*/ 45 w 1620"/>
              <a:gd name="p0y52" fmla="*/ 1588 h 1687"/>
              <a:gd name="p0x53" fmla="*/ 42 w 1620"/>
              <a:gd name="p0y53" fmla="*/ 1583 h 1687"/>
              <a:gd name="p0x54" fmla="*/ 38 w 1620"/>
              <a:gd name="p0y54" fmla="*/ 1578 h 1687"/>
              <a:gd name="p0x55" fmla="*/ 35 w 1620"/>
              <a:gd name="p0y55" fmla="*/ 1573 h 1687"/>
              <a:gd name="p0x56" fmla="*/ 32 w 1620"/>
              <a:gd name="p0y56" fmla="*/ 1568 h 1687"/>
              <a:gd name="p0x57" fmla="*/ 29 w 1620"/>
              <a:gd name="p0y57" fmla="*/ 1563 h 1687"/>
              <a:gd name="p0x58" fmla="*/ 27 w 1620"/>
              <a:gd name="p0y58" fmla="*/ 1558 h 1687"/>
              <a:gd name="p0x59" fmla="*/ 24 w 1620"/>
              <a:gd name="p0y59" fmla="*/ 1553 h 1687"/>
              <a:gd name="p0x60" fmla="*/ 21 w 1620"/>
              <a:gd name="p0y60" fmla="*/ 1547 h 1687"/>
              <a:gd name="p0x61" fmla="*/ 19 w 1620"/>
              <a:gd name="p0y61" fmla="*/ 1542 h 1687"/>
              <a:gd name="p0x62" fmla="*/ 17 w 1620"/>
              <a:gd name="p0y62" fmla="*/ 1536 h 1687"/>
              <a:gd name="p0x63" fmla="*/ 15 w 1620"/>
              <a:gd name="p0y63" fmla="*/ 1531 h 1687"/>
              <a:gd name="p0x64" fmla="*/ 13 w 1620"/>
              <a:gd name="p0y64" fmla="*/ 1525 h 1687"/>
              <a:gd name="p0x65" fmla="*/ 11 w 1620"/>
              <a:gd name="p0y65" fmla="*/ 1519 h 1687"/>
              <a:gd name="p0x66" fmla="*/ 9 w 1620"/>
              <a:gd name="p0y66" fmla="*/ 1514 h 1687"/>
              <a:gd name="p0x67" fmla="*/ 7 w 1620"/>
              <a:gd name="p0y67" fmla="*/ 1508 h 1687"/>
              <a:gd name="p0x68" fmla="*/ 6 w 1620"/>
              <a:gd name="p0y68" fmla="*/ 1502 h 1687"/>
              <a:gd name="p0x69" fmla="*/ 5 w 1620"/>
              <a:gd name="p0y69" fmla="*/ 1496 h 1687"/>
              <a:gd name="p0x70" fmla="*/ 3 w 1620"/>
              <a:gd name="p0y70" fmla="*/ 1490 h 1687"/>
              <a:gd name="p0x71" fmla="*/ 2 w 1620"/>
              <a:gd name="p0y71" fmla="*/ 1484 h 1687"/>
              <a:gd name="p0x72" fmla="*/ 1 w 1620"/>
              <a:gd name="p0y72" fmla="*/ 1478 h 1687"/>
              <a:gd name="p0x73" fmla="*/ 1 w 1620"/>
              <a:gd name="p0y73" fmla="*/ 1472 h 1687"/>
              <a:gd name="p0x74" fmla="*/ 0 w 1620"/>
              <a:gd name="p0y74" fmla="*/ 1466 h 1687"/>
              <a:gd name="p0x75" fmla="*/ 0 w 1620"/>
              <a:gd name="p0y75" fmla="*/ 1460 h 1687"/>
              <a:gd name="p0x76" fmla="*/ 0 w 1620"/>
              <a:gd name="p0y76" fmla="*/ 1453 h 1687"/>
              <a:gd name="p0x77" fmla="*/ 0 w 1620"/>
              <a:gd name="p0y77" fmla="*/ 1447 h 1687"/>
              <a:gd name="p0x78" fmla="*/ 0 w 1620"/>
              <a:gd name="p0y78" fmla="*/ 240 h 1687"/>
              <a:gd name="p0x79" fmla="*/ 0 w 1620"/>
              <a:gd name="p0y79" fmla="*/ 233 h 1687"/>
              <a:gd name="p0x80" fmla="*/ 0 w 1620"/>
              <a:gd name="p0y80" fmla="*/ 227 h 1687"/>
              <a:gd name="p0x81" fmla="*/ 0 w 1620"/>
              <a:gd name="p0y81" fmla="*/ 221 h 1687"/>
              <a:gd name="p0x82" fmla="*/ 1 w 1620"/>
              <a:gd name="p0y82" fmla="*/ 215 h 1687"/>
              <a:gd name="p0x83" fmla="*/ 1 w 1620"/>
              <a:gd name="p0y83" fmla="*/ 208 h 1687"/>
              <a:gd name="p0x84" fmla="*/ 2 w 1620"/>
              <a:gd name="p0y84" fmla="*/ 202 h 1687"/>
              <a:gd name="p0x85" fmla="*/ 3 w 1620"/>
              <a:gd name="p0y85" fmla="*/ 196 h 1687"/>
              <a:gd name="p0x86" fmla="*/ 5 w 1620"/>
              <a:gd name="p0y86" fmla="*/ 190 h 1687"/>
              <a:gd name="p0x87" fmla="*/ 6 w 1620"/>
              <a:gd name="p0y87" fmla="*/ 184 h 1687"/>
              <a:gd name="p0x88" fmla="*/ 7 w 1620"/>
              <a:gd name="p0y88" fmla="*/ 179 h 1687"/>
              <a:gd name="p0x89" fmla="*/ 9 w 1620"/>
              <a:gd name="p0y89" fmla="*/ 173 h 1687"/>
              <a:gd name="p0x90" fmla="*/ 11 w 1620"/>
              <a:gd name="p0y90" fmla="*/ 167 h 1687"/>
              <a:gd name="p0x91" fmla="*/ 13 w 1620"/>
              <a:gd name="p0y91" fmla="*/ 161 h 1687"/>
              <a:gd name="p0x92" fmla="*/ 15 w 1620"/>
              <a:gd name="p0y92" fmla="*/ 156 h 1687"/>
              <a:gd name="p0x93" fmla="*/ 17 w 1620"/>
              <a:gd name="p0y93" fmla="*/ 150 h 1687"/>
              <a:gd name="p0x94" fmla="*/ 19 w 1620"/>
              <a:gd name="p0y94" fmla="*/ 145 h 1687"/>
              <a:gd name="p0x95" fmla="*/ 21 w 1620"/>
              <a:gd name="p0y95" fmla="*/ 139 h 1687"/>
              <a:gd name="p0x96" fmla="*/ 24 w 1620"/>
              <a:gd name="p0y96" fmla="*/ 134 h 1687"/>
              <a:gd name="p0x97" fmla="*/ 27 w 1620"/>
              <a:gd name="p0y97" fmla="*/ 129 h 1687"/>
              <a:gd name="p0x98" fmla="*/ 29 w 1620"/>
              <a:gd name="p0y98" fmla="*/ 123 h 1687"/>
              <a:gd name="p0x99" fmla="*/ 32 w 1620"/>
              <a:gd name="p0y99" fmla="*/ 118 h 1687"/>
              <a:gd name="p0x100" fmla="*/ 35 w 1620"/>
              <a:gd name="p0y100" fmla="*/ 113 h 1687"/>
              <a:gd name="p0x101" fmla="*/ 38 w 1620"/>
              <a:gd name="p0y101" fmla="*/ 108 h 1687"/>
              <a:gd name="p0x102" fmla="*/ 42 w 1620"/>
              <a:gd name="p0y102" fmla="*/ 103 h 1687"/>
              <a:gd name="p0x103" fmla="*/ 45 w 1620"/>
              <a:gd name="p0y103" fmla="*/ 99 h 1687"/>
              <a:gd name="p0x104" fmla="*/ 49 w 1620"/>
              <a:gd name="p0y104" fmla="*/ 94 h 1687"/>
              <a:gd name="p0x105" fmla="*/ 52 w 1620"/>
              <a:gd name="p0y105" fmla="*/ 89 h 1687"/>
              <a:gd name="p0x106" fmla="*/ 56 w 1620"/>
              <a:gd name="p0y106" fmla="*/ 85 h 1687"/>
              <a:gd name="p0x107" fmla="*/ 60 w 1620"/>
              <a:gd name="p0y107" fmla="*/ 80 h 1687"/>
              <a:gd name="p0x108" fmla="*/ 64 w 1620"/>
              <a:gd name="p0y108" fmla="*/ 76 h 1687"/>
              <a:gd name="p0x109" fmla="*/ 68 w 1620"/>
              <a:gd name="p0y109" fmla="*/ 72 h 1687"/>
              <a:gd name="p0x110" fmla="*/ 72 w 1620"/>
              <a:gd name="p0y110" fmla="*/ 68 h 1687"/>
              <a:gd name="p0x111" fmla="*/ 76 w 1620"/>
              <a:gd name="p0y111" fmla="*/ 64 h 1687"/>
              <a:gd name="p0x112" fmla="*/ 80 w 1620"/>
              <a:gd name="p0y112" fmla="*/ 60 h 1687"/>
              <a:gd name="p0x113" fmla="*/ 85 w 1620"/>
              <a:gd name="p0y113" fmla="*/ 56 h 1687"/>
              <a:gd name="p0x114" fmla="*/ 89 w 1620"/>
              <a:gd name="p0y114" fmla="*/ 52 h 1687"/>
              <a:gd name="p0x115" fmla="*/ 94 w 1620"/>
              <a:gd name="p0y115" fmla="*/ 49 h 1687"/>
              <a:gd name="p0x116" fmla="*/ 99 w 1620"/>
              <a:gd name="p0y116" fmla="*/ 45 h 1687"/>
              <a:gd name="p0x117" fmla="*/ 103 w 1620"/>
              <a:gd name="p0y117" fmla="*/ 42 h 1687"/>
              <a:gd name="p0x118" fmla="*/ 108 w 1620"/>
              <a:gd name="p0y118" fmla="*/ 38 h 1687"/>
              <a:gd name="p0x119" fmla="*/ 113 w 1620"/>
              <a:gd name="p0y119" fmla="*/ 35 h 1687"/>
              <a:gd name="p0x120" fmla="*/ 118 w 1620"/>
              <a:gd name="p0y120" fmla="*/ 32 h 1687"/>
              <a:gd name="p0x121" fmla="*/ 123 w 1620"/>
              <a:gd name="p0y121" fmla="*/ 29 h 1687"/>
              <a:gd name="p0x122" fmla="*/ 129 w 1620"/>
              <a:gd name="p0y122" fmla="*/ 27 h 1687"/>
              <a:gd name="p0x123" fmla="*/ 134 w 1620"/>
              <a:gd name="p0y123" fmla="*/ 24 h 1687"/>
              <a:gd name="p0x124" fmla="*/ 139 w 1620"/>
              <a:gd name="p0y124" fmla="*/ 21 h 1687"/>
              <a:gd name="p0x125" fmla="*/ 145 w 1620"/>
              <a:gd name="p0y125" fmla="*/ 19 h 1687"/>
              <a:gd name="p0x126" fmla="*/ 150 w 1620"/>
              <a:gd name="p0y126" fmla="*/ 17 h 1687"/>
              <a:gd name="p0x127" fmla="*/ 156 w 1620"/>
              <a:gd name="p0y127" fmla="*/ 15 h 1687"/>
              <a:gd name="p0x128" fmla="*/ 161 w 1620"/>
              <a:gd name="p0y128" fmla="*/ 13 h 1687"/>
              <a:gd name="p0x129" fmla="*/ 167 w 1620"/>
              <a:gd name="p0y129" fmla="*/ 11 h 1687"/>
              <a:gd name="p0x130" fmla="*/ 173 w 1620"/>
              <a:gd name="p0y130" fmla="*/ 9 h 1687"/>
              <a:gd name="p0x131" fmla="*/ 179 w 1620"/>
              <a:gd name="p0y131" fmla="*/ 7 h 1687"/>
              <a:gd name="p0x132" fmla="*/ 184 w 1620"/>
              <a:gd name="p0y132" fmla="*/ 6 h 1687"/>
              <a:gd name="p0x133" fmla="*/ 190 w 1620"/>
              <a:gd name="p0y133" fmla="*/ 5 h 1687"/>
              <a:gd name="p0x134" fmla="*/ 196 w 1620"/>
              <a:gd name="p0y134" fmla="*/ 3 h 1687"/>
              <a:gd name="p0x135" fmla="*/ 202 w 1620"/>
              <a:gd name="p0y135" fmla="*/ 2 h 1687"/>
              <a:gd name="p0x136" fmla="*/ 208 w 1620"/>
              <a:gd name="p0y136" fmla="*/ 1 h 1687"/>
              <a:gd name="p0x137" fmla="*/ 215 w 1620"/>
              <a:gd name="p0y137" fmla="*/ 1 h 1687"/>
              <a:gd name="p0x138" fmla="*/ 221 w 1620"/>
              <a:gd name="p0y138" fmla="*/ 0 h 1687"/>
              <a:gd name="p0x139" fmla="*/ 227 w 1620"/>
              <a:gd name="p0y139" fmla="*/ 0 h 1687"/>
              <a:gd name="p0x140" fmla="*/ 233 w 1620"/>
              <a:gd name="p0y140" fmla="*/ 0 h 1687"/>
              <a:gd name="p0x141" fmla="*/ 240 w 1620"/>
              <a:gd name="p0y141" fmla="*/ 0 h 16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lnTo>
                  <a:pt x="p0x132" y="p0y132"/>
                </a:lnTo>
                <a:lnTo>
                  <a:pt x="p0x133" y="p0y133"/>
                </a:lnTo>
                <a:lnTo>
                  <a:pt x="p0x134" y="p0y134"/>
                </a:lnTo>
                <a:lnTo>
                  <a:pt x="p0x135" y="p0y135"/>
                </a:lnTo>
                <a:lnTo>
                  <a:pt x="p0x136" y="p0y136"/>
                </a:lnTo>
                <a:lnTo>
                  <a:pt x="p0x137" y="p0y137"/>
                </a:lnTo>
                <a:lnTo>
                  <a:pt x="p0x138" y="p0y138"/>
                </a:lnTo>
                <a:lnTo>
                  <a:pt x="p0x139" y="p0y139"/>
                </a:lnTo>
                <a:lnTo>
                  <a:pt x="p0x140" y="p0y140"/>
                </a:lnTo>
                <a:lnTo>
                  <a:pt x="p0x141" y="p0y14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9"/>
            </p:custDataLst>
          </p:nvPr>
        </p:nvSpPr>
        <p:spPr>
          <a:xfrm>
            <a:off x="780831" y="3798094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 3 </a:t>
            </a:r>
            <a:r>
              <a:rPr lang="zh-CN" altLang="en-US" sz="1050" spc="63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环</a:t>
            </a:r>
            <a:endParaRPr lang="zh-CN" altLang="en-US" sz="1050" spc="63">
              <a:solidFill>
                <a:srgbClr val="FFFFFF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0"/>
            </p:custDataLst>
          </p:nvPr>
        </p:nvSpPr>
        <p:spPr>
          <a:xfrm>
            <a:off x="514350" y="3974306"/>
            <a:ext cx="114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</a:rPr>
              <a:t>置信度分流</a:t>
            </a:r>
            <a:endParaRPr sz="1500" b="1">
              <a:solidFill>
                <a:srgbClr val="FFFFFF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11"/>
            </p:custDataLst>
          </p:nvPr>
        </p:nvSpPr>
        <p:spPr>
          <a:xfrm>
            <a:off x="571500" y="4662170"/>
            <a:ext cx="1028700" cy="1071880"/>
          </a:xfrm>
          <a:custGeom>
            <a:avLst/>
            <a:gdLst>
              <a:gd name="sw" fmla="*/ 1 w 1620"/>
              <a:gd name="sh" fmla="*/ 1 h 1687"/>
              <a:gd name="mins" fmla="min sw sh"/>
              <a:gd name="dsw" fmla="+- 0 sw mins"/>
              <a:gd name="dsh" fmla="+- 0 sh mins"/>
              <a:gd name="p0x0" fmla="*/ 240 w 1620"/>
              <a:gd name="p0y0" fmla="*/ 0 h 1687"/>
              <a:gd name="p0x1" fmla="*/ 1380 w 1620"/>
              <a:gd name="p0y1" fmla="*/ 0 h 1687"/>
              <a:gd name="p0x2" fmla="*/ 1386 w 1620"/>
              <a:gd name="p0y2" fmla="*/ 0 h 1687"/>
              <a:gd name="p0x3" fmla="*/ 1392 w 1620"/>
              <a:gd name="p0y3" fmla="*/ 0 h 1687"/>
              <a:gd name="p0x4" fmla="*/ 1398 w 1620"/>
              <a:gd name="p0y4" fmla="*/ 0 h 1687"/>
              <a:gd name="p0x5" fmla="*/ 1404 w 1620"/>
              <a:gd name="p0y5" fmla="*/ 1 h 1687"/>
              <a:gd name="p0x6" fmla="*/ 1410 w 1620"/>
              <a:gd name="p0y6" fmla="*/ 1 h 1687"/>
              <a:gd name="p0x7" fmla="*/ 1620 w 1620"/>
              <a:gd name="p0y7" fmla="*/ 843 h 1687"/>
              <a:gd name="p0x8" fmla="*/ 1410 w 1620"/>
              <a:gd name="p0y8" fmla="*/ 1685 h 1687"/>
              <a:gd name="p0x9" fmla="*/ 1404 w 1620"/>
              <a:gd name="p0y9" fmla="*/ 1686 h 1687"/>
              <a:gd name="p0x10" fmla="*/ 1398 w 1620"/>
              <a:gd name="p0y10" fmla="*/ 1686 h 1687"/>
              <a:gd name="p0x11" fmla="*/ 1392 w 1620"/>
              <a:gd name="p0y11" fmla="*/ 1687 h 1687"/>
              <a:gd name="p0x12" fmla="*/ 1386 w 1620"/>
              <a:gd name="p0y12" fmla="*/ 1687 h 1687"/>
              <a:gd name="p0x13" fmla="*/ 1380 w 1620"/>
              <a:gd name="p0y13" fmla="*/ 1687 h 1687"/>
              <a:gd name="p0x14" fmla="*/ 240 w 1620"/>
              <a:gd name="p0y14" fmla="*/ 1687 h 1687"/>
              <a:gd name="p0x15" fmla="*/ 233 w 1620"/>
              <a:gd name="p0y15" fmla="*/ 1687 h 1687"/>
              <a:gd name="p0x16" fmla="*/ 227 w 1620"/>
              <a:gd name="p0y16" fmla="*/ 1687 h 1687"/>
              <a:gd name="p0x17" fmla="*/ 221 w 1620"/>
              <a:gd name="p0y17" fmla="*/ 1686 h 1687"/>
              <a:gd name="p0x18" fmla="*/ 215 w 1620"/>
              <a:gd name="p0y18" fmla="*/ 1686 h 1687"/>
              <a:gd name="p0x19" fmla="*/ 208 w 1620"/>
              <a:gd name="p0y19" fmla="*/ 1685 h 1687"/>
              <a:gd name="p0x20" fmla="*/ 202 w 1620"/>
              <a:gd name="p0y20" fmla="*/ 1684 h 1687"/>
              <a:gd name="p0x21" fmla="*/ 196 w 1620"/>
              <a:gd name="p0y21" fmla="*/ 1683 h 1687"/>
              <a:gd name="p0x22" fmla="*/ 190 w 1620"/>
              <a:gd name="p0y22" fmla="*/ 1682 h 1687"/>
              <a:gd name="p0x23" fmla="*/ 184 w 1620"/>
              <a:gd name="p0y23" fmla="*/ 1681 h 1687"/>
              <a:gd name="p0x24" fmla="*/ 179 w 1620"/>
              <a:gd name="p0y24" fmla="*/ 1679 h 1687"/>
              <a:gd name="p0x25" fmla="*/ 173 w 1620"/>
              <a:gd name="p0y25" fmla="*/ 1678 h 1687"/>
              <a:gd name="p0x26" fmla="*/ 167 w 1620"/>
              <a:gd name="p0y26" fmla="*/ 1676 h 1687"/>
              <a:gd name="p0x27" fmla="*/ 161 w 1620"/>
              <a:gd name="p0y27" fmla="*/ 1674 h 1687"/>
              <a:gd name="p0x28" fmla="*/ 156 w 1620"/>
              <a:gd name="p0y28" fmla="*/ 1672 h 1687"/>
              <a:gd name="p0x29" fmla="*/ 150 w 1620"/>
              <a:gd name="p0y29" fmla="*/ 1670 h 1687"/>
              <a:gd name="p0x30" fmla="*/ 145 w 1620"/>
              <a:gd name="p0y30" fmla="*/ 1668 h 1687"/>
              <a:gd name="p0x31" fmla="*/ 139 w 1620"/>
              <a:gd name="p0y31" fmla="*/ 1665 h 1687"/>
              <a:gd name="p0x32" fmla="*/ 134 w 1620"/>
              <a:gd name="p0y32" fmla="*/ 1663 h 1687"/>
              <a:gd name="p0x33" fmla="*/ 129 w 1620"/>
              <a:gd name="p0y33" fmla="*/ 1660 h 1687"/>
              <a:gd name="p0x34" fmla="*/ 123 w 1620"/>
              <a:gd name="p0y34" fmla="*/ 1657 h 1687"/>
              <a:gd name="p0x35" fmla="*/ 118 w 1620"/>
              <a:gd name="p0y35" fmla="*/ 1654 h 1687"/>
              <a:gd name="p0x36" fmla="*/ 113 w 1620"/>
              <a:gd name="p0y36" fmla="*/ 1651 h 1687"/>
              <a:gd name="p0x37" fmla="*/ 108 w 1620"/>
              <a:gd name="p0y37" fmla="*/ 1648 h 1687"/>
              <a:gd name="p0x38" fmla="*/ 103 w 1620"/>
              <a:gd name="p0y38" fmla="*/ 1645 h 1687"/>
              <a:gd name="p0x39" fmla="*/ 99 w 1620"/>
              <a:gd name="p0y39" fmla="*/ 1641 h 1687"/>
              <a:gd name="p0x40" fmla="*/ 94 w 1620"/>
              <a:gd name="p0y40" fmla="*/ 1638 h 1687"/>
              <a:gd name="p0x41" fmla="*/ 89 w 1620"/>
              <a:gd name="p0y41" fmla="*/ 1634 h 1687"/>
              <a:gd name="p0x42" fmla="*/ 85 w 1620"/>
              <a:gd name="p0y42" fmla="*/ 1631 h 1687"/>
              <a:gd name="p0x43" fmla="*/ 80 w 1620"/>
              <a:gd name="p0y43" fmla="*/ 1627 h 1687"/>
              <a:gd name="p0x44" fmla="*/ 76 w 1620"/>
              <a:gd name="p0y44" fmla="*/ 1623 h 1687"/>
              <a:gd name="p0x45" fmla="*/ 72 w 1620"/>
              <a:gd name="p0y45" fmla="*/ 1619 h 1687"/>
              <a:gd name="p0x46" fmla="*/ 68 w 1620"/>
              <a:gd name="p0y46" fmla="*/ 1615 h 1687"/>
              <a:gd name="p0x47" fmla="*/ 64 w 1620"/>
              <a:gd name="p0y47" fmla="*/ 1610 h 1687"/>
              <a:gd name="p0x48" fmla="*/ 60 w 1620"/>
              <a:gd name="p0y48" fmla="*/ 1606 h 1687"/>
              <a:gd name="p0x49" fmla="*/ 56 w 1620"/>
              <a:gd name="p0y49" fmla="*/ 1602 h 1687"/>
              <a:gd name="p0x50" fmla="*/ 52 w 1620"/>
              <a:gd name="p0y50" fmla="*/ 1597 h 1687"/>
              <a:gd name="p0x51" fmla="*/ 49 w 1620"/>
              <a:gd name="p0y51" fmla="*/ 1592 h 1687"/>
              <a:gd name="p0x52" fmla="*/ 45 w 1620"/>
              <a:gd name="p0y52" fmla="*/ 1588 h 1687"/>
              <a:gd name="p0x53" fmla="*/ 42 w 1620"/>
              <a:gd name="p0y53" fmla="*/ 1583 h 1687"/>
              <a:gd name="p0x54" fmla="*/ 38 w 1620"/>
              <a:gd name="p0y54" fmla="*/ 1578 h 1687"/>
              <a:gd name="p0x55" fmla="*/ 35 w 1620"/>
              <a:gd name="p0y55" fmla="*/ 1573 h 1687"/>
              <a:gd name="p0x56" fmla="*/ 32 w 1620"/>
              <a:gd name="p0y56" fmla="*/ 1568 h 1687"/>
              <a:gd name="p0x57" fmla="*/ 29 w 1620"/>
              <a:gd name="p0y57" fmla="*/ 1563 h 1687"/>
              <a:gd name="p0x58" fmla="*/ 27 w 1620"/>
              <a:gd name="p0y58" fmla="*/ 1558 h 1687"/>
              <a:gd name="p0x59" fmla="*/ 24 w 1620"/>
              <a:gd name="p0y59" fmla="*/ 1553 h 1687"/>
              <a:gd name="p0x60" fmla="*/ 21 w 1620"/>
              <a:gd name="p0y60" fmla="*/ 1547 h 1687"/>
              <a:gd name="p0x61" fmla="*/ 19 w 1620"/>
              <a:gd name="p0y61" fmla="*/ 1542 h 1687"/>
              <a:gd name="p0x62" fmla="*/ 17 w 1620"/>
              <a:gd name="p0y62" fmla="*/ 1536 h 1687"/>
              <a:gd name="p0x63" fmla="*/ 15 w 1620"/>
              <a:gd name="p0y63" fmla="*/ 1531 h 1687"/>
              <a:gd name="p0x64" fmla="*/ 13 w 1620"/>
              <a:gd name="p0y64" fmla="*/ 1525 h 1687"/>
              <a:gd name="p0x65" fmla="*/ 11 w 1620"/>
              <a:gd name="p0y65" fmla="*/ 1519 h 1687"/>
              <a:gd name="p0x66" fmla="*/ 9 w 1620"/>
              <a:gd name="p0y66" fmla="*/ 1514 h 1687"/>
              <a:gd name="p0x67" fmla="*/ 7 w 1620"/>
              <a:gd name="p0y67" fmla="*/ 1508 h 1687"/>
              <a:gd name="p0x68" fmla="*/ 6 w 1620"/>
              <a:gd name="p0y68" fmla="*/ 1502 h 1687"/>
              <a:gd name="p0x69" fmla="*/ 5 w 1620"/>
              <a:gd name="p0y69" fmla="*/ 1496 h 1687"/>
              <a:gd name="p0x70" fmla="*/ 3 w 1620"/>
              <a:gd name="p0y70" fmla="*/ 1490 h 1687"/>
              <a:gd name="p0x71" fmla="*/ 2 w 1620"/>
              <a:gd name="p0y71" fmla="*/ 1484 h 1687"/>
              <a:gd name="p0x72" fmla="*/ 1 w 1620"/>
              <a:gd name="p0y72" fmla="*/ 1478 h 1687"/>
              <a:gd name="p0x73" fmla="*/ 1 w 1620"/>
              <a:gd name="p0y73" fmla="*/ 1472 h 1687"/>
              <a:gd name="p0x74" fmla="*/ 0 w 1620"/>
              <a:gd name="p0y74" fmla="*/ 1466 h 1687"/>
              <a:gd name="p0x75" fmla="*/ 0 w 1620"/>
              <a:gd name="p0y75" fmla="*/ 1460 h 1687"/>
              <a:gd name="p0x76" fmla="*/ 0 w 1620"/>
              <a:gd name="p0y76" fmla="*/ 1453 h 1687"/>
              <a:gd name="p0x77" fmla="*/ 0 w 1620"/>
              <a:gd name="p0y77" fmla="*/ 1447 h 1687"/>
              <a:gd name="p0x78" fmla="*/ 0 w 1620"/>
              <a:gd name="p0y78" fmla="*/ 240 h 1687"/>
              <a:gd name="p0x79" fmla="*/ 0 w 1620"/>
              <a:gd name="p0y79" fmla="*/ 233 h 1687"/>
              <a:gd name="p0x80" fmla="*/ 0 w 1620"/>
              <a:gd name="p0y80" fmla="*/ 227 h 1687"/>
              <a:gd name="p0x81" fmla="*/ 0 w 1620"/>
              <a:gd name="p0y81" fmla="*/ 221 h 1687"/>
              <a:gd name="p0x82" fmla="*/ 1 w 1620"/>
              <a:gd name="p0y82" fmla="*/ 215 h 1687"/>
              <a:gd name="p0x83" fmla="*/ 1 w 1620"/>
              <a:gd name="p0y83" fmla="*/ 208 h 1687"/>
              <a:gd name="p0x84" fmla="*/ 2 w 1620"/>
              <a:gd name="p0y84" fmla="*/ 202 h 1687"/>
              <a:gd name="p0x85" fmla="*/ 3 w 1620"/>
              <a:gd name="p0y85" fmla="*/ 196 h 1687"/>
              <a:gd name="p0x86" fmla="*/ 5 w 1620"/>
              <a:gd name="p0y86" fmla="*/ 190 h 1687"/>
              <a:gd name="p0x87" fmla="*/ 6 w 1620"/>
              <a:gd name="p0y87" fmla="*/ 184 h 1687"/>
              <a:gd name="p0x88" fmla="*/ 7 w 1620"/>
              <a:gd name="p0y88" fmla="*/ 179 h 1687"/>
              <a:gd name="p0x89" fmla="*/ 9 w 1620"/>
              <a:gd name="p0y89" fmla="*/ 173 h 1687"/>
              <a:gd name="p0x90" fmla="*/ 11 w 1620"/>
              <a:gd name="p0y90" fmla="*/ 167 h 1687"/>
              <a:gd name="p0x91" fmla="*/ 13 w 1620"/>
              <a:gd name="p0y91" fmla="*/ 161 h 1687"/>
              <a:gd name="p0x92" fmla="*/ 15 w 1620"/>
              <a:gd name="p0y92" fmla="*/ 156 h 1687"/>
              <a:gd name="p0x93" fmla="*/ 17 w 1620"/>
              <a:gd name="p0y93" fmla="*/ 150 h 1687"/>
              <a:gd name="p0x94" fmla="*/ 19 w 1620"/>
              <a:gd name="p0y94" fmla="*/ 145 h 1687"/>
              <a:gd name="p0x95" fmla="*/ 21 w 1620"/>
              <a:gd name="p0y95" fmla="*/ 139 h 1687"/>
              <a:gd name="p0x96" fmla="*/ 24 w 1620"/>
              <a:gd name="p0y96" fmla="*/ 134 h 1687"/>
              <a:gd name="p0x97" fmla="*/ 27 w 1620"/>
              <a:gd name="p0y97" fmla="*/ 129 h 1687"/>
              <a:gd name="p0x98" fmla="*/ 29 w 1620"/>
              <a:gd name="p0y98" fmla="*/ 123 h 1687"/>
              <a:gd name="p0x99" fmla="*/ 32 w 1620"/>
              <a:gd name="p0y99" fmla="*/ 118 h 1687"/>
              <a:gd name="p0x100" fmla="*/ 35 w 1620"/>
              <a:gd name="p0y100" fmla="*/ 113 h 1687"/>
              <a:gd name="p0x101" fmla="*/ 38 w 1620"/>
              <a:gd name="p0y101" fmla="*/ 108 h 1687"/>
              <a:gd name="p0x102" fmla="*/ 42 w 1620"/>
              <a:gd name="p0y102" fmla="*/ 103 h 1687"/>
              <a:gd name="p0x103" fmla="*/ 45 w 1620"/>
              <a:gd name="p0y103" fmla="*/ 99 h 1687"/>
              <a:gd name="p0x104" fmla="*/ 49 w 1620"/>
              <a:gd name="p0y104" fmla="*/ 94 h 1687"/>
              <a:gd name="p0x105" fmla="*/ 52 w 1620"/>
              <a:gd name="p0y105" fmla="*/ 89 h 1687"/>
              <a:gd name="p0x106" fmla="*/ 56 w 1620"/>
              <a:gd name="p0y106" fmla="*/ 85 h 1687"/>
              <a:gd name="p0x107" fmla="*/ 60 w 1620"/>
              <a:gd name="p0y107" fmla="*/ 80 h 1687"/>
              <a:gd name="p0x108" fmla="*/ 64 w 1620"/>
              <a:gd name="p0y108" fmla="*/ 76 h 1687"/>
              <a:gd name="p0x109" fmla="*/ 68 w 1620"/>
              <a:gd name="p0y109" fmla="*/ 72 h 1687"/>
              <a:gd name="p0x110" fmla="*/ 72 w 1620"/>
              <a:gd name="p0y110" fmla="*/ 68 h 1687"/>
              <a:gd name="p0x111" fmla="*/ 76 w 1620"/>
              <a:gd name="p0y111" fmla="*/ 64 h 1687"/>
              <a:gd name="p0x112" fmla="*/ 80 w 1620"/>
              <a:gd name="p0y112" fmla="*/ 60 h 1687"/>
              <a:gd name="p0x113" fmla="*/ 85 w 1620"/>
              <a:gd name="p0y113" fmla="*/ 56 h 1687"/>
              <a:gd name="p0x114" fmla="*/ 89 w 1620"/>
              <a:gd name="p0y114" fmla="*/ 52 h 1687"/>
              <a:gd name="p0x115" fmla="*/ 94 w 1620"/>
              <a:gd name="p0y115" fmla="*/ 49 h 1687"/>
              <a:gd name="p0x116" fmla="*/ 99 w 1620"/>
              <a:gd name="p0y116" fmla="*/ 45 h 1687"/>
              <a:gd name="p0x117" fmla="*/ 103 w 1620"/>
              <a:gd name="p0y117" fmla="*/ 42 h 1687"/>
              <a:gd name="p0x118" fmla="*/ 108 w 1620"/>
              <a:gd name="p0y118" fmla="*/ 38 h 1687"/>
              <a:gd name="p0x119" fmla="*/ 113 w 1620"/>
              <a:gd name="p0y119" fmla="*/ 35 h 1687"/>
              <a:gd name="p0x120" fmla="*/ 118 w 1620"/>
              <a:gd name="p0y120" fmla="*/ 32 h 1687"/>
              <a:gd name="p0x121" fmla="*/ 123 w 1620"/>
              <a:gd name="p0y121" fmla="*/ 29 h 1687"/>
              <a:gd name="p0x122" fmla="*/ 129 w 1620"/>
              <a:gd name="p0y122" fmla="*/ 27 h 1687"/>
              <a:gd name="p0x123" fmla="*/ 134 w 1620"/>
              <a:gd name="p0y123" fmla="*/ 24 h 1687"/>
              <a:gd name="p0x124" fmla="*/ 139 w 1620"/>
              <a:gd name="p0y124" fmla="*/ 21 h 1687"/>
              <a:gd name="p0x125" fmla="*/ 145 w 1620"/>
              <a:gd name="p0y125" fmla="*/ 19 h 1687"/>
              <a:gd name="p0x126" fmla="*/ 150 w 1620"/>
              <a:gd name="p0y126" fmla="*/ 17 h 1687"/>
              <a:gd name="p0x127" fmla="*/ 156 w 1620"/>
              <a:gd name="p0y127" fmla="*/ 15 h 1687"/>
              <a:gd name="p0x128" fmla="*/ 161 w 1620"/>
              <a:gd name="p0y128" fmla="*/ 13 h 1687"/>
              <a:gd name="p0x129" fmla="*/ 167 w 1620"/>
              <a:gd name="p0y129" fmla="*/ 11 h 1687"/>
              <a:gd name="p0x130" fmla="*/ 173 w 1620"/>
              <a:gd name="p0y130" fmla="*/ 9 h 1687"/>
              <a:gd name="p0x131" fmla="*/ 179 w 1620"/>
              <a:gd name="p0y131" fmla="*/ 7 h 1687"/>
              <a:gd name="p0x132" fmla="*/ 184 w 1620"/>
              <a:gd name="p0y132" fmla="*/ 6 h 1687"/>
              <a:gd name="p0x133" fmla="*/ 190 w 1620"/>
              <a:gd name="p0y133" fmla="*/ 5 h 1687"/>
              <a:gd name="p0x134" fmla="*/ 196 w 1620"/>
              <a:gd name="p0y134" fmla="*/ 3 h 1687"/>
              <a:gd name="p0x135" fmla="*/ 202 w 1620"/>
              <a:gd name="p0y135" fmla="*/ 2 h 1687"/>
              <a:gd name="p0x136" fmla="*/ 208 w 1620"/>
              <a:gd name="p0y136" fmla="*/ 1 h 1687"/>
              <a:gd name="p0x137" fmla="*/ 215 w 1620"/>
              <a:gd name="p0y137" fmla="*/ 1 h 1687"/>
              <a:gd name="p0x138" fmla="*/ 221 w 1620"/>
              <a:gd name="p0y138" fmla="*/ 0 h 1687"/>
              <a:gd name="p0x139" fmla="*/ 227 w 1620"/>
              <a:gd name="p0y139" fmla="*/ 0 h 1687"/>
              <a:gd name="p0x140" fmla="*/ 233 w 1620"/>
              <a:gd name="p0y140" fmla="*/ 0 h 1687"/>
              <a:gd name="p0x141" fmla="*/ 240 w 1620"/>
              <a:gd name="p0y141" fmla="*/ 0 h 168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lnTo>
                  <a:pt x="p0x2" y="p0y2"/>
                </a:lnTo>
                <a:lnTo>
                  <a:pt x="p0x3" y="p0y3"/>
                </a:lnTo>
                <a:lnTo>
                  <a:pt x="p0x4" y="p0y4"/>
                </a:lnTo>
                <a:lnTo>
                  <a:pt x="p0x5" y="p0y5"/>
                </a:lnTo>
                <a:lnTo>
                  <a:pt x="p0x6" y="p0y6"/>
                </a:lnTo>
                <a:lnTo>
                  <a:pt x="p0x7" y="p0y7"/>
                </a:lnTo>
                <a:lnTo>
                  <a:pt x="p0x8" y="p0y8"/>
                </a:lnTo>
                <a:lnTo>
                  <a:pt x="p0x9" y="p0y9"/>
                </a:lnTo>
                <a:lnTo>
                  <a:pt x="p0x10" y="p0y10"/>
                </a:lnTo>
                <a:lnTo>
                  <a:pt x="p0x11" y="p0y11"/>
                </a:lnTo>
                <a:lnTo>
                  <a:pt x="p0x12" y="p0y12"/>
                </a:lnTo>
                <a:lnTo>
                  <a:pt x="p0x13" y="p0y13"/>
                </a:lnTo>
                <a:lnTo>
                  <a:pt x="p0x14" y="p0y14"/>
                </a:lnTo>
                <a:lnTo>
                  <a:pt x="p0x15" y="p0y15"/>
                </a:lnTo>
                <a:lnTo>
                  <a:pt x="p0x16" y="p0y16"/>
                </a:lnTo>
                <a:lnTo>
                  <a:pt x="p0x17" y="p0y17"/>
                </a:lnTo>
                <a:lnTo>
                  <a:pt x="p0x18" y="p0y18"/>
                </a:lnTo>
                <a:lnTo>
                  <a:pt x="p0x19" y="p0y19"/>
                </a:lnTo>
                <a:lnTo>
                  <a:pt x="p0x20" y="p0y20"/>
                </a:lnTo>
                <a:lnTo>
                  <a:pt x="p0x21" y="p0y21"/>
                </a:lnTo>
                <a:lnTo>
                  <a:pt x="p0x22" y="p0y22"/>
                </a:lnTo>
                <a:lnTo>
                  <a:pt x="p0x23" y="p0y23"/>
                </a:lnTo>
                <a:lnTo>
                  <a:pt x="p0x24" y="p0y24"/>
                </a:lnTo>
                <a:lnTo>
                  <a:pt x="p0x25" y="p0y25"/>
                </a:lnTo>
                <a:lnTo>
                  <a:pt x="p0x26" y="p0y26"/>
                </a:lnTo>
                <a:lnTo>
                  <a:pt x="p0x27" y="p0y27"/>
                </a:lnTo>
                <a:lnTo>
                  <a:pt x="p0x28" y="p0y28"/>
                </a:lnTo>
                <a:lnTo>
                  <a:pt x="p0x29" y="p0y29"/>
                </a:lnTo>
                <a:lnTo>
                  <a:pt x="p0x30" y="p0y30"/>
                </a:lnTo>
                <a:lnTo>
                  <a:pt x="p0x31" y="p0y31"/>
                </a:lnTo>
                <a:lnTo>
                  <a:pt x="p0x32" y="p0y32"/>
                </a:lnTo>
                <a:lnTo>
                  <a:pt x="p0x33" y="p0y33"/>
                </a:lnTo>
                <a:lnTo>
                  <a:pt x="p0x34" y="p0y34"/>
                </a:lnTo>
                <a:lnTo>
                  <a:pt x="p0x35" y="p0y35"/>
                </a:lnTo>
                <a:lnTo>
                  <a:pt x="p0x36" y="p0y36"/>
                </a:lnTo>
                <a:lnTo>
                  <a:pt x="p0x37" y="p0y37"/>
                </a:lnTo>
                <a:lnTo>
                  <a:pt x="p0x38" y="p0y38"/>
                </a:lnTo>
                <a:lnTo>
                  <a:pt x="p0x39" y="p0y39"/>
                </a:lnTo>
                <a:lnTo>
                  <a:pt x="p0x40" y="p0y40"/>
                </a:lnTo>
                <a:lnTo>
                  <a:pt x="p0x41" y="p0y41"/>
                </a:lnTo>
                <a:lnTo>
                  <a:pt x="p0x42" y="p0y42"/>
                </a:lnTo>
                <a:lnTo>
                  <a:pt x="p0x43" y="p0y43"/>
                </a:lnTo>
                <a:lnTo>
                  <a:pt x="p0x44" y="p0y44"/>
                </a:lnTo>
                <a:lnTo>
                  <a:pt x="p0x45" y="p0y45"/>
                </a:lnTo>
                <a:lnTo>
                  <a:pt x="p0x46" y="p0y46"/>
                </a:lnTo>
                <a:lnTo>
                  <a:pt x="p0x47" y="p0y47"/>
                </a:lnTo>
                <a:lnTo>
                  <a:pt x="p0x48" y="p0y48"/>
                </a:lnTo>
                <a:lnTo>
                  <a:pt x="p0x49" y="p0y49"/>
                </a:lnTo>
                <a:lnTo>
                  <a:pt x="p0x50" y="p0y50"/>
                </a:lnTo>
                <a:lnTo>
                  <a:pt x="p0x51" y="p0y51"/>
                </a:lnTo>
                <a:lnTo>
                  <a:pt x="p0x52" y="p0y52"/>
                </a:lnTo>
                <a:lnTo>
                  <a:pt x="p0x53" y="p0y53"/>
                </a:lnTo>
                <a:lnTo>
                  <a:pt x="p0x54" y="p0y54"/>
                </a:lnTo>
                <a:lnTo>
                  <a:pt x="p0x55" y="p0y55"/>
                </a:lnTo>
                <a:lnTo>
                  <a:pt x="p0x56" y="p0y56"/>
                </a:lnTo>
                <a:lnTo>
                  <a:pt x="p0x57" y="p0y57"/>
                </a:lnTo>
                <a:lnTo>
                  <a:pt x="p0x58" y="p0y58"/>
                </a:lnTo>
                <a:lnTo>
                  <a:pt x="p0x59" y="p0y59"/>
                </a:lnTo>
                <a:lnTo>
                  <a:pt x="p0x60" y="p0y60"/>
                </a:lnTo>
                <a:lnTo>
                  <a:pt x="p0x61" y="p0y61"/>
                </a:lnTo>
                <a:lnTo>
                  <a:pt x="p0x62" y="p0y62"/>
                </a:lnTo>
                <a:lnTo>
                  <a:pt x="p0x63" y="p0y63"/>
                </a:lnTo>
                <a:lnTo>
                  <a:pt x="p0x64" y="p0y64"/>
                </a:lnTo>
                <a:lnTo>
                  <a:pt x="p0x65" y="p0y65"/>
                </a:lnTo>
                <a:lnTo>
                  <a:pt x="p0x66" y="p0y66"/>
                </a:lnTo>
                <a:lnTo>
                  <a:pt x="p0x67" y="p0y67"/>
                </a:lnTo>
                <a:lnTo>
                  <a:pt x="p0x68" y="p0y68"/>
                </a:lnTo>
                <a:lnTo>
                  <a:pt x="p0x69" y="p0y69"/>
                </a:lnTo>
                <a:lnTo>
                  <a:pt x="p0x70" y="p0y70"/>
                </a:lnTo>
                <a:lnTo>
                  <a:pt x="p0x71" y="p0y71"/>
                </a:lnTo>
                <a:lnTo>
                  <a:pt x="p0x72" y="p0y72"/>
                </a:lnTo>
                <a:lnTo>
                  <a:pt x="p0x73" y="p0y73"/>
                </a:lnTo>
                <a:lnTo>
                  <a:pt x="p0x74" y="p0y74"/>
                </a:lnTo>
                <a:lnTo>
                  <a:pt x="p0x75" y="p0y75"/>
                </a:lnTo>
                <a:lnTo>
                  <a:pt x="p0x76" y="p0y76"/>
                </a:lnTo>
                <a:lnTo>
                  <a:pt x="p0x77" y="p0y77"/>
                </a:lnTo>
                <a:lnTo>
                  <a:pt x="p0x78" y="p0y78"/>
                </a:lnTo>
                <a:lnTo>
                  <a:pt x="p0x79" y="p0y79"/>
                </a:lnTo>
                <a:lnTo>
                  <a:pt x="p0x80" y="p0y80"/>
                </a:lnTo>
                <a:lnTo>
                  <a:pt x="p0x81" y="p0y81"/>
                </a:lnTo>
                <a:lnTo>
                  <a:pt x="p0x82" y="p0y82"/>
                </a:lnTo>
                <a:lnTo>
                  <a:pt x="p0x83" y="p0y83"/>
                </a:lnTo>
                <a:lnTo>
                  <a:pt x="p0x84" y="p0y84"/>
                </a:lnTo>
                <a:lnTo>
                  <a:pt x="p0x85" y="p0y85"/>
                </a:lnTo>
                <a:lnTo>
                  <a:pt x="p0x86" y="p0y86"/>
                </a:lnTo>
                <a:lnTo>
                  <a:pt x="p0x87" y="p0y87"/>
                </a:lnTo>
                <a:lnTo>
                  <a:pt x="p0x88" y="p0y88"/>
                </a:lnTo>
                <a:lnTo>
                  <a:pt x="p0x89" y="p0y89"/>
                </a:lnTo>
                <a:lnTo>
                  <a:pt x="p0x90" y="p0y90"/>
                </a:lnTo>
                <a:lnTo>
                  <a:pt x="p0x91" y="p0y91"/>
                </a:lnTo>
                <a:lnTo>
                  <a:pt x="p0x92" y="p0y92"/>
                </a:lnTo>
                <a:lnTo>
                  <a:pt x="p0x93" y="p0y93"/>
                </a:lnTo>
                <a:lnTo>
                  <a:pt x="p0x94" y="p0y94"/>
                </a:lnTo>
                <a:lnTo>
                  <a:pt x="p0x95" y="p0y95"/>
                </a:lnTo>
                <a:lnTo>
                  <a:pt x="p0x96" y="p0y96"/>
                </a:lnTo>
                <a:lnTo>
                  <a:pt x="p0x97" y="p0y97"/>
                </a:lnTo>
                <a:lnTo>
                  <a:pt x="p0x98" y="p0y98"/>
                </a:lnTo>
                <a:lnTo>
                  <a:pt x="p0x99" y="p0y99"/>
                </a:lnTo>
                <a:lnTo>
                  <a:pt x="p0x100" y="p0y100"/>
                </a:lnTo>
                <a:lnTo>
                  <a:pt x="p0x101" y="p0y101"/>
                </a:lnTo>
                <a:lnTo>
                  <a:pt x="p0x102" y="p0y102"/>
                </a:lnTo>
                <a:lnTo>
                  <a:pt x="p0x103" y="p0y103"/>
                </a:lnTo>
                <a:lnTo>
                  <a:pt x="p0x104" y="p0y104"/>
                </a:lnTo>
                <a:lnTo>
                  <a:pt x="p0x105" y="p0y105"/>
                </a:lnTo>
                <a:lnTo>
                  <a:pt x="p0x106" y="p0y106"/>
                </a:lnTo>
                <a:lnTo>
                  <a:pt x="p0x107" y="p0y107"/>
                </a:lnTo>
                <a:lnTo>
                  <a:pt x="p0x108" y="p0y108"/>
                </a:lnTo>
                <a:lnTo>
                  <a:pt x="p0x109" y="p0y109"/>
                </a:lnTo>
                <a:lnTo>
                  <a:pt x="p0x110" y="p0y110"/>
                </a:lnTo>
                <a:lnTo>
                  <a:pt x="p0x111" y="p0y111"/>
                </a:lnTo>
                <a:lnTo>
                  <a:pt x="p0x112" y="p0y112"/>
                </a:lnTo>
                <a:lnTo>
                  <a:pt x="p0x113" y="p0y113"/>
                </a:lnTo>
                <a:lnTo>
                  <a:pt x="p0x114" y="p0y114"/>
                </a:lnTo>
                <a:lnTo>
                  <a:pt x="p0x115" y="p0y115"/>
                </a:lnTo>
                <a:lnTo>
                  <a:pt x="p0x116" y="p0y116"/>
                </a:lnTo>
                <a:lnTo>
                  <a:pt x="p0x117" y="p0y117"/>
                </a:lnTo>
                <a:lnTo>
                  <a:pt x="p0x118" y="p0y118"/>
                </a:lnTo>
                <a:lnTo>
                  <a:pt x="p0x119" y="p0y119"/>
                </a:lnTo>
                <a:lnTo>
                  <a:pt x="p0x120" y="p0y120"/>
                </a:lnTo>
                <a:lnTo>
                  <a:pt x="p0x121" y="p0y121"/>
                </a:lnTo>
                <a:lnTo>
                  <a:pt x="p0x122" y="p0y122"/>
                </a:lnTo>
                <a:lnTo>
                  <a:pt x="p0x123" y="p0y123"/>
                </a:lnTo>
                <a:lnTo>
                  <a:pt x="p0x124" y="p0y124"/>
                </a:lnTo>
                <a:lnTo>
                  <a:pt x="p0x125" y="p0y125"/>
                </a:lnTo>
                <a:lnTo>
                  <a:pt x="p0x126" y="p0y126"/>
                </a:lnTo>
                <a:lnTo>
                  <a:pt x="p0x127" y="p0y127"/>
                </a:lnTo>
                <a:lnTo>
                  <a:pt x="p0x128" y="p0y128"/>
                </a:lnTo>
                <a:lnTo>
                  <a:pt x="p0x129" y="p0y129"/>
                </a:lnTo>
                <a:lnTo>
                  <a:pt x="p0x130" y="p0y130"/>
                </a:lnTo>
                <a:lnTo>
                  <a:pt x="p0x131" y="p0y131"/>
                </a:lnTo>
                <a:lnTo>
                  <a:pt x="p0x132" y="p0y132"/>
                </a:lnTo>
                <a:lnTo>
                  <a:pt x="p0x133" y="p0y133"/>
                </a:lnTo>
                <a:lnTo>
                  <a:pt x="p0x134" y="p0y134"/>
                </a:lnTo>
                <a:lnTo>
                  <a:pt x="p0x135" y="p0y135"/>
                </a:lnTo>
                <a:lnTo>
                  <a:pt x="p0x136" y="p0y136"/>
                </a:lnTo>
                <a:lnTo>
                  <a:pt x="p0x137" y="p0y137"/>
                </a:lnTo>
                <a:lnTo>
                  <a:pt x="p0x138" y="p0y138"/>
                </a:lnTo>
                <a:lnTo>
                  <a:pt x="p0x139" y="p0y139"/>
                </a:lnTo>
                <a:lnTo>
                  <a:pt x="p0x140" y="p0y140"/>
                </a:lnTo>
                <a:lnTo>
                  <a:pt x="p0x141" y="p0y141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12"/>
            </p:custDataLst>
          </p:nvPr>
        </p:nvSpPr>
        <p:spPr>
          <a:xfrm>
            <a:off x="780831" y="4983956"/>
            <a:ext cx="60997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050" spc="63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第</a:t>
            </a:r>
            <a:r>
              <a:rPr lang="en-US" altLang="zh-CN" sz="1050" spc="63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 4 </a:t>
            </a:r>
            <a:r>
              <a:rPr lang="zh-CN" altLang="en-US" sz="1050" spc="63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环</a:t>
            </a:r>
            <a:endParaRPr lang="zh-CN" altLang="en-US" sz="1050" spc="63">
              <a:solidFill>
                <a:srgbClr val="FFFFFF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3"/>
            </p:custDataLst>
          </p:nvPr>
        </p:nvSpPr>
        <p:spPr>
          <a:xfrm>
            <a:off x="609600" y="5160169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FFFFFF"/>
                </a:solidFill>
                <a:latin typeface="MiSans Demibold" panose="00000700000000000000" charset="-122"/>
                <a:ea typeface="MiSans Demibold" panose="00000700000000000000" charset="-122"/>
              </a:rPr>
              <a:t>反馈优化</a:t>
            </a:r>
            <a:endParaRPr sz="1500" b="1">
              <a:solidFill>
                <a:srgbClr val="FFFFFF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14"/>
            </p:custDataLst>
          </p:nvPr>
        </p:nvSpPr>
        <p:spPr>
          <a:xfrm>
            <a:off x="1757045" y="1109345"/>
            <a:ext cx="9858375" cy="1062355"/>
          </a:xfrm>
          <a:custGeom>
            <a:avLst/>
            <a:gdLst>
              <a:gd name="sw" fmla="*/ 1 w 15525"/>
              <a:gd name="sh" fmla="*/ 1 h 1672"/>
              <a:gd name="mins" fmla="min sw sh"/>
              <a:gd name="dsw" fmla="+- 0 sw mins"/>
              <a:gd name="dsh" fmla="+- 0 sh mins"/>
              <a:gd name="p0x0" fmla="*/ 240 w 15525"/>
              <a:gd name="p0y0" fmla="*/ 0 h 1672"/>
              <a:gd name="p0x1" fmla="*/ 15285 w 15525"/>
              <a:gd name="p0y1" fmla="*/ 0 h 1672"/>
              <a:gd name="p0x2" fmla="*/ 15417 w 15525"/>
              <a:gd name="p0y2" fmla="*/ 0 h 1672"/>
              <a:gd name="p0x3" fmla="*/ 15525 w 15525"/>
              <a:gd name="p0y3" fmla="*/ 107 h 1672"/>
              <a:gd name="p0x4" fmla="*/ 15525 w 15525"/>
              <a:gd name="p0y4" fmla="*/ 240 h 1672"/>
              <a:gd name="p0x5" fmla="*/ 15525 w 15525"/>
              <a:gd name="p0y5" fmla="*/ 1432 h 1672"/>
              <a:gd name="p0x6" fmla="*/ 15525 w 15525"/>
              <a:gd name="p0y6" fmla="*/ 1565 h 1672"/>
              <a:gd name="p0x7" fmla="*/ 15417 w 15525"/>
              <a:gd name="p0y7" fmla="*/ 1672 h 1672"/>
              <a:gd name="p0x8" fmla="*/ 15285 w 15525"/>
              <a:gd name="p0y8" fmla="*/ 1672 h 1672"/>
              <a:gd name="p0x9" fmla="*/ 240 w 15525"/>
              <a:gd name="p0y9" fmla="*/ 1672 h 1672"/>
              <a:gd name="p0x10" fmla="*/ 107 w 15525"/>
              <a:gd name="p0y10" fmla="*/ 1672 h 1672"/>
              <a:gd name="p0x11" fmla="*/ 0 w 15525"/>
              <a:gd name="p0y11" fmla="*/ 1565 h 1672"/>
              <a:gd name="p0x12" fmla="*/ 0 w 15525"/>
              <a:gd name="p0y12" fmla="*/ 1432 h 1672"/>
              <a:gd name="p0x13" fmla="*/ 0 w 15525"/>
              <a:gd name="p0y13" fmla="*/ 240 h 1672"/>
              <a:gd name="p0x14" fmla="*/ 0 w 15525"/>
              <a:gd name="p0y14" fmla="*/ 107 h 1672"/>
              <a:gd name="p0x15" fmla="*/ 107 w 15525"/>
              <a:gd name="p0y15" fmla="*/ 0 h 1672"/>
              <a:gd name="p0x16" fmla="*/ 240 w 15525"/>
              <a:gd name="p0y16" fmla="*/ 0 h 16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15"/>
            </p:custDataLst>
          </p:nvPr>
        </p:nvSpPr>
        <p:spPr>
          <a:xfrm>
            <a:off x="1952625" y="142684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16"/>
            </p:custDataLst>
          </p:nvPr>
        </p:nvSpPr>
        <p:spPr>
          <a:xfrm>
            <a:off x="2105025" y="1350645"/>
            <a:ext cx="457200" cy="228600"/>
          </a:xfrm>
          <a:custGeom>
            <a:avLst/>
            <a:gdLst>
              <a:gd name="sw" fmla="*/ 1 w 720"/>
              <a:gd name="sh" fmla="*/ 1 h 360"/>
              <a:gd name="mins" fmla="min sw sh"/>
              <a:gd name="dsw" fmla="+- 0 sw mins"/>
              <a:gd name="dsh" fmla="+- 0 sh mins"/>
              <a:gd name="p0x0" fmla="*/ 180 w 720"/>
              <a:gd name="p0y0" fmla="*/ 0 h 360"/>
              <a:gd name="p0x1" fmla="*/ 540 w 720"/>
              <a:gd name="p0y1" fmla="*/ 0 h 360"/>
              <a:gd name="p0x2" fmla="*/ 639 w 720"/>
              <a:gd name="p0y2" fmla="*/ 0 h 360"/>
              <a:gd name="p0x3" fmla="*/ 720 w 720"/>
              <a:gd name="p0y3" fmla="*/ 80 h 360"/>
              <a:gd name="p0x4" fmla="*/ 720 w 720"/>
              <a:gd name="p0y4" fmla="*/ 180 h 360"/>
              <a:gd name="p0x5" fmla="*/ 720 w 720"/>
              <a:gd name="p0y5" fmla="*/ 279 h 360"/>
              <a:gd name="p0x6" fmla="*/ 639 w 720"/>
              <a:gd name="p0y6" fmla="*/ 360 h 360"/>
              <a:gd name="p0x7" fmla="*/ 540 w 720"/>
              <a:gd name="p0y7" fmla="*/ 360 h 360"/>
              <a:gd name="p0x8" fmla="*/ 180 w 720"/>
              <a:gd name="p0y8" fmla="*/ 360 h 360"/>
              <a:gd name="p0x9" fmla="*/ 80 w 720"/>
              <a:gd name="p0y9" fmla="*/ 360 h 360"/>
              <a:gd name="p0x10" fmla="*/ 0 w 720"/>
              <a:gd name="p0y10" fmla="*/ 279 h 360"/>
              <a:gd name="p0x11" fmla="*/ 0 w 720"/>
              <a:gd name="p0y11" fmla="*/ 180 h 360"/>
              <a:gd name="p0x12" fmla="*/ 0 w 720"/>
              <a:gd name="p0y12" fmla="*/ 80 h 360"/>
              <a:gd name="p0x13" fmla="*/ 80 w 720"/>
              <a:gd name="p0y13" fmla="*/ 0 h 360"/>
              <a:gd name="p0x14" fmla="*/ 180 w 720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7"/>
            </p:custDataLst>
          </p:nvPr>
        </p:nvSpPr>
        <p:spPr>
          <a:xfrm>
            <a:off x="2181225" y="1361618"/>
            <a:ext cx="4572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1163"/>
                  </a:schemeClr>
                </a:solidFill>
                <a:latin typeface="MiSans Demibold" panose="00000700000000000000" charset="-122"/>
                <a:ea typeface="MiSans Demibold" panose="00000700000000000000" charset="-122"/>
              </a:rPr>
              <a:t>用户</a:t>
            </a:r>
            <a:endParaRPr sz="1200" b="1">
              <a:solidFill>
                <a:schemeClr val="accent1">
                  <a:lumMod val="51163"/>
                </a:scheme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8"/>
            </p:custDataLst>
          </p:nvPr>
        </p:nvSpPr>
        <p:spPr>
          <a:xfrm>
            <a:off x="2638501" y="1307325"/>
            <a:ext cx="2808018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</a:rPr>
              <a:t>入口输入问题，</a:t>
            </a:r>
            <a:r>
              <a:rPr lang="en-US" b="1">
                <a:solidFill>
                  <a:schemeClr val="tx2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AI </a:t>
            </a:r>
            <a:r>
              <a:rPr lang="zh-CN" altLang="en-US" b="1">
                <a:solidFill>
                  <a:schemeClr val="tx2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先接住</a:t>
            </a:r>
            <a:endParaRPr lang="zh-CN" altLang="en-US" b="1">
              <a:solidFill>
                <a:schemeClr val="tx2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9"/>
            </p:custDataLst>
          </p:nvPr>
        </p:nvSpPr>
        <p:spPr>
          <a:xfrm>
            <a:off x="1952625" y="1669275"/>
            <a:ext cx="176569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 b="1" spc="63">
                <a:solidFill>
                  <a:schemeClr val="tx2"/>
                </a:solidFill>
                <a:cs typeface="+mn-lt"/>
              </a:rPr>
              <a:t>用户感知</a:t>
            </a:r>
            <a:r>
              <a:rPr sz="1350">
                <a:solidFill>
                  <a:srgbClr val="4A6B8A"/>
                </a:solidFill>
                <a:cs typeface="+mn-lt"/>
              </a:rPr>
              <a:t>像正常找客服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1757045" y="2295525"/>
            <a:ext cx="9858375" cy="1061720"/>
          </a:xfrm>
          <a:custGeom>
            <a:avLst/>
            <a:gdLst>
              <a:gd name="sw" fmla="*/ 1 w 15525"/>
              <a:gd name="sh" fmla="*/ 1 h 1672"/>
              <a:gd name="mins" fmla="min sw sh"/>
              <a:gd name="dsw" fmla="+- 0 sw mins"/>
              <a:gd name="dsh" fmla="+- 0 sh mins"/>
              <a:gd name="p0x0" fmla="*/ 240 w 15525"/>
              <a:gd name="p0y0" fmla="*/ 0 h 1672"/>
              <a:gd name="p0x1" fmla="*/ 15285 w 15525"/>
              <a:gd name="p0y1" fmla="*/ 0 h 1672"/>
              <a:gd name="p0x2" fmla="*/ 15417 w 15525"/>
              <a:gd name="p0y2" fmla="*/ 0 h 1672"/>
              <a:gd name="p0x3" fmla="*/ 15525 w 15525"/>
              <a:gd name="p0y3" fmla="*/ 107 h 1672"/>
              <a:gd name="p0x4" fmla="*/ 15525 w 15525"/>
              <a:gd name="p0y4" fmla="*/ 240 h 1672"/>
              <a:gd name="p0x5" fmla="*/ 15525 w 15525"/>
              <a:gd name="p0y5" fmla="*/ 1432 h 1672"/>
              <a:gd name="p0x6" fmla="*/ 15525 w 15525"/>
              <a:gd name="p0y6" fmla="*/ 1565 h 1672"/>
              <a:gd name="p0x7" fmla="*/ 15417 w 15525"/>
              <a:gd name="p0y7" fmla="*/ 1672 h 1672"/>
              <a:gd name="p0x8" fmla="*/ 15285 w 15525"/>
              <a:gd name="p0y8" fmla="*/ 1672 h 1672"/>
              <a:gd name="p0x9" fmla="*/ 240 w 15525"/>
              <a:gd name="p0y9" fmla="*/ 1672 h 1672"/>
              <a:gd name="p0x10" fmla="*/ 107 w 15525"/>
              <a:gd name="p0y10" fmla="*/ 1672 h 1672"/>
              <a:gd name="p0x11" fmla="*/ 0 w 15525"/>
              <a:gd name="p0y11" fmla="*/ 1565 h 1672"/>
              <a:gd name="p0x12" fmla="*/ 0 w 15525"/>
              <a:gd name="p0y12" fmla="*/ 1432 h 1672"/>
              <a:gd name="p0x13" fmla="*/ 0 w 15525"/>
              <a:gd name="p0y13" fmla="*/ 240 h 1672"/>
              <a:gd name="p0x14" fmla="*/ 0 w 15525"/>
              <a:gd name="p0y14" fmla="*/ 107 h 1672"/>
              <a:gd name="p0x15" fmla="*/ 107 w 15525"/>
              <a:gd name="p0y15" fmla="*/ 0 h 1672"/>
              <a:gd name="p0x16" fmla="*/ 240 w 15525"/>
              <a:gd name="p0y16" fmla="*/ 0 h 16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21"/>
            </p:custDataLst>
          </p:nvPr>
        </p:nvSpPr>
        <p:spPr>
          <a:xfrm>
            <a:off x="1952625" y="261302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22"/>
            </p:custDataLst>
          </p:nvPr>
        </p:nvSpPr>
        <p:spPr>
          <a:xfrm>
            <a:off x="2105025" y="2536825"/>
            <a:ext cx="297815" cy="228600"/>
          </a:xfrm>
          <a:custGeom>
            <a:avLst/>
            <a:gdLst>
              <a:gd name="sw" fmla="*/ 1 w 469"/>
              <a:gd name="sh" fmla="*/ 1 h 360"/>
              <a:gd name="mins" fmla="min sw sh"/>
              <a:gd name="dsw" fmla="+- 0 sw mins"/>
              <a:gd name="dsh" fmla="+- 0 sh mins"/>
              <a:gd name="p0x0" fmla="*/ 180 w 469"/>
              <a:gd name="p0y0" fmla="*/ 0 h 360"/>
              <a:gd name="p0x1" fmla="*/ 289 w 469"/>
              <a:gd name="p0y1" fmla="*/ 0 h 360"/>
              <a:gd name="p0x2" fmla="*/ 389 w 469"/>
              <a:gd name="p0y2" fmla="*/ 0 h 360"/>
              <a:gd name="p0x3" fmla="*/ 469 w 469"/>
              <a:gd name="p0y3" fmla="*/ 80 h 360"/>
              <a:gd name="p0x4" fmla="*/ 469 w 469"/>
              <a:gd name="p0y4" fmla="*/ 180 h 360"/>
              <a:gd name="p0x5" fmla="*/ 469 w 469"/>
              <a:gd name="p0y5" fmla="*/ 279 h 360"/>
              <a:gd name="p0x6" fmla="*/ 389 w 469"/>
              <a:gd name="p0y6" fmla="*/ 360 h 360"/>
              <a:gd name="p0x7" fmla="*/ 289 w 469"/>
              <a:gd name="p0y7" fmla="*/ 360 h 360"/>
              <a:gd name="p0x8" fmla="*/ 180 w 469"/>
              <a:gd name="p0y8" fmla="*/ 360 h 360"/>
              <a:gd name="p0x9" fmla="*/ 80 w 469"/>
              <a:gd name="p0y9" fmla="*/ 360 h 360"/>
              <a:gd name="p0x10" fmla="*/ 0 w 469"/>
              <a:gd name="p0y10" fmla="*/ 279 h 360"/>
              <a:gd name="p0x11" fmla="*/ 0 w 469"/>
              <a:gd name="p0y11" fmla="*/ 180 h 360"/>
              <a:gd name="p0x12" fmla="*/ 0 w 469"/>
              <a:gd name="p0y12" fmla="*/ 80 h 360"/>
              <a:gd name="p0x13" fmla="*/ 80 w 469"/>
              <a:gd name="p0y13" fmla="*/ 0 h 360"/>
              <a:gd name="p0x14" fmla="*/ 180 w 469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2181225" y="2547480"/>
            <a:ext cx="298399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1163"/>
                  </a:schemeClr>
                </a:solidFill>
                <a:latin typeface="MiSans Demibold" panose="00000700000000000000" charset="-122"/>
                <a:ea typeface="MiSans Demibold" panose="00000700000000000000" charset="-122"/>
              </a:rPr>
              <a:t>AI</a:t>
            </a:r>
            <a:endParaRPr sz="1200" b="1">
              <a:solidFill>
                <a:schemeClr val="accent1">
                  <a:lumMod val="51163"/>
                </a:scheme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2479624" y="2493188"/>
            <a:ext cx="4432030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</a:rPr>
              <a:t>判断类型，查</a:t>
            </a:r>
            <a:r>
              <a:rPr lang="zh-CN" b="1">
                <a:solidFill>
                  <a:schemeClr val="tx2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知识库</a:t>
            </a:r>
            <a:r>
              <a:rPr lang="en-US" altLang="zh-CN" b="1">
                <a:solidFill>
                  <a:schemeClr val="tx2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/</a:t>
            </a:r>
            <a:r>
              <a:rPr lang="zh-CN" altLang="en-US" b="1">
                <a:solidFill>
                  <a:schemeClr val="tx2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业务数据</a:t>
            </a:r>
            <a:r>
              <a:rPr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</a:rPr>
              <a:t>，生成建议</a:t>
            </a:r>
            <a:endParaRPr b="1">
              <a:solidFill>
                <a:srgbClr val="1B3A5C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1952625" y="2855138"/>
            <a:ext cx="245149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 b="1" spc="63">
                <a:solidFill>
                  <a:schemeClr val="tx2"/>
                </a:solidFill>
                <a:cs typeface="+mn-lt"/>
              </a:rPr>
              <a:t>用户感知</a:t>
            </a:r>
            <a:r>
              <a:rPr sz="1350">
                <a:solidFill>
                  <a:srgbClr val="4A6B8A"/>
                </a:solidFill>
                <a:cs typeface="+mn-lt"/>
              </a:rPr>
              <a:t>看到「正在查询」提示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25" name="任意多边形 24"/>
          <p:cNvSpPr/>
          <p:nvPr>
            <p:custDataLst>
              <p:tags r:id="rId26"/>
            </p:custDataLst>
          </p:nvPr>
        </p:nvSpPr>
        <p:spPr>
          <a:xfrm>
            <a:off x="1757045" y="3481070"/>
            <a:ext cx="9858375" cy="1062355"/>
          </a:xfrm>
          <a:custGeom>
            <a:avLst/>
            <a:gdLst>
              <a:gd name="sw" fmla="*/ 1 w 15525"/>
              <a:gd name="sh" fmla="*/ 1 h 1672"/>
              <a:gd name="mins" fmla="min sw sh"/>
              <a:gd name="dsw" fmla="+- 0 sw mins"/>
              <a:gd name="dsh" fmla="+- 0 sh mins"/>
              <a:gd name="p0x0" fmla="*/ 240 w 15525"/>
              <a:gd name="p0y0" fmla="*/ 0 h 1672"/>
              <a:gd name="p0x1" fmla="*/ 15285 w 15525"/>
              <a:gd name="p0y1" fmla="*/ 0 h 1672"/>
              <a:gd name="p0x2" fmla="*/ 15417 w 15525"/>
              <a:gd name="p0y2" fmla="*/ 0 h 1672"/>
              <a:gd name="p0x3" fmla="*/ 15525 w 15525"/>
              <a:gd name="p0y3" fmla="*/ 107 h 1672"/>
              <a:gd name="p0x4" fmla="*/ 15525 w 15525"/>
              <a:gd name="p0y4" fmla="*/ 240 h 1672"/>
              <a:gd name="p0x5" fmla="*/ 15525 w 15525"/>
              <a:gd name="p0y5" fmla="*/ 1432 h 1672"/>
              <a:gd name="p0x6" fmla="*/ 15525 w 15525"/>
              <a:gd name="p0y6" fmla="*/ 1565 h 1672"/>
              <a:gd name="p0x7" fmla="*/ 15417 w 15525"/>
              <a:gd name="p0y7" fmla="*/ 1672 h 1672"/>
              <a:gd name="p0x8" fmla="*/ 15285 w 15525"/>
              <a:gd name="p0y8" fmla="*/ 1672 h 1672"/>
              <a:gd name="p0x9" fmla="*/ 240 w 15525"/>
              <a:gd name="p0y9" fmla="*/ 1672 h 1672"/>
              <a:gd name="p0x10" fmla="*/ 107 w 15525"/>
              <a:gd name="p0y10" fmla="*/ 1672 h 1672"/>
              <a:gd name="p0x11" fmla="*/ 0 w 15525"/>
              <a:gd name="p0y11" fmla="*/ 1565 h 1672"/>
              <a:gd name="p0x12" fmla="*/ 0 w 15525"/>
              <a:gd name="p0y12" fmla="*/ 1432 h 1672"/>
              <a:gd name="p0x13" fmla="*/ 0 w 15525"/>
              <a:gd name="p0y13" fmla="*/ 240 h 1672"/>
              <a:gd name="p0x14" fmla="*/ 0 w 15525"/>
              <a:gd name="p0y14" fmla="*/ 107 h 1672"/>
              <a:gd name="p0x15" fmla="*/ 107 w 15525"/>
              <a:gd name="p0y15" fmla="*/ 0 h 1672"/>
              <a:gd name="p0x16" fmla="*/ 240 w 15525"/>
              <a:gd name="p0y16" fmla="*/ 0 h 16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27"/>
            </p:custDataLst>
          </p:nvPr>
        </p:nvSpPr>
        <p:spPr>
          <a:xfrm>
            <a:off x="1952625" y="379857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8"/>
            </p:custDataLst>
          </p:nvPr>
        </p:nvSpPr>
        <p:spPr>
          <a:xfrm>
            <a:off x="2105025" y="3722370"/>
            <a:ext cx="697865" cy="228600"/>
          </a:xfrm>
          <a:custGeom>
            <a:avLst/>
            <a:gdLst>
              <a:gd name="sw" fmla="*/ 1 w 1099"/>
              <a:gd name="sh" fmla="*/ 1 h 360"/>
              <a:gd name="mins" fmla="min sw sh"/>
              <a:gd name="dsw" fmla="+- 0 sw mins"/>
              <a:gd name="dsh" fmla="+- 0 sh mins"/>
              <a:gd name="p0x0" fmla="*/ 180 w 1099"/>
              <a:gd name="p0y0" fmla="*/ 0 h 360"/>
              <a:gd name="p0x1" fmla="*/ 919 w 1099"/>
              <a:gd name="p0y1" fmla="*/ 0 h 360"/>
              <a:gd name="p0x2" fmla="*/ 1019 w 1099"/>
              <a:gd name="p0y2" fmla="*/ 0 h 360"/>
              <a:gd name="p0x3" fmla="*/ 1099 w 1099"/>
              <a:gd name="p0y3" fmla="*/ 80 h 360"/>
              <a:gd name="p0x4" fmla="*/ 1099 w 1099"/>
              <a:gd name="p0y4" fmla="*/ 180 h 360"/>
              <a:gd name="p0x5" fmla="*/ 1099 w 1099"/>
              <a:gd name="p0y5" fmla="*/ 279 h 360"/>
              <a:gd name="p0x6" fmla="*/ 1019 w 1099"/>
              <a:gd name="p0y6" fmla="*/ 360 h 360"/>
              <a:gd name="p0x7" fmla="*/ 919 w 1099"/>
              <a:gd name="p0y7" fmla="*/ 360 h 360"/>
              <a:gd name="p0x8" fmla="*/ 180 w 1099"/>
              <a:gd name="p0y8" fmla="*/ 360 h 360"/>
              <a:gd name="p0x9" fmla="*/ 80 w 1099"/>
              <a:gd name="p0y9" fmla="*/ 360 h 360"/>
              <a:gd name="p0x10" fmla="*/ 0 w 1099"/>
              <a:gd name="p0y10" fmla="*/ 279 h 360"/>
              <a:gd name="p0x11" fmla="*/ 0 w 1099"/>
              <a:gd name="p0y11" fmla="*/ 180 h 360"/>
              <a:gd name="p0x12" fmla="*/ 0 w 1099"/>
              <a:gd name="p0y12" fmla="*/ 80 h 360"/>
              <a:gd name="p0x13" fmla="*/ 80 w 1099"/>
              <a:gd name="p0y13" fmla="*/ 0 h 360"/>
              <a:gd name="p0x14" fmla="*/ 180 w 1099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9"/>
            </p:custDataLst>
          </p:nvPr>
        </p:nvSpPr>
        <p:spPr>
          <a:xfrm>
            <a:off x="2181225" y="3733343"/>
            <a:ext cx="69830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200" b="1">
                <a:solidFill>
                  <a:schemeClr val="accent1">
                    <a:lumMod val="51163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AI+</a:t>
            </a:r>
            <a:r>
              <a:rPr lang="zh-CN" sz="1200" b="1">
                <a:solidFill>
                  <a:schemeClr val="accent1">
                    <a:lumMod val="51163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客服</a:t>
            </a:r>
            <a:endParaRPr lang="zh-CN" sz="1200" b="1">
              <a:solidFill>
                <a:schemeClr val="accent1">
                  <a:lumMod val="51163"/>
                </a:schemeClr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2879531" y="3679050"/>
            <a:ext cx="4800829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latin typeface="MiSans Demibold" panose="00000700000000000000" charset="-122"/>
                <a:ea typeface="MiSans Demibold" panose="00000700000000000000" charset="-122"/>
              </a:rPr>
              <a:t>高置信自动回</a:t>
            </a:r>
            <a:r>
              <a:rPr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</a:rPr>
              <a:t>，中置信推审核，</a:t>
            </a:r>
            <a:r>
              <a:rPr b="1">
                <a:solidFill>
                  <a:schemeClr val="tx2"/>
                </a:solidFill>
                <a:latin typeface="MiSans Demibold" panose="00000700000000000000" charset="-122"/>
                <a:ea typeface="MiSans Demibold" panose="00000700000000000000" charset="-122"/>
              </a:rPr>
              <a:t>低置信转人工</a:t>
            </a:r>
            <a:endParaRPr b="1">
              <a:solidFill>
                <a:schemeClr val="tx2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1"/>
            </p:custDataLst>
          </p:nvPr>
        </p:nvSpPr>
        <p:spPr>
          <a:xfrm>
            <a:off x="1952625" y="4041000"/>
            <a:ext cx="296584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 b="1" spc="63">
                <a:solidFill>
                  <a:schemeClr val="tx2"/>
                </a:solidFill>
                <a:cs typeface="+mn-lt"/>
              </a:rPr>
              <a:t>用户感知</a:t>
            </a:r>
            <a:r>
              <a:rPr sz="1350">
                <a:solidFill>
                  <a:srgbClr val="4A6B8A"/>
                </a:solidFill>
                <a:cs typeface="+mn-lt"/>
              </a:rPr>
              <a:t>简单问题快速答，复杂转人工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34" name="任意多边形 33"/>
          <p:cNvSpPr/>
          <p:nvPr>
            <p:custDataLst>
              <p:tags r:id="rId32"/>
            </p:custDataLst>
          </p:nvPr>
        </p:nvSpPr>
        <p:spPr>
          <a:xfrm>
            <a:off x="1757045" y="4667250"/>
            <a:ext cx="9858375" cy="1061720"/>
          </a:xfrm>
          <a:custGeom>
            <a:avLst/>
            <a:gdLst>
              <a:gd name="sw" fmla="*/ 1 w 15525"/>
              <a:gd name="sh" fmla="*/ 1 h 1672"/>
              <a:gd name="mins" fmla="min sw sh"/>
              <a:gd name="dsw" fmla="+- 0 sw mins"/>
              <a:gd name="dsh" fmla="+- 0 sh mins"/>
              <a:gd name="p0x0" fmla="*/ 240 w 15525"/>
              <a:gd name="p0y0" fmla="*/ 0 h 1672"/>
              <a:gd name="p0x1" fmla="*/ 15285 w 15525"/>
              <a:gd name="p0y1" fmla="*/ 0 h 1672"/>
              <a:gd name="p0x2" fmla="*/ 15417 w 15525"/>
              <a:gd name="p0y2" fmla="*/ 0 h 1672"/>
              <a:gd name="p0x3" fmla="*/ 15525 w 15525"/>
              <a:gd name="p0y3" fmla="*/ 107 h 1672"/>
              <a:gd name="p0x4" fmla="*/ 15525 w 15525"/>
              <a:gd name="p0y4" fmla="*/ 240 h 1672"/>
              <a:gd name="p0x5" fmla="*/ 15525 w 15525"/>
              <a:gd name="p0y5" fmla="*/ 1432 h 1672"/>
              <a:gd name="p0x6" fmla="*/ 15525 w 15525"/>
              <a:gd name="p0y6" fmla="*/ 1565 h 1672"/>
              <a:gd name="p0x7" fmla="*/ 15417 w 15525"/>
              <a:gd name="p0y7" fmla="*/ 1672 h 1672"/>
              <a:gd name="p0x8" fmla="*/ 15285 w 15525"/>
              <a:gd name="p0y8" fmla="*/ 1672 h 1672"/>
              <a:gd name="p0x9" fmla="*/ 240 w 15525"/>
              <a:gd name="p0y9" fmla="*/ 1672 h 1672"/>
              <a:gd name="p0x10" fmla="*/ 107 w 15525"/>
              <a:gd name="p0y10" fmla="*/ 1672 h 1672"/>
              <a:gd name="p0x11" fmla="*/ 0 w 15525"/>
              <a:gd name="p0y11" fmla="*/ 1565 h 1672"/>
              <a:gd name="p0x12" fmla="*/ 0 w 15525"/>
              <a:gd name="p0y12" fmla="*/ 1432 h 1672"/>
              <a:gd name="p0x13" fmla="*/ 0 w 15525"/>
              <a:gd name="p0y13" fmla="*/ 240 h 1672"/>
              <a:gd name="p0x14" fmla="*/ 0 w 15525"/>
              <a:gd name="p0y14" fmla="*/ 107 h 1672"/>
              <a:gd name="p0x15" fmla="*/ 107 w 15525"/>
              <a:gd name="p0y15" fmla="*/ 0 h 1672"/>
              <a:gd name="p0x16" fmla="*/ 240 w 15525"/>
              <a:gd name="p0y16" fmla="*/ 0 h 16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0196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3"/>
            </p:custDataLst>
          </p:nvPr>
        </p:nvSpPr>
        <p:spPr>
          <a:xfrm>
            <a:off x="1952625" y="498475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34"/>
            </p:custDataLst>
          </p:nvPr>
        </p:nvSpPr>
        <p:spPr>
          <a:xfrm>
            <a:off x="2105025" y="4908550"/>
            <a:ext cx="856615" cy="228600"/>
          </a:xfrm>
          <a:custGeom>
            <a:avLst/>
            <a:gdLst>
              <a:gd name="sw" fmla="*/ 1 w 1349"/>
              <a:gd name="sh" fmla="*/ 1 h 360"/>
              <a:gd name="mins" fmla="min sw sh"/>
              <a:gd name="dsw" fmla="+- 0 sw mins"/>
              <a:gd name="dsh" fmla="+- 0 sh mins"/>
              <a:gd name="p0x0" fmla="*/ 180 w 1349"/>
              <a:gd name="p0y0" fmla="*/ 0 h 360"/>
              <a:gd name="p0x1" fmla="*/ 1169 w 1349"/>
              <a:gd name="p0y1" fmla="*/ 0 h 360"/>
              <a:gd name="p0x2" fmla="*/ 1269 w 1349"/>
              <a:gd name="p0y2" fmla="*/ 0 h 360"/>
              <a:gd name="p0x3" fmla="*/ 1349 w 1349"/>
              <a:gd name="p0y3" fmla="*/ 80 h 360"/>
              <a:gd name="p0x4" fmla="*/ 1349 w 1349"/>
              <a:gd name="p0y4" fmla="*/ 180 h 360"/>
              <a:gd name="p0x5" fmla="*/ 1349 w 1349"/>
              <a:gd name="p0y5" fmla="*/ 279 h 360"/>
              <a:gd name="p0x6" fmla="*/ 1269 w 1349"/>
              <a:gd name="p0y6" fmla="*/ 360 h 360"/>
              <a:gd name="p0x7" fmla="*/ 1169 w 1349"/>
              <a:gd name="p0y7" fmla="*/ 360 h 360"/>
              <a:gd name="p0x8" fmla="*/ 180 w 1349"/>
              <a:gd name="p0y8" fmla="*/ 360 h 360"/>
              <a:gd name="p0x9" fmla="*/ 80 w 1349"/>
              <a:gd name="p0y9" fmla="*/ 360 h 360"/>
              <a:gd name="p0x10" fmla="*/ 0 w 1349"/>
              <a:gd name="p0y10" fmla="*/ 279 h 360"/>
              <a:gd name="p0x11" fmla="*/ 0 w 1349"/>
              <a:gd name="p0y11" fmla="*/ 180 h 360"/>
              <a:gd name="p0x12" fmla="*/ 0 w 1349"/>
              <a:gd name="p0y12" fmla="*/ 80 h 360"/>
              <a:gd name="p0x13" fmla="*/ 80 w 1349"/>
              <a:gd name="p0y13" fmla="*/ 0 h 360"/>
              <a:gd name="p0x14" fmla="*/ 180 w 1349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2181225" y="4919205"/>
            <a:ext cx="857098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200" b="1">
                <a:solidFill>
                  <a:schemeClr val="accent1">
                    <a:lumMod val="51163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用户</a:t>
            </a:r>
            <a:r>
              <a:rPr lang="en-US" altLang="zh-CN" sz="1200" b="1">
                <a:solidFill>
                  <a:schemeClr val="accent1">
                    <a:lumMod val="51163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+</a:t>
            </a:r>
            <a:r>
              <a:rPr lang="zh-CN" altLang="en-US" sz="1200" b="1">
                <a:solidFill>
                  <a:schemeClr val="accent1">
                    <a:lumMod val="51163"/>
                  </a:schemeClr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运营</a:t>
            </a:r>
            <a:endParaRPr lang="zh-CN" altLang="en-US" sz="1200" b="1">
              <a:solidFill>
                <a:schemeClr val="accent1">
                  <a:lumMod val="51163"/>
                </a:schemeClr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6"/>
            </p:custDataLst>
          </p:nvPr>
        </p:nvSpPr>
        <p:spPr>
          <a:xfrm>
            <a:off x="3038323" y="4864913"/>
            <a:ext cx="3657829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</a:rPr>
              <a:t>记录</a:t>
            </a:r>
            <a:r>
              <a:rPr b="1">
                <a:solidFill>
                  <a:schemeClr val="tx2"/>
                </a:solidFill>
                <a:latin typeface="MiSans Demibold" panose="00000700000000000000" charset="-122"/>
                <a:ea typeface="MiSans Demibold" panose="00000700000000000000" charset="-122"/>
              </a:rPr>
              <a:t>点赞点踩</a:t>
            </a:r>
            <a:r>
              <a:rPr b="1">
                <a:solidFill>
                  <a:srgbClr val="1B3A5C"/>
                </a:solidFill>
                <a:latin typeface="MiSans Demibold" panose="00000700000000000000" charset="-122"/>
                <a:ea typeface="MiSans Demibold" panose="00000700000000000000" charset="-122"/>
              </a:rPr>
              <a:t>、追问、转人工原因</a:t>
            </a:r>
            <a:endParaRPr b="1">
              <a:solidFill>
                <a:srgbClr val="1B3A5C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7"/>
            </p:custDataLst>
          </p:nvPr>
        </p:nvSpPr>
        <p:spPr>
          <a:xfrm>
            <a:off x="1952625" y="5226863"/>
            <a:ext cx="20034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 b="1" spc="63">
                <a:solidFill>
                  <a:schemeClr val="tx2"/>
                </a:solidFill>
                <a:cs typeface="+mn-lt"/>
              </a:rPr>
              <a:t>用户感知</a:t>
            </a:r>
            <a:r>
              <a:rPr lang="zh-CN" sz="1350">
                <a:solidFill>
                  <a:srgbClr val="4A6B8A"/>
                </a:solidFill>
                <a:cs typeface="+mn-lt"/>
              </a:rPr>
              <a:t>可表达有用</a:t>
            </a:r>
            <a:r>
              <a:rPr lang="en-US" altLang="zh-CN" sz="1350">
                <a:solidFill>
                  <a:srgbClr val="4A6B8A"/>
                </a:solidFill>
                <a:cs typeface="+mn-lt"/>
              </a:rPr>
              <a:t>/</a:t>
            </a:r>
            <a:r>
              <a:rPr lang="zh-CN" altLang="en-US" sz="1350">
                <a:solidFill>
                  <a:srgbClr val="4A6B8A"/>
                </a:solidFill>
                <a:cs typeface="+mn-lt"/>
              </a:rPr>
              <a:t>没用</a:t>
            </a:r>
            <a:endParaRPr lang="zh-CN" altLang="en-US"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40" name="任意多边形 39"/>
          <p:cNvSpPr/>
          <p:nvPr>
            <p:custDataLst>
              <p:tags r:id="rId38"/>
            </p:custDataLst>
          </p:nvPr>
        </p:nvSpPr>
        <p:spPr>
          <a:xfrm>
            <a:off x="571500" y="5886450"/>
            <a:ext cx="11049000" cy="590550"/>
          </a:xfrm>
          <a:custGeom>
            <a:avLst/>
            <a:gdLst>
              <a:gd name="sw" fmla="*/ 1 w 17400"/>
              <a:gd name="sh" fmla="*/ 1 h 930"/>
              <a:gd name="mins" fmla="min sw sh"/>
              <a:gd name="dsw" fmla="+- 0 sw mins"/>
              <a:gd name="dsh" fmla="+- 0 sh mins"/>
              <a:gd name="p0x0" fmla="*/ 240 w 17400"/>
              <a:gd name="p0y0" fmla="*/ 0 h 930"/>
              <a:gd name="p0x1" fmla="*/ 17160 w 17400"/>
              <a:gd name="p0y1" fmla="*/ 0 h 930"/>
              <a:gd name="p0x2" fmla="*/ 17292 w 17400"/>
              <a:gd name="p0y2" fmla="*/ 0 h 930"/>
              <a:gd name="p0x3" fmla="*/ 17400 w 17400"/>
              <a:gd name="p0y3" fmla="*/ 107 h 930"/>
              <a:gd name="p0x4" fmla="*/ 17400 w 17400"/>
              <a:gd name="p0y4" fmla="*/ 240 h 930"/>
              <a:gd name="p0x5" fmla="*/ 17400 w 17400"/>
              <a:gd name="p0y5" fmla="*/ 690 h 930"/>
              <a:gd name="p0x6" fmla="*/ 17400 w 17400"/>
              <a:gd name="p0y6" fmla="*/ 822 h 930"/>
              <a:gd name="p0x7" fmla="*/ 17292 w 17400"/>
              <a:gd name="p0y7" fmla="*/ 930 h 930"/>
              <a:gd name="p0x8" fmla="*/ 17160 w 17400"/>
              <a:gd name="p0y8" fmla="*/ 930 h 930"/>
              <a:gd name="p0x9" fmla="*/ 240 w 17400"/>
              <a:gd name="p0y9" fmla="*/ 930 h 930"/>
              <a:gd name="p0x10" fmla="*/ 107 w 17400"/>
              <a:gd name="p0y10" fmla="*/ 930 h 930"/>
              <a:gd name="p0x11" fmla="*/ 0 w 17400"/>
              <a:gd name="p0y11" fmla="*/ 822 h 930"/>
              <a:gd name="p0x12" fmla="*/ 0 w 17400"/>
              <a:gd name="p0y12" fmla="*/ 690 h 930"/>
              <a:gd name="p0x13" fmla="*/ 0 w 17400"/>
              <a:gd name="p0y13" fmla="*/ 240 h 930"/>
              <a:gd name="p0x14" fmla="*/ 0 w 17400"/>
              <a:gd name="p0y14" fmla="*/ 107 h 930"/>
              <a:gd name="p0x15" fmla="*/ 107 w 17400"/>
              <a:gd name="p0y15" fmla="*/ 0 h 930"/>
              <a:gd name="p0x16" fmla="*/ 240 w 17400"/>
              <a:gd name="p0y16" fmla="*/ 0 h 9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9"/>
            </p:custDataLst>
          </p:nvPr>
        </p:nvSpPr>
        <p:spPr>
          <a:xfrm>
            <a:off x="762000" y="6023610"/>
            <a:ext cx="6922894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cs typeface="+mn-lt"/>
              </a:rPr>
              <a:t>协作设计核心：</a:t>
            </a:r>
            <a:r>
              <a:rPr lang="en-US" b="1">
                <a:solidFill>
                  <a:srgbClr val="0A1E33"/>
                </a:solidFill>
                <a:cs typeface="+mn-lt"/>
              </a:rPr>
              <a:t>AI </a:t>
            </a:r>
            <a:r>
              <a:rPr lang="zh-CN" altLang="en-US" b="1">
                <a:solidFill>
                  <a:srgbClr val="0A1E33"/>
                </a:solidFill>
                <a:cs typeface="+mn-lt"/>
              </a:rPr>
              <a:t>先行承接，人做兜底与确认</a:t>
            </a:r>
            <a:r>
              <a:rPr>
                <a:solidFill>
                  <a:srgbClr val="FFFFFF"/>
                </a:solidFill>
                <a:cs typeface="+mn-lt"/>
              </a:rPr>
              <a:t>，四阶段无缝切换</a:t>
            </a:r>
            <a:endParaRPr>
              <a:solidFill>
                <a:srgbClr val="FFFFFF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置信度分流三路径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81025" y="1114425"/>
          <a:ext cx="11039474" cy="4581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725"/>
                <a:gridCol w="1708099"/>
                <a:gridCol w="3842223"/>
                <a:gridCol w="3571427"/>
              </a:tblGrid>
              <a:tr h="527669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路径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触发条件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cs typeface="+mn-lt"/>
                        </a:rPr>
                        <a:t>C </a:t>
                      </a:r>
                      <a:r>
                        <a:rPr lang="zh-CN" sz="1800" b="1">
                          <a:solidFill>
                            <a:srgbClr val="FFFFFF"/>
                          </a:solidFill>
                          <a:cs typeface="+mn-lt"/>
                        </a:rPr>
                        <a:t>端表现</a:t>
                      </a:r>
                      <a:endParaRPr lang="zh-CN"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800" b="1">
                          <a:solidFill>
                            <a:srgbClr val="FFFFFF"/>
                          </a:solidFill>
                          <a:cs typeface="+mn-lt"/>
                        </a:rPr>
                        <a:t>B </a:t>
                      </a:r>
                      <a:r>
                        <a:rPr lang="zh-CN" sz="1800" b="1">
                          <a:solidFill>
                            <a:srgbClr val="FFFFFF"/>
                          </a:solidFill>
                          <a:cs typeface="+mn-lt"/>
                        </a:rPr>
                        <a:t>端表现</a:t>
                      </a:r>
                      <a:endParaRPr lang="zh-CN"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351283"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rgbClr val="1B3A5C"/>
                          </a:solidFill>
                          <a:cs typeface="+mn-lt"/>
                        </a:rPr>
                        <a:t>Case A </a:t>
                      </a:r>
                      <a:r>
                        <a:rPr lang="zh-CN" sz="1500" b="1">
                          <a:solidFill>
                            <a:srgbClr val="1B3A5C"/>
                          </a:solidFill>
                          <a:cs typeface="+mn-lt"/>
                        </a:rPr>
                        <a:t>自动回复</a:t>
                      </a:r>
                      <a:endParaRPr lang="zh-CN"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置信度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≥ 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0.85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直接回复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+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来源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+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点踩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+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转人工入口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记「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AI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已回复」，可查置信度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  <a:tr h="1351283"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rgbClr val="1B3A5C"/>
                          </a:solidFill>
                          <a:cs typeface="+mn-lt"/>
                        </a:rPr>
                        <a:t>Case B </a:t>
                      </a:r>
                      <a:r>
                        <a:rPr lang="zh-CN" sz="1500" b="1">
                          <a:solidFill>
                            <a:srgbClr val="1B3A5C"/>
                          </a:solidFill>
                          <a:cs typeface="+mn-lt"/>
                        </a:rPr>
                        <a:t>人工审核</a:t>
                      </a:r>
                      <a:endParaRPr lang="zh-CN"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0.6 - 0.85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先「正在核实」，确认后出正式回复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待审核队列，可确认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/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修改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/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拒绝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  <a:tr h="1351283"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rgbClr val="1B3A5C"/>
                          </a:solidFill>
                          <a:cs typeface="+mn-lt"/>
                        </a:rPr>
                        <a:t>Case C </a:t>
                      </a:r>
                      <a:r>
                        <a:rPr lang="zh-CN" sz="1500" b="1">
                          <a:solidFill>
                            <a:srgbClr val="1B3A5C"/>
                          </a:solidFill>
                          <a:cs typeface="+mn-lt"/>
                        </a:rPr>
                        <a:t>转人工</a:t>
                      </a:r>
                      <a:endParaRPr lang="zh-CN"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&lt; 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0.6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提示转人工，展示等待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+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问题摘要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人工队列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+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低置信原因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+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建议动作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581025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240 w 17400"/>
              <a:gd name="p0y0" fmla="*/ 0 h 1050"/>
              <a:gd name="p0x1" fmla="*/ 17160 w 17400"/>
              <a:gd name="p0y1" fmla="*/ 0 h 1050"/>
              <a:gd name="p0x2" fmla="*/ 17292 w 17400"/>
              <a:gd name="p0y2" fmla="*/ 0 h 1050"/>
              <a:gd name="p0x3" fmla="*/ 17400 w 17400"/>
              <a:gd name="p0y3" fmla="*/ 107 h 1050"/>
              <a:gd name="p0x4" fmla="*/ 17400 w 17400"/>
              <a:gd name="p0y4" fmla="*/ 240 h 1050"/>
              <a:gd name="p0x5" fmla="*/ 17400 w 17400"/>
              <a:gd name="p0y5" fmla="*/ 810 h 1050"/>
              <a:gd name="p0x6" fmla="*/ 17400 w 17400"/>
              <a:gd name="p0y6" fmla="*/ 942 h 1050"/>
              <a:gd name="p0x7" fmla="*/ 17292 w 17400"/>
              <a:gd name="p0y7" fmla="*/ 1050 h 1050"/>
              <a:gd name="p0x8" fmla="*/ 17160 w 17400"/>
              <a:gd name="p0y8" fmla="*/ 1050 h 1050"/>
              <a:gd name="p0x9" fmla="*/ 240 w 17400"/>
              <a:gd name="p0y9" fmla="*/ 1050 h 1050"/>
              <a:gd name="p0x10" fmla="*/ 107 w 17400"/>
              <a:gd name="p0y10" fmla="*/ 1050 h 1050"/>
              <a:gd name="p0x11" fmla="*/ 0 w 17400"/>
              <a:gd name="p0y11" fmla="*/ 942 h 1050"/>
              <a:gd name="p0x12" fmla="*/ 0 w 17400"/>
              <a:gd name="p0y12" fmla="*/ 810 h 1050"/>
              <a:gd name="p0x13" fmla="*/ 0 w 17400"/>
              <a:gd name="p0y13" fmla="*/ 240 h 1050"/>
              <a:gd name="p0x14" fmla="*/ 0 w 17400"/>
              <a:gd name="p0y14" fmla="*/ 107 h 1050"/>
              <a:gd name="p0x15" fmla="*/ 107 w 17400"/>
              <a:gd name="p0y15" fmla="*/ 0 h 1050"/>
              <a:gd name="p0x16" fmla="*/ 24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62000" y="5985510"/>
            <a:ext cx="9464135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FFFFFF"/>
                </a:solidFill>
                <a:cs typeface="+mn-lt"/>
              </a:rPr>
              <a:t>置信度只做</a:t>
            </a:r>
            <a:r>
              <a:rPr lang="en-US" altLang="zh-CN">
                <a:solidFill>
                  <a:srgbClr val="FFFFFF"/>
                </a:solidFill>
                <a:cs typeface="+mn-lt"/>
              </a:rPr>
              <a:t> </a:t>
            </a:r>
            <a:r>
              <a:rPr b="1">
                <a:solidFill>
                  <a:srgbClr val="0A1E33"/>
                </a:solidFill>
                <a:cs typeface="+mn-lt"/>
              </a:rPr>
              <a:t>内部路由信号</a:t>
            </a:r>
            <a:r>
              <a:rPr>
                <a:solidFill>
                  <a:srgbClr val="FFFFFF"/>
                </a:solidFill>
                <a:cs typeface="+mn-lt"/>
              </a:rPr>
              <a:t>，用户端不展示数字，只感知「</a:t>
            </a:r>
            <a:r>
              <a:rPr lang="zh-CN" b="1">
                <a:solidFill>
                  <a:srgbClr val="0A1E33"/>
                </a:solidFill>
                <a:cs typeface="+mn-lt"/>
              </a:rPr>
              <a:t>正常回复</a:t>
            </a:r>
            <a:r>
              <a:rPr lang="en-US" altLang="zh-CN" b="1">
                <a:solidFill>
                  <a:srgbClr val="0A1E33"/>
                </a:solidFill>
                <a:cs typeface="+mn-lt"/>
              </a:rPr>
              <a:t> / </a:t>
            </a:r>
            <a:r>
              <a:rPr lang="zh-CN" altLang="en-US" b="1">
                <a:solidFill>
                  <a:srgbClr val="0A1E33"/>
                </a:solidFill>
                <a:cs typeface="+mn-lt"/>
              </a:rPr>
              <a:t>正在核实</a:t>
            </a:r>
            <a:r>
              <a:rPr lang="en-US" altLang="zh-CN" b="1">
                <a:solidFill>
                  <a:srgbClr val="0A1E33"/>
                </a:solidFill>
                <a:cs typeface="+mn-lt"/>
              </a:rPr>
              <a:t> / </a:t>
            </a:r>
            <a:r>
              <a:rPr lang="zh-CN" altLang="en-US" b="1">
                <a:solidFill>
                  <a:srgbClr val="0A1E33"/>
                </a:solidFill>
                <a:cs typeface="+mn-lt"/>
              </a:rPr>
              <a:t>转人工</a:t>
            </a:r>
            <a:r>
              <a:rPr>
                <a:solidFill>
                  <a:srgbClr val="FFFFFF"/>
                </a:solidFill>
                <a:cs typeface="+mn-lt"/>
              </a:rPr>
              <a:t>」</a:t>
            </a:r>
            <a:endParaRPr>
              <a:solidFill>
                <a:srgbClr val="FFFFFF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四类协作异常路径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4842510" cy="5362575"/>
          </a:xfrm>
          <a:custGeom>
            <a:avLst/>
            <a:gdLst>
              <a:gd name="sw" fmla="*/ 1 w 7625"/>
              <a:gd name="sh" fmla="*/ 1 h 8445"/>
              <a:gd name="mins" fmla="min sw sh"/>
              <a:gd name="dsw" fmla="+- 0 sw mins"/>
              <a:gd name="dsh" fmla="+- 0 sh mins"/>
              <a:gd name="p0x0" fmla="*/ 360 w 7625"/>
              <a:gd name="p0y0" fmla="*/ 0 h 8445"/>
              <a:gd name="p0x1" fmla="*/ 7265 w 7625"/>
              <a:gd name="p0y1" fmla="*/ 0 h 8445"/>
              <a:gd name="p0x2" fmla="*/ 7464 w 7625"/>
              <a:gd name="p0y2" fmla="*/ 0 h 8445"/>
              <a:gd name="p0x3" fmla="*/ 7625 w 7625"/>
              <a:gd name="p0y3" fmla="*/ 161 h 8445"/>
              <a:gd name="p0x4" fmla="*/ 7625 w 7625"/>
              <a:gd name="p0y4" fmla="*/ 360 h 8445"/>
              <a:gd name="p0x5" fmla="*/ 7625 w 7625"/>
              <a:gd name="p0y5" fmla="*/ 8085 h 8445"/>
              <a:gd name="p0x6" fmla="*/ 7625 w 7625"/>
              <a:gd name="p0y6" fmla="*/ 8283 h 8445"/>
              <a:gd name="p0x7" fmla="*/ 7464 w 7625"/>
              <a:gd name="p0y7" fmla="*/ 8445 h 8445"/>
              <a:gd name="p0x8" fmla="*/ 7265 w 7625"/>
              <a:gd name="p0y8" fmla="*/ 8445 h 8445"/>
              <a:gd name="p0x9" fmla="*/ 360 w 7625"/>
              <a:gd name="p0y9" fmla="*/ 8445 h 8445"/>
              <a:gd name="p0x10" fmla="*/ 161 w 7625"/>
              <a:gd name="p0y10" fmla="*/ 8445 h 8445"/>
              <a:gd name="p0x11" fmla="*/ 0 w 7625"/>
              <a:gd name="p0y11" fmla="*/ 8283 h 8445"/>
              <a:gd name="p0x12" fmla="*/ 0 w 7625"/>
              <a:gd name="p0y12" fmla="*/ 8085 h 8445"/>
              <a:gd name="p0x13" fmla="*/ 0 w 7625"/>
              <a:gd name="p0y13" fmla="*/ 360 h 8445"/>
              <a:gd name="p0x14" fmla="*/ 0 w 7625"/>
              <a:gd name="p0y14" fmla="*/ 161 h 8445"/>
              <a:gd name="p0x15" fmla="*/ 161 w 7625"/>
              <a:gd name="p0y15" fmla="*/ 0 h 8445"/>
              <a:gd name="p0x16" fmla="*/ 360 w 76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1" name="组合 70"/>
          <p:cNvGrpSpPr/>
          <p:nvPr/>
        </p:nvGrpSpPr>
        <p:grpSpPr>
          <a:xfrm>
            <a:off x="771525" y="1304925"/>
            <a:ext cx="4451350" cy="466090"/>
            <a:chOff x="1215" y="2055"/>
            <a:chExt cx="7010" cy="734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215" y="2055"/>
              <a:ext cx="7010" cy="735"/>
            </a:xfrm>
            <a:custGeom>
              <a:avLst/>
              <a:gdLst>
                <a:gd name="sw" fmla="*/ 1 w 7010"/>
                <a:gd name="sh" fmla="*/ 1 h 735"/>
                <a:gd name="mins" fmla="min sw sh"/>
                <a:gd name="dsw" fmla="+- 0 sw mins"/>
                <a:gd name="dsh" fmla="+- 0 sh mins"/>
                <a:gd name="p0x0" fmla="*/ 0 w 7010"/>
                <a:gd name="p0y0" fmla="*/ 0 h 735"/>
                <a:gd name="p0x1" fmla="*/ 7010 w 7010"/>
                <a:gd name="p0y1" fmla="*/ 0 h 735"/>
                <a:gd name="p0x2" fmla="*/ 7010 w 7010"/>
                <a:gd name="p0y2" fmla="*/ 735 h 735"/>
                <a:gd name="p0x3" fmla="*/ 0 w 7010"/>
                <a:gd name="p0y3" fmla="*/ 735 h 735"/>
                <a:gd name="p0x4" fmla="*/ 0 w 7010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1215" y="2775"/>
              <a:ext cx="7010" cy="15"/>
            </a:xfrm>
            <a:custGeom>
              <a:avLst/>
              <a:gdLst>
                <a:gd name="sw" fmla="*/ 1 w 7010"/>
                <a:gd name="sh" fmla="*/ 1 h 15"/>
                <a:gd name="mins" fmla="min sw sh"/>
                <a:gd name="dsw" fmla="+- 0 sw mins"/>
                <a:gd name="dsh" fmla="+- 0 sh mins"/>
                <a:gd name="p0x0" fmla="*/ 7010 w 7010"/>
                <a:gd name="p0y0" fmla="*/ 15 h 15"/>
                <a:gd name="p0x1" fmla="*/ 0 w 7010"/>
                <a:gd name="p0y1" fmla="*/ 15 h 15"/>
                <a:gd name="p0x2" fmla="*/ 0 w 7010"/>
                <a:gd name="p0y2" fmla="*/ 0 h 15"/>
                <a:gd name="p0x3" fmla="*/ 7010 w 7010"/>
                <a:gd name="p0y3" fmla="*/ 0 h 15"/>
                <a:gd name="p0x4" fmla="*/ 7010 w 701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775970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40 w 525"/>
              <a:gd name="p0y0" fmla="*/ 0 h 525"/>
              <a:gd name="p0x1" fmla="*/ 285 w 525"/>
              <a:gd name="p0y1" fmla="*/ 0 h 525"/>
              <a:gd name="p0x2" fmla="*/ 417 w 525"/>
              <a:gd name="p0y2" fmla="*/ 0 h 525"/>
              <a:gd name="p0x3" fmla="*/ 525 w 525"/>
              <a:gd name="p0y3" fmla="*/ 107 h 525"/>
              <a:gd name="p0x4" fmla="*/ 525 w 525"/>
              <a:gd name="p0y4" fmla="*/ 240 h 525"/>
              <a:gd name="p0x5" fmla="*/ 525 w 525"/>
              <a:gd name="p0y5" fmla="*/ 285 h 525"/>
              <a:gd name="p0x6" fmla="*/ 525 w 525"/>
              <a:gd name="p0y6" fmla="*/ 417 h 525"/>
              <a:gd name="p0x7" fmla="*/ 417 w 525"/>
              <a:gd name="p0y7" fmla="*/ 525 h 525"/>
              <a:gd name="p0x8" fmla="*/ 285 w 525"/>
              <a:gd name="p0y8" fmla="*/ 525 h 525"/>
              <a:gd name="p0x9" fmla="*/ 240 w 525"/>
              <a:gd name="p0y9" fmla="*/ 525 h 525"/>
              <a:gd name="p0x10" fmla="*/ 107 w 525"/>
              <a:gd name="p0y10" fmla="*/ 525 h 525"/>
              <a:gd name="p0x11" fmla="*/ 0 w 525"/>
              <a:gd name="p0y11" fmla="*/ 417 h 525"/>
              <a:gd name="p0x12" fmla="*/ 0 w 525"/>
              <a:gd name="p0y12" fmla="*/ 285 h 525"/>
              <a:gd name="p0x13" fmla="*/ 0 w 525"/>
              <a:gd name="p0y13" fmla="*/ 240 h 525"/>
              <a:gd name="p0x14" fmla="*/ 0 w 525"/>
              <a:gd name="p0y14" fmla="*/ 107 h 525"/>
              <a:gd name="p0x15" fmla="*/ 107 w 525"/>
              <a:gd name="p0y15" fmla="*/ 0 h 525"/>
              <a:gd name="p0x16" fmla="*/ 24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alpha val="3803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381" t="-9298" r="-2381" b="-9298"/>
          <a:stretch>
            <a:fillRect/>
          </a:stretch>
        </p:blipFill>
        <p:spPr>
          <a:xfrm>
            <a:off x="838200" y="1366520"/>
            <a:ext cx="209550" cy="2146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228725" y="1293495"/>
            <a:ext cx="333576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1B3A5C"/>
                </a:solidFill>
                <a:cs typeface="+mn-lt"/>
              </a:rPr>
              <a:t>异常路径</a:t>
            </a:r>
            <a:r>
              <a:rPr lang="en-US" altLang="zh-CN" sz="2100" b="1" spc="42">
                <a:solidFill>
                  <a:srgbClr val="1B3A5C"/>
                </a:solidFill>
                <a:cs typeface="+mn-lt"/>
              </a:rPr>
              <a:t> 01–02</a:t>
            </a:r>
            <a:endParaRPr lang="en-US" altLang="zh-CN"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12" name="任意多边形 11"/>
          <p:cNvSpPr/>
          <p:nvPr>
            <p:custDataLst>
              <p:tags r:id="rId10"/>
            </p:custDataLst>
          </p:nvPr>
        </p:nvSpPr>
        <p:spPr>
          <a:xfrm>
            <a:off x="4683125" y="1333500"/>
            <a:ext cx="535305" cy="285750"/>
          </a:xfrm>
          <a:custGeom>
            <a:avLst/>
            <a:gdLst>
              <a:gd name="sw" fmla="*/ 1 w 842"/>
              <a:gd name="sh" fmla="*/ 1 h 450"/>
              <a:gd name="mins" fmla="min sw sh"/>
              <a:gd name="dsw" fmla="+- 0 sw mins"/>
              <a:gd name="dsh" fmla="+- 0 sh mins"/>
              <a:gd name="p0x0" fmla="*/ 225 w 842"/>
              <a:gd name="p0y0" fmla="*/ 0 h 450"/>
              <a:gd name="p0x1" fmla="*/ 617 w 842"/>
              <a:gd name="p0y1" fmla="*/ 0 h 450"/>
              <a:gd name="p0x2" fmla="*/ 742 w 842"/>
              <a:gd name="p0y2" fmla="*/ 0 h 450"/>
              <a:gd name="p0x3" fmla="*/ 842 w 842"/>
              <a:gd name="p0y3" fmla="*/ 100 h 450"/>
              <a:gd name="p0x4" fmla="*/ 842 w 842"/>
              <a:gd name="p0y4" fmla="*/ 225 h 450"/>
              <a:gd name="p0x5" fmla="*/ 842 w 842"/>
              <a:gd name="p0y5" fmla="*/ 349 h 450"/>
              <a:gd name="p0x6" fmla="*/ 742 w 842"/>
              <a:gd name="p0y6" fmla="*/ 450 h 450"/>
              <a:gd name="p0x7" fmla="*/ 617 w 842"/>
              <a:gd name="p0y7" fmla="*/ 450 h 450"/>
              <a:gd name="p0x8" fmla="*/ 225 w 842"/>
              <a:gd name="p0y8" fmla="*/ 450 h 450"/>
              <a:gd name="p0x9" fmla="*/ 100 w 842"/>
              <a:gd name="p0y9" fmla="*/ 450 h 450"/>
              <a:gd name="p0x10" fmla="*/ 0 w 842"/>
              <a:gd name="p0y10" fmla="*/ 349 h 450"/>
              <a:gd name="p0x11" fmla="*/ 0 w 842"/>
              <a:gd name="p0y11" fmla="*/ 225 h 450"/>
              <a:gd name="p0x12" fmla="*/ 0 w 842"/>
              <a:gd name="p0y12" fmla="*/ 100 h 450"/>
              <a:gd name="p0x13" fmla="*/ 100 w 842"/>
              <a:gd name="p0y13" fmla="*/ 0 h 450"/>
              <a:gd name="p0x14" fmla="*/ 225 w 842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alpha val="3803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4802610" y="1376363"/>
            <a:ext cx="4494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chemeClr val="accent1">
                    <a:lumMod val="51163"/>
                  </a:schemeClr>
                </a:solidFill>
                <a:cs typeface="+mn-lt"/>
              </a:rPr>
              <a:t>2 </a:t>
            </a:r>
            <a:r>
              <a:rPr lang="zh-CN" sz="1200" b="1">
                <a:solidFill>
                  <a:schemeClr val="accent1">
                    <a:lumMod val="51163"/>
                  </a:schemeClr>
                </a:solidFill>
                <a:cs typeface="+mn-lt"/>
              </a:rPr>
              <a:t>类</a:t>
            </a:r>
            <a:endParaRPr lang="zh-CN" sz="1200" b="1">
              <a:solidFill>
                <a:schemeClr val="accent1">
                  <a:lumMod val="51163"/>
                </a:schemeClr>
              </a:solidFill>
              <a:cs typeface="+mn-lt"/>
            </a:endParaRPr>
          </a:p>
        </p:txBody>
      </p:sp>
      <p:grpSp>
        <p:nvGrpSpPr>
          <p:cNvPr id="72" name="组合 71"/>
          <p:cNvGrpSpPr/>
          <p:nvPr/>
        </p:nvGrpSpPr>
        <p:grpSpPr>
          <a:xfrm>
            <a:off x="771525" y="1885950"/>
            <a:ext cx="4451350" cy="2137410"/>
            <a:chOff x="1215" y="2970"/>
            <a:chExt cx="7010" cy="3366"/>
          </a:xfrm>
        </p:grpSpPr>
        <p:sp>
          <p:nvSpPr>
            <p:cNvPr id="14" name="任意多边形 13"/>
            <p:cNvSpPr/>
            <p:nvPr>
              <p:custDataLst>
                <p:tags r:id="rId12"/>
              </p:custDataLst>
            </p:nvPr>
          </p:nvSpPr>
          <p:spPr>
            <a:xfrm>
              <a:off x="1215" y="2970"/>
              <a:ext cx="7010" cy="3367"/>
            </a:xfrm>
            <a:custGeom>
              <a:avLst/>
              <a:gdLst>
                <a:gd name="sw" fmla="*/ 1 w 7010"/>
                <a:gd name="sh" fmla="*/ 1 h 3367"/>
                <a:gd name="mins" fmla="min sw sh"/>
                <a:gd name="dsw" fmla="+- 0 sw mins"/>
                <a:gd name="dsh" fmla="+- 0 sh mins"/>
                <a:gd name="p0x0" fmla="*/ 240 w 7010"/>
                <a:gd name="p0y0" fmla="*/ 0 h 3367"/>
                <a:gd name="p0x1" fmla="*/ 6770 w 7010"/>
                <a:gd name="p0y1" fmla="*/ 0 h 3367"/>
                <a:gd name="p0x2" fmla="*/ 6903 w 7010"/>
                <a:gd name="p0y2" fmla="*/ 0 h 3367"/>
                <a:gd name="p0x3" fmla="*/ 7010 w 7010"/>
                <a:gd name="p0y3" fmla="*/ 107 h 3367"/>
                <a:gd name="p0x4" fmla="*/ 7010 w 7010"/>
                <a:gd name="p0y4" fmla="*/ 240 h 3367"/>
                <a:gd name="p0x5" fmla="*/ 7010 w 7010"/>
                <a:gd name="p0y5" fmla="*/ 3127 h 3367"/>
                <a:gd name="p0x6" fmla="*/ 7010 w 7010"/>
                <a:gd name="p0y6" fmla="*/ 3260 h 3367"/>
                <a:gd name="p0x7" fmla="*/ 6903 w 7010"/>
                <a:gd name="p0y7" fmla="*/ 3367 h 3367"/>
                <a:gd name="p0x8" fmla="*/ 6770 w 7010"/>
                <a:gd name="p0y8" fmla="*/ 3367 h 3367"/>
                <a:gd name="p0x9" fmla="*/ 240 w 7010"/>
                <a:gd name="p0y9" fmla="*/ 3367 h 3367"/>
                <a:gd name="p0x10" fmla="*/ 107 w 7010"/>
                <a:gd name="p0y10" fmla="*/ 3367 h 3367"/>
                <a:gd name="p0x11" fmla="*/ 0 w 7010"/>
                <a:gd name="p0y11" fmla="*/ 3260 h 3367"/>
                <a:gd name="p0x12" fmla="*/ 0 w 7010"/>
                <a:gd name="p0y12" fmla="*/ 3127 h 3367"/>
                <a:gd name="p0x13" fmla="*/ 0 w 7010"/>
                <a:gd name="p0y13" fmla="*/ 240 h 3367"/>
                <a:gd name="p0x14" fmla="*/ 0 w 7010"/>
                <a:gd name="p0y14" fmla="*/ 107 h 3367"/>
                <a:gd name="p0x15" fmla="*/ 107 w 7010"/>
                <a:gd name="p0y15" fmla="*/ 0 h 3367"/>
                <a:gd name="p0x16" fmla="*/ 240 w 7010"/>
                <a:gd name="p0y16" fmla="*/ 0 h 336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任意多边形 14"/>
            <p:cNvSpPr/>
            <p:nvPr>
              <p:custDataLst>
                <p:tags r:id="rId13"/>
              </p:custDataLst>
            </p:nvPr>
          </p:nvSpPr>
          <p:spPr>
            <a:xfrm>
              <a:off x="1363" y="2970"/>
              <a:ext cx="6792" cy="80"/>
            </a:xfrm>
            <a:custGeom>
              <a:avLst/>
              <a:gdLst>
                <a:gd name="sw" fmla="*/ 1 w 6792"/>
                <a:gd name="sh" fmla="*/ 1 h 80"/>
                <a:gd name="mins" fmla="min sw sh"/>
                <a:gd name="dsw" fmla="+- 0 sw mins"/>
                <a:gd name="dsh" fmla="+- 0 sh mins"/>
                <a:gd name="p0x0" fmla="*/ 91 w 6792"/>
                <a:gd name="p0y0" fmla="*/ 0 h 80"/>
                <a:gd name="p0x1" fmla="*/ 6622 w 6792"/>
                <a:gd name="p0y1" fmla="*/ 0 h 80"/>
                <a:gd name="p0x2" fmla="*/ 6689 w 6792"/>
                <a:gd name="p0y2" fmla="*/ 0 h 80"/>
                <a:gd name="p0x3" fmla="*/ 6749 w 6792"/>
                <a:gd name="p0y3" fmla="*/ 26 h 80"/>
                <a:gd name="p0x4" fmla="*/ 6792 w 6792"/>
                <a:gd name="p0y4" fmla="*/ 70 h 80"/>
                <a:gd name="p0x5" fmla="*/ 6781 w 6792"/>
                <a:gd name="p0y5" fmla="*/ 80 h 80"/>
                <a:gd name="p0x6" fmla="*/ 6741 w 6792"/>
                <a:gd name="p0y6" fmla="*/ 40 h 80"/>
                <a:gd name="p0x7" fmla="*/ 6685 w 6792"/>
                <a:gd name="p0y7" fmla="*/ 15 h 80"/>
                <a:gd name="p0x8" fmla="*/ 6622 w 6792"/>
                <a:gd name="p0y8" fmla="*/ 15 h 80"/>
                <a:gd name="p0x9" fmla="*/ 91 w 6792"/>
                <a:gd name="p0y9" fmla="*/ 15 h 80"/>
                <a:gd name="p0x10" fmla="*/ 65 w 6792"/>
                <a:gd name="p0y10" fmla="*/ 15 h 80"/>
                <a:gd name="p0x11" fmla="*/ 40 w 6792"/>
                <a:gd name="p0y11" fmla="*/ 21 h 80"/>
                <a:gd name="p0x12" fmla="*/ 17 w 6792"/>
                <a:gd name="p0y12" fmla="*/ 32 h 80"/>
                <a:gd name="p0x13" fmla="*/ 0 w 6792"/>
                <a:gd name="p0y13" fmla="*/ 18 h 80"/>
                <a:gd name="p0x14" fmla="*/ 0 w 6792"/>
                <a:gd name="p0y14" fmla="*/ 18 h 80"/>
                <a:gd name="p0x15" fmla="*/ 28 w 6792"/>
                <a:gd name="p0y15" fmla="*/ 6 h 80"/>
                <a:gd name="p0x16" fmla="*/ 59 w 6792"/>
                <a:gd name="p0y16" fmla="*/ 0 h 80"/>
                <a:gd name="p0x17" fmla="*/ 91 w 6792"/>
                <a:gd name="p0y17" fmla="*/ 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14"/>
              </p:custDataLst>
            </p:nvPr>
          </p:nvSpPr>
          <p:spPr>
            <a:xfrm>
              <a:off x="8145" y="3040"/>
              <a:ext cx="80" cy="3227"/>
            </a:xfrm>
            <a:custGeom>
              <a:avLst/>
              <a:gdLst>
                <a:gd name="sw" fmla="*/ 1 w 80"/>
                <a:gd name="sh" fmla="*/ 1 h 3226"/>
                <a:gd name="mins" fmla="min sw sh"/>
                <a:gd name="dsw" fmla="+- 0 sw mins"/>
                <a:gd name="dsh" fmla="+- 0 sh mins"/>
                <a:gd name="p0x0" fmla="*/ 80 w 80"/>
                <a:gd name="p0y0" fmla="*/ 169 h 3226"/>
                <a:gd name="p0x1" fmla="*/ 80 w 80"/>
                <a:gd name="p0y1" fmla="*/ 3057 h 3226"/>
                <a:gd name="p0x2" fmla="*/ 80 w 80"/>
                <a:gd name="p0y2" fmla="*/ 3123 h 3226"/>
                <a:gd name="p0x3" fmla="*/ 54 w 80"/>
                <a:gd name="p0y3" fmla="*/ 3183 h 3226"/>
                <a:gd name="p0x4" fmla="*/ 10 w 80"/>
                <a:gd name="p0y4" fmla="*/ 3226 h 3226"/>
                <a:gd name="p0x5" fmla="*/ 0 w 80"/>
                <a:gd name="p0y5" fmla="*/ 3216 h 3226"/>
                <a:gd name="p0x6" fmla="*/ 40 w 80"/>
                <a:gd name="p0y6" fmla="*/ 3175 h 3226"/>
                <a:gd name="p0x7" fmla="*/ 65 w 80"/>
                <a:gd name="p0y7" fmla="*/ 3119 h 3226"/>
                <a:gd name="p0x8" fmla="*/ 65 w 80"/>
                <a:gd name="p0y8" fmla="*/ 3057 h 3226"/>
                <a:gd name="p0x9" fmla="*/ 65 w 80"/>
                <a:gd name="p0y9" fmla="*/ 169 h 3226"/>
                <a:gd name="p0x10" fmla="*/ 65 w 80"/>
                <a:gd name="p0y10" fmla="*/ 107 h 3226"/>
                <a:gd name="p0x11" fmla="*/ 40 w 80"/>
                <a:gd name="p0y11" fmla="*/ 51 h 3226"/>
                <a:gd name="p0x12" fmla="*/ 0 w 80"/>
                <a:gd name="p0y12" fmla="*/ 10 h 3226"/>
                <a:gd name="p0x13" fmla="*/ 10 w 80"/>
                <a:gd name="p0y13" fmla="*/ 0 h 3226"/>
                <a:gd name="p0x14" fmla="*/ 10 w 80"/>
                <a:gd name="p0y14" fmla="*/ 0 h 3226"/>
                <a:gd name="p0x15" fmla="*/ 54 w 80"/>
                <a:gd name="p0y15" fmla="*/ 43 h 3226"/>
                <a:gd name="p0x16" fmla="*/ 80 w 80"/>
                <a:gd name="p0y16" fmla="*/ 103 h 3226"/>
                <a:gd name="p0x17" fmla="*/ 80 w 80"/>
                <a:gd name="p0y17" fmla="*/ 169 h 32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5"/>
              </p:custDataLst>
            </p:nvPr>
          </p:nvSpPr>
          <p:spPr>
            <a:xfrm>
              <a:off x="1363" y="6256"/>
              <a:ext cx="6792" cy="81"/>
            </a:xfrm>
            <a:custGeom>
              <a:avLst/>
              <a:gdLst>
                <a:gd name="sw" fmla="*/ 1 w 6792"/>
                <a:gd name="sh" fmla="*/ 1 h 80"/>
                <a:gd name="mins" fmla="min sw sh"/>
                <a:gd name="dsw" fmla="+- 0 sw mins"/>
                <a:gd name="dsh" fmla="+- 0 sh mins"/>
                <a:gd name="p0x0" fmla="*/ 6622 w 6792"/>
                <a:gd name="p0y0" fmla="*/ 80 h 80"/>
                <a:gd name="p0x1" fmla="*/ 91 w 6792"/>
                <a:gd name="p0y1" fmla="*/ 80 h 80"/>
                <a:gd name="p0x2" fmla="*/ 59 w 6792"/>
                <a:gd name="p0y2" fmla="*/ 80 h 80"/>
                <a:gd name="p0x3" fmla="*/ 28 w 6792"/>
                <a:gd name="p0y3" fmla="*/ 74 h 80"/>
                <a:gd name="p0x4" fmla="*/ 0 w 6792"/>
                <a:gd name="p0y4" fmla="*/ 62 h 80"/>
                <a:gd name="p0x5" fmla="*/ 17 w 6792"/>
                <a:gd name="p0y5" fmla="*/ 48 h 80"/>
                <a:gd name="p0x6" fmla="*/ 17 w 6792"/>
                <a:gd name="p0y6" fmla="*/ 48 h 80"/>
                <a:gd name="p0x7" fmla="*/ 40 w 6792"/>
                <a:gd name="p0y7" fmla="*/ 59 h 80"/>
                <a:gd name="p0x8" fmla="*/ 65 w 6792"/>
                <a:gd name="p0y8" fmla="*/ 65 h 80"/>
                <a:gd name="p0x9" fmla="*/ 91 w 6792"/>
                <a:gd name="p0y9" fmla="*/ 65 h 80"/>
                <a:gd name="p0x10" fmla="*/ 6622 w 6792"/>
                <a:gd name="p0y10" fmla="*/ 65 h 80"/>
                <a:gd name="p0x11" fmla="*/ 6684 w 6792"/>
                <a:gd name="p0y11" fmla="*/ 65 h 80"/>
                <a:gd name="p0x12" fmla="*/ 6741 w 6792"/>
                <a:gd name="p0y12" fmla="*/ 40 h 80"/>
                <a:gd name="p0x13" fmla="*/ 6781 w 6792"/>
                <a:gd name="p0y13" fmla="*/ 0 h 80"/>
                <a:gd name="p0x14" fmla="*/ 6792 w 6792"/>
                <a:gd name="p0y14" fmla="*/ 10 h 80"/>
                <a:gd name="p0x15" fmla="*/ 6749 w 6792"/>
                <a:gd name="p0y15" fmla="*/ 54 h 80"/>
                <a:gd name="p0x16" fmla="*/ 6689 w 6792"/>
                <a:gd name="p0y16" fmla="*/ 80 h 80"/>
                <a:gd name="p0x17" fmla="*/ 6622 w 6792"/>
                <a:gd name="p0y17" fmla="*/ 8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6"/>
              </p:custDataLst>
            </p:nvPr>
          </p:nvSpPr>
          <p:spPr>
            <a:xfrm>
              <a:off x="1215" y="2988"/>
              <a:ext cx="165" cy="3331"/>
            </a:xfrm>
            <a:custGeom>
              <a:avLst/>
              <a:gdLst>
                <a:gd name="sw" fmla="*/ 1 w 165"/>
                <a:gd name="sh" fmla="*/ 1 h 3331"/>
                <a:gd name="mins" fmla="min sw sh"/>
                <a:gd name="dsw" fmla="+- 0 sw mins"/>
                <a:gd name="dsh" fmla="+- 0 sh mins"/>
                <a:gd name="p0x0" fmla="*/ 0 w 165"/>
                <a:gd name="p0y0" fmla="*/ 3109 h 3331"/>
                <a:gd name="p0x1" fmla="*/ 0 w 165"/>
                <a:gd name="p0y1" fmla="*/ 221 h 3331"/>
                <a:gd name="p0x2" fmla="*/ 0 w 165"/>
                <a:gd name="p0y2" fmla="*/ 121 h 3331"/>
                <a:gd name="p0x3" fmla="*/ 61 w 165"/>
                <a:gd name="p0y3" fmla="*/ 36 h 3331"/>
                <a:gd name="p0x4" fmla="*/ 148 w 165"/>
                <a:gd name="p0y4" fmla="*/ 0 h 3331"/>
                <a:gd name="p0x5" fmla="*/ 165 w 165"/>
                <a:gd name="p0y5" fmla="*/ 13 h 3331"/>
                <a:gd name="p0x6" fmla="*/ 165 w 165"/>
                <a:gd name="p0y6" fmla="*/ 13 h 3331"/>
                <a:gd name="p0x7" fmla="*/ 94 w 165"/>
                <a:gd name="p0y7" fmla="*/ 47 h 3331"/>
                <a:gd name="p0x8" fmla="*/ 45 w 165"/>
                <a:gd name="p0y8" fmla="*/ 128 h 3331"/>
                <a:gd name="p0x9" fmla="*/ 45 w 165"/>
                <a:gd name="p0y9" fmla="*/ 221 h 3331"/>
                <a:gd name="p0x10" fmla="*/ 45 w 165"/>
                <a:gd name="p0y10" fmla="*/ 3109 h 3331"/>
                <a:gd name="p0x11" fmla="*/ 45 w 165"/>
                <a:gd name="p0y11" fmla="*/ 3203 h 3331"/>
                <a:gd name="p0x12" fmla="*/ 94 w 165"/>
                <a:gd name="p0y12" fmla="*/ 3283 h 3331"/>
                <a:gd name="p0x13" fmla="*/ 165 w 165"/>
                <a:gd name="p0y13" fmla="*/ 3317 h 3331"/>
                <a:gd name="p0x14" fmla="*/ 148 w 165"/>
                <a:gd name="p0y14" fmla="*/ 3330 h 3331"/>
                <a:gd name="p0x15" fmla="*/ 148 w 165"/>
                <a:gd name="p0y15" fmla="*/ 3331 h 3331"/>
                <a:gd name="p0x16" fmla="*/ 61 w 165"/>
                <a:gd name="p0y16" fmla="*/ 3294 h 3331"/>
                <a:gd name="p0x17" fmla="*/ 0 w 165"/>
                <a:gd name="p0y17" fmla="*/ 3209 h 3331"/>
                <a:gd name="p0x18" fmla="*/ 0 w 165"/>
                <a:gd name="p0y18" fmla="*/ 3109 h 333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952500" y="2425094"/>
            <a:ext cx="41090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需人工确认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952500" y="2787996"/>
            <a:ext cx="410906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B8A"/>
                </a:solidFill>
                <a:cs typeface="+mn-lt"/>
              </a:rPr>
              <a:t>赔偿、政策边界、投诉只给建议不发用户</a:t>
            </a:r>
            <a:endParaRPr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952500" y="3230880"/>
            <a:ext cx="762000" cy="228600"/>
          </a:xfrm>
          <a:custGeom>
            <a:avLst/>
            <a:gdLst>
              <a:gd name="sw" fmla="*/ 1 w 1200"/>
              <a:gd name="sh" fmla="*/ 1 h 360"/>
              <a:gd name="mins" fmla="min sw sh"/>
              <a:gd name="dsw" fmla="+- 0 sw mins"/>
              <a:gd name="dsh" fmla="+- 0 sh mins"/>
              <a:gd name="p0x0" fmla="*/ 120 w 1200"/>
              <a:gd name="p0y0" fmla="*/ 0 h 360"/>
              <a:gd name="p0x1" fmla="*/ 1080 w 1200"/>
              <a:gd name="p0y1" fmla="*/ 0 h 360"/>
              <a:gd name="p0x2" fmla="*/ 1146 w 1200"/>
              <a:gd name="p0y2" fmla="*/ 0 h 360"/>
              <a:gd name="p0x3" fmla="*/ 1200 w 1200"/>
              <a:gd name="p0y3" fmla="*/ 53 h 360"/>
              <a:gd name="p0x4" fmla="*/ 1200 w 1200"/>
              <a:gd name="p0y4" fmla="*/ 120 h 360"/>
              <a:gd name="p0x5" fmla="*/ 1200 w 1200"/>
              <a:gd name="p0y5" fmla="*/ 240 h 360"/>
              <a:gd name="p0x6" fmla="*/ 1200 w 1200"/>
              <a:gd name="p0y6" fmla="*/ 306 h 360"/>
              <a:gd name="p0x7" fmla="*/ 1146 w 1200"/>
              <a:gd name="p0y7" fmla="*/ 360 h 360"/>
              <a:gd name="p0x8" fmla="*/ 1080 w 1200"/>
              <a:gd name="p0y8" fmla="*/ 360 h 360"/>
              <a:gd name="p0x9" fmla="*/ 120 w 1200"/>
              <a:gd name="p0y9" fmla="*/ 360 h 360"/>
              <a:gd name="p0x10" fmla="*/ 53 w 1200"/>
              <a:gd name="p0y10" fmla="*/ 360 h 360"/>
              <a:gd name="p0x11" fmla="*/ 0 w 1200"/>
              <a:gd name="p0y11" fmla="*/ 306 h 360"/>
              <a:gd name="p0x12" fmla="*/ 0 w 1200"/>
              <a:gd name="p0y12" fmla="*/ 240 h 360"/>
              <a:gd name="p0x13" fmla="*/ 0 w 1200"/>
              <a:gd name="p0y13" fmla="*/ 120 h 360"/>
              <a:gd name="p0x14" fmla="*/ 0 w 1200"/>
              <a:gd name="p0y14" fmla="*/ 53 h 360"/>
              <a:gd name="p0x15" fmla="*/ 53 w 1200"/>
              <a:gd name="p0y15" fmla="*/ 0 h 360"/>
              <a:gd name="p0x16" fmla="*/ 120 w 120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1028700" y="3241834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1163"/>
                  </a:schemeClr>
                </a:solidFill>
                <a:cs typeface="+mn-lt"/>
              </a:rPr>
              <a:t>设计价值</a:t>
            </a:r>
            <a:endParaRPr sz="1200" b="1">
              <a:solidFill>
                <a:schemeClr val="accent1">
                  <a:lumMod val="51163"/>
                </a:schemeClr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1790776" y="3209477"/>
            <a:ext cx="1475927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lang="zh-CN" altLang="en-US" sz="1350">
                <a:solidFill>
                  <a:schemeClr val="tx2"/>
                </a:solidFill>
                <a:cs typeface="+mn-lt"/>
              </a:rPr>
              <a:t>避免</a:t>
            </a:r>
            <a:r>
              <a:rPr lang="en-US" altLang="zh-CN" sz="1350">
                <a:solidFill>
                  <a:schemeClr val="tx2"/>
                </a:solidFill>
                <a:cs typeface="+mn-lt"/>
              </a:rPr>
              <a:t> AI </a:t>
            </a:r>
            <a:r>
              <a:rPr sz="1350" b="1">
                <a:solidFill>
                  <a:schemeClr val="accent1"/>
                </a:solidFill>
                <a:cs typeface="+mn-lt"/>
              </a:rPr>
              <a:t>越权承诺</a:t>
            </a:r>
            <a:endParaRPr sz="1350" b="1">
              <a:solidFill>
                <a:schemeClr val="accent1"/>
              </a:solidFill>
              <a:cs typeface="+mn-lt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771525" y="4138295"/>
            <a:ext cx="4451350" cy="2138680"/>
            <a:chOff x="1215" y="6517"/>
            <a:chExt cx="7010" cy="3368"/>
          </a:xfrm>
        </p:grpSpPr>
        <p:sp>
          <p:nvSpPr>
            <p:cNvPr id="25" name="任意多边形 24"/>
            <p:cNvSpPr/>
            <p:nvPr>
              <p:custDataLst>
                <p:tags r:id="rId22"/>
              </p:custDataLst>
            </p:nvPr>
          </p:nvSpPr>
          <p:spPr>
            <a:xfrm>
              <a:off x="1215" y="6517"/>
              <a:ext cx="7010" cy="3368"/>
            </a:xfrm>
            <a:custGeom>
              <a:avLst/>
              <a:gdLst>
                <a:gd name="sw" fmla="*/ 1 w 7010"/>
                <a:gd name="sh" fmla="*/ 1 h 3367"/>
                <a:gd name="mins" fmla="min sw sh"/>
                <a:gd name="dsw" fmla="+- 0 sw mins"/>
                <a:gd name="dsh" fmla="+- 0 sh mins"/>
                <a:gd name="p0x0" fmla="*/ 240 w 7010"/>
                <a:gd name="p0y0" fmla="*/ 0 h 3367"/>
                <a:gd name="p0x1" fmla="*/ 6770 w 7010"/>
                <a:gd name="p0y1" fmla="*/ 0 h 3367"/>
                <a:gd name="p0x2" fmla="*/ 6903 w 7010"/>
                <a:gd name="p0y2" fmla="*/ 0 h 3367"/>
                <a:gd name="p0x3" fmla="*/ 7010 w 7010"/>
                <a:gd name="p0y3" fmla="*/ 107 h 3367"/>
                <a:gd name="p0x4" fmla="*/ 7010 w 7010"/>
                <a:gd name="p0y4" fmla="*/ 240 h 3367"/>
                <a:gd name="p0x5" fmla="*/ 7010 w 7010"/>
                <a:gd name="p0y5" fmla="*/ 3127 h 3367"/>
                <a:gd name="p0x6" fmla="*/ 7010 w 7010"/>
                <a:gd name="p0y6" fmla="*/ 3260 h 3367"/>
                <a:gd name="p0x7" fmla="*/ 6903 w 7010"/>
                <a:gd name="p0y7" fmla="*/ 3367 h 3367"/>
                <a:gd name="p0x8" fmla="*/ 6770 w 7010"/>
                <a:gd name="p0y8" fmla="*/ 3367 h 3367"/>
                <a:gd name="p0x9" fmla="*/ 240 w 7010"/>
                <a:gd name="p0y9" fmla="*/ 3367 h 3367"/>
                <a:gd name="p0x10" fmla="*/ 107 w 7010"/>
                <a:gd name="p0y10" fmla="*/ 3367 h 3367"/>
                <a:gd name="p0x11" fmla="*/ 0 w 7010"/>
                <a:gd name="p0y11" fmla="*/ 3260 h 3367"/>
                <a:gd name="p0x12" fmla="*/ 0 w 7010"/>
                <a:gd name="p0y12" fmla="*/ 3127 h 3367"/>
                <a:gd name="p0x13" fmla="*/ 0 w 7010"/>
                <a:gd name="p0y13" fmla="*/ 240 h 3367"/>
                <a:gd name="p0x14" fmla="*/ 0 w 7010"/>
                <a:gd name="p0y14" fmla="*/ 107 h 3367"/>
                <a:gd name="p0x15" fmla="*/ 107 w 7010"/>
                <a:gd name="p0y15" fmla="*/ 0 h 3367"/>
                <a:gd name="p0x16" fmla="*/ 240 w 7010"/>
                <a:gd name="p0y16" fmla="*/ 0 h 336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3"/>
              </p:custDataLst>
            </p:nvPr>
          </p:nvSpPr>
          <p:spPr>
            <a:xfrm>
              <a:off x="1363" y="6517"/>
              <a:ext cx="6792" cy="81"/>
            </a:xfrm>
            <a:custGeom>
              <a:avLst/>
              <a:gdLst>
                <a:gd name="sw" fmla="*/ 1 w 6792"/>
                <a:gd name="sh" fmla="*/ 1 h 80"/>
                <a:gd name="mins" fmla="min sw sh"/>
                <a:gd name="dsw" fmla="+- 0 sw mins"/>
                <a:gd name="dsh" fmla="+- 0 sh mins"/>
                <a:gd name="p0x0" fmla="*/ 91 w 6792"/>
                <a:gd name="p0y0" fmla="*/ 0 h 80"/>
                <a:gd name="p0x1" fmla="*/ 6622 w 6792"/>
                <a:gd name="p0y1" fmla="*/ 0 h 80"/>
                <a:gd name="p0x2" fmla="*/ 6689 w 6792"/>
                <a:gd name="p0y2" fmla="*/ 0 h 80"/>
                <a:gd name="p0x3" fmla="*/ 6749 w 6792"/>
                <a:gd name="p0y3" fmla="*/ 26 h 80"/>
                <a:gd name="p0x4" fmla="*/ 6792 w 6792"/>
                <a:gd name="p0y4" fmla="*/ 70 h 80"/>
                <a:gd name="p0x5" fmla="*/ 6781 w 6792"/>
                <a:gd name="p0y5" fmla="*/ 80 h 80"/>
                <a:gd name="p0x6" fmla="*/ 6741 w 6792"/>
                <a:gd name="p0y6" fmla="*/ 40 h 80"/>
                <a:gd name="p0x7" fmla="*/ 6685 w 6792"/>
                <a:gd name="p0y7" fmla="*/ 15 h 80"/>
                <a:gd name="p0x8" fmla="*/ 6622 w 6792"/>
                <a:gd name="p0y8" fmla="*/ 15 h 80"/>
                <a:gd name="p0x9" fmla="*/ 91 w 6792"/>
                <a:gd name="p0y9" fmla="*/ 15 h 80"/>
                <a:gd name="p0x10" fmla="*/ 65 w 6792"/>
                <a:gd name="p0y10" fmla="*/ 15 h 80"/>
                <a:gd name="p0x11" fmla="*/ 40 w 6792"/>
                <a:gd name="p0y11" fmla="*/ 21 h 80"/>
                <a:gd name="p0x12" fmla="*/ 17 w 6792"/>
                <a:gd name="p0y12" fmla="*/ 32 h 80"/>
                <a:gd name="p0x13" fmla="*/ 0 w 6792"/>
                <a:gd name="p0y13" fmla="*/ 18 h 80"/>
                <a:gd name="p0x14" fmla="*/ 0 w 6792"/>
                <a:gd name="p0y14" fmla="*/ 18 h 80"/>
                <a:gd name="p0x15" fmla="*/ 28 w 6792"/>
                <a:gd name="p0y15" fmla="*/ 6 h 80"/>
                <a:gd name="p0x16" fmla="*/ 59 w 6792"/>
                <a:gd name="p0y16" fmla="*/ 0 h 80"/>
                <a:gd name="p0x17" fmla="*/ 91 w 6792"/>
                <a:gd name="p0y17" fmla="*/ 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4"/>
              </p:custDataLst>
            </p:nvPr>
          </p:nvSpPr>
          <p:spPr>
            <a:xfrm>
              <a:off x="8145" y="6587"/>
              <a:ext cx="80" cy="3227"/>
            </a:xfrm>
            <a:custGeom>
              <a:avLst/>
              <a:gdLst>
                <a:gd name="sw" fmla="*/ 1 w 80"/>
                <a:gd name="sh" fmla="*/ 1 h 3226"/>
                <a:gd name="mins" fmla="min sw sh"/>
                <a:gd name="dsw" fmla="+- 0 sw mins"/>
                <a:gd name="dsh" fmla="+- 0 sh mins"/>
                <a:gd name="p0x0" fmla="*/ 80 w 80"/>
                <a:gd name="p0y0" fmla="*/ 169 h 3226"/>
                <a:gd name="p0x1" fmla="*/ 80 w 80"/>
                <a:gd name="p0y1" fmla="*/ 3057 h 3226"/>
                <a:gd name="p0x2" fmla="*/ 80 w 80"/>
                <a:gd name="p0y2" fmla="*/ 3123 h 3226"/>
                <a:gd name="p0x3" fmla="*/ 54 w 80"/>
                <a:gd name="p0y3" fmla="*/ 3183 h 3226"/>
                <a:gd name="p0x4" fmla="*/ 10 w 80"/>
                <a:gd name="p0y4" fmla="*/ 3226 h 3226"/>
                <a:gd name="p0x5" fmla="*/ 0 w 80"/>
                <a:gd name="p0y5" fmla="*/ 3216 h 3226"/>
                <a:gd name="p0x6" fmla="*/ 40 w 80"/>
                <a:gd name="p0y6" fmla="*/ 3175 h 3226"/>
                <a:gd name="p0x7" fmla="*/ 65 w 80"/>
                <a:gd name="p0y7" fmla="*/ 3119 h 3226"/>
                <a:gd name="p0x8" fmla="*/ 65 w 80"/>
                <a:gd name="p0y8" fmla="*/ 3057 h 3226"/>
                <a:gd name="p0x9" fmla="*/ 65 w 80"/>
                <a:gd name="p0y9" fmla="*/ 169 h 3226"/>
                <a:gd name="p0x10" fmla="*/ 65 w 80"/>
                <a:gd name="p0y10" fmla="*/ 107 h 3226"/>
                <a:gd name="p0x11" fmla="*/ 40 w 80"/>
                <a:gd name="p0y11" fmla="*/ 51 h 3226"/>
                <a:gd name="p0x12" fmla="*/ 0 w 80"/>
                <a:gd name="p0y12" fmla="*/ 10 h 3226"/>
                <a:gd name="p0x13" fmla="*/ 10 w 80"/>
                <a:gd name="p0y13" fmla="*/ 0 h 3226"/>
                <a:gd name="p0x14" fmla="*/ 54 w 80"/>
                <a:gd name="p0y14" fmla="*/ 43 h 3226"/>
                <a:gd name="p0x15" fmla="*/ 80 w 80"/>
                <a:gd name="p0y15" fmla="*/ 103 h 3226"/>
                <a:gd name="p0x16" fmla="*/ 80 w 80"/>
                <a:gd name="p0y16" fmla="*/ 169 h 322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25"/>
              </p:custDataLst>
            </p:nvPr>
          </p:nvSpPr>
          <p:spPr>
            <a:xfrm>
              <a:off x="1363" y="9804"/>
              <a:ext cx="6792" cy="81"/>
            </a:xfrm>
            <a:custGeom>
              <a:avLst/>
              <a:gdLst>
                <a:gd name="sw" fmla="*/ 1 w 6792"/>
                <a:gd name="sh" fmla="*/ 1 h 80"/>
                <a:gd name="mins" fmla="min sw sh"/>
                <a:gd name="dsw" fmla="+- 0 sw mins"/>
                <a:gd name="dsh" fmla="+- 0 sh mins"/>
                <a:gd name="p0x0" fmla="*/ 6622 w 6792"/>
                <a:gd name="p0y0" fmla="*/ 80 h 80"/>
                <a:gd name="p0x1" fmla="*/ 91 w 6792"/>
                <a:gd name="p0y1" fmla="*/ 80 h 80"/>
                <a:gd name="p0x2" fmla="*/ 59 w 6792"/>
                <a:gd name="p0y2" fmla="*/ 80 h 80"/>
                <a:gd name="p0x3" fmla="*/ 28 w 6792"/>
                <a:gd name="p0y3" fmla="*/ 74 h 80"/>
                <a:gd name="p0x4" fmla="*/ 0 w 6792"/>
                <a:gd name="p0y4" fmla="*/ 62 h 80"/>
                <a:gd name="p0x5" fmla="*/ 17 w 6792"/>
                <a:gd name="p0y5" fmla="*/ 48 h 80"/>
                <a:gd name="p0x6" fmla="*/ 17 w 6792"/>
                <a:gd name="p0y6" fmla="*/ 48 h 80"/>
                <a:gd name="p0x7" fmla="*/ 40 w 6792"/>
                <a:gd name="p0y7" fmla="*/ 59 h 80"/>
                <a:gd name="p0x8" fmla="*/ 65 w 6792"/>
                <a:gd name="p0y8" fmla="*/ 65 h 80"/>
                <a:gd name="p0x9" fmla="*/ 91 w 6792"/>
                <a:gd name="p0y9" fmla="*/ 65 h 80"/>
                <a:gd name="p0x10" fmla="*/ 6622 w 6792"/>
                <a:gd name="p0y10" fmla="*/ 65 h 80"/>
                <a:gd name="p0x11" fmla="*/ 6684 w 6792"/>
                <a:gd name="p0y11" fmla="*/ 65 h 80"/>
                <a:gd name="p0x12" fmla="*/ 6741 w 6792"/>
                <a:gd name="p0y12" fmla="*/ 40 h 80"/>
                <a:gd name="p0x13" fmla="*/ 6781 w 6792"/>
                <a:gd name="p0y13" fmla="*/ 0 h 80"/>
                <a:gd name="p0x14" fmla="*/ 6792 w 6792"/>
                <a:gd name="p0y14" fmla="*/ 10 h 80"/>
                <a:gd name="p0x15" fmla="*/ 6749 w 6792"/>
                <a:gd name="p0y15" fmla="*/ 54 h 80"/>
                <a:gd name="p0x16" fmla="*/ 6689 w 6792"/>
                <a:gd name="p0y16" fmla="*/ 80 h 80"/>
                <a:gd name="p0x17" fmla="*/ 6622 w 6792"/>
                <a:gd name="p0y17" fmla="*/ 8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6"/>
              </p:custDataLst>
            </p:nvPr>
          </p:nvSpPr>
          <p:spPr>
            <a:xfrm>
              <a:off x="1215" y="6535"/>
              <a:ext cx="165" cy="3331"/>
            </a:xfrm>
            <a:custGeom>
              <a:avLst/>
              <a:gdLst>
                <a:gd name="sw" fmla="*/ 1 w 165"/>
                <a:gd name="sh" fmla="*/ 1 h 3331"/>
                <a:gd name="mins" fmla="min sw sh"/>
                <a:gd name="dsw" fmla="+- 0 sw mins"/>
                <a:gd name="dsh" fmla="+- 0 sh mins"/>
                <a:gd name="p0x0" fmla="*/ 0 w 165"/>
                <a:gd name="p0y0" fmla="*/ 3109 h 3331"/>
                <a:gd name="p0x1" fmla="*/ 0 w 165"/>
                <a:gd name="p0y1" fmla="*/ 221 h 3331"/>
                <a:gd name="p0x2" fmla="*/ 0 w 165"/>
                <a:gd name="p0y2" fmla="*/ 121 h 3331"/>
                <a:gd name="p0x3" fmla="*/ 61 w 165"/>
                <a:gd name="p0y3" fmla="*/ 36 h 3331"/>
                <a:gd name="p0x4" fmla="*/ 148 w 165"/>
                <a:gd name="p0y4" fmla="*/ 0 h 3331"/>
                <a:gd name="p0x5" fmla="*/ 165 w 165"/>
                <a:gd name="p0y5" fmla="*/ 13 h 3331"/>
                <a:gd name="p0x6" fmla="*/ 165 w 165"/>
                <a:gd name="p0y6" fmla="*/ 13 h 3331"/>
                <a:gd name="p0x7" fmla="*/ 94 w 165"/>
                <a:gd name="p0y7" fmla="*/ 47 h 3331"/>
                <a:gd name="p0x8" fmla="*/ 45 w 165"/>
                <a:gd name="p0y8" fmla="*/ 128 h 3331"/>
                <a:gd name="p0x9" fmla="*/ 45 w 165"/>
                <a:gd name="p0y9" fmla="*/ 221 h 3331"/>
                <a:gd name="p0x10" fmla="*/ 45 w 165"/>
                <a:gd name="p0y10" fmla="*/ 3109 h 3331"/>
                <a:gd name="p0x11" fmla="*/ 45 w 165"/>
                <a:gd name="p0y11" fmla="*/ 3203 h 3331"/>
                <a:gd name="p0x12" fmla="*/ 94 w 165"/>
                <a:gd name="p0y12" fmla="*/ 3283 h 3331"/>
                <a:gd name="p0x13" fmla="*/ 165 w 165"/>
                <a:gd name="p0y13" fmla="*/ 3317 h 3331"/>
                <a:gd name="p0x14" fmla="*/ 148 w 165"/>
                <a:gd name="p0y14" fmla="*/ 3330 h 3331"/>
                <a:gd name="p0x15" fmla="*/ 148 w 165"/>
                <a:gd name="p0y15" fmla="*/ 3331 h 3331"/>
                <a:gd name="p0x16" fmla="*/ 61 w 165"/>
                <a:gd name="p0y16" fmla="*/ 3294 h 3331"/>
                <a:gd name="p0x17" fmla="*/ 0 w 165"/>
                <a:gd name="p0y17" fmla="*/ 3209 h 3331"/>
                <a:gd name="p0x18" fmla="*/ 0 w 165"/>
                <a:gd name="p0y18" fmla="*/ 3109 h 333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>
            <p:custDataLst>
              <p:tags r:id="rId27"/>
            </p:custDataLst>
          </p:nvPr>
        </p:nvSpPr>
        <p:spPr>
          <a:xfrm>
            <a:off x="952500" y="4677756"/>
            <a:ext cx="41090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用户不满意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28"/>
            </p:custDataLst>
          </p:nvPr>
        </p:nvSpPr>
        <p:spPr>
          <a:xfrm>
            <a:off x="952500" y="5040659"/>
            <a:ext cx="3810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B8A"/>
                </a:solidFill>
                <a:cs typeface="+mn-lt"/>
              </a:rPr>
              <a:t>点踩、连续追问、说「没解决」</a:t>
            </a:r>
            <a:r>
              <a:rPr sz="1500" b="1">
                <a:solidFill>
                  <a:schemeClr val="accent1"/>
                </a:solidFill>
                <a:cs typeface="+mn-lt"/>
              </a:rPr>
              <a:t>优先转人工</a:t>
            </a:r>
            <a:endParaRPr sz="15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33" name="任意多边形 32"/>
          <p:cNvSpPr/>
          <p:nvPr>
            <p:custDataLst>
              <p:tags r:id="rId29"/>
            </p:custDataLst>
          </p:nvPr>
        </p:nvSpPr>
        <p:spPr>
          <a:xfrm>
            <a:off x="952500" y="5483860"/>
            <a:ext cx="762000" cy="228600"/>
          </a:xfrm>
          <a:custGeom>
            <a:avLst/>
            <a:gdLst>
              <a:gd name="sw" fmla="*/ 1 w 1200"/>
              <a:gd name="sh" fmla="*/ 1 h 360"/>
              <a:gd name="mins" fmla="min sw sh"/>
              <a:gd name="dsw" fmla="+- 0 sw mins"/>
              <a:gd name="dsh" fmla="+- 0 sh mins"/>
              <a:gd name="p0x0" fmla="*/ 120 w 1200"/>
              <a:gd name="p0y0" fmla="*/ 0 h 360"/>
              <a:gd name="p0x1" fmla="*/ 1080 w 1200"/>
              <a:gd name="p0y1" fmla="*/ 0 h 360"/>
              <a:gd name="p0x2" fmla="*/ 1146 w 1200"/>
              <a:gd name="p0y2" fmla="*/ 0 h 360"/>
              <a:gd name="p0x3" fmla="*/ 1200 w 1200"/>
              <a:gd name="p0y3" fmla="*/ 53 h 360"/>
              <a:gd name="p0x4" fmla="*/ 1200 w 1200"/>
              <a:gd name="p0y4" fmla="*/ 120 h 360"/>
              <a:gd name="p0x5" fmla="*/ 1200 w 1200"/>
              <a:gd name="p0y5" fmla="*/ 240 h 360"/>
              <a:gd name="p0x6" fmla="*/ 1200 w 1200"/>
              <a:gd name="p0y6" fmla="*/ 306 h 360"/>
              <a:gd name="p0x7" fmla="*/ 1146 w 1200"/>
              <a:gd name="p0y7" fmla="*/ 360 h 360"/>
              <a:gd name="p0x8" fmla="*/ 1080 w 1200"/>
              <a:gd name="p0y8" fmla="*/ 360 h 360"/>
              <a:gd name="p0x9" fmla="*/ 120 w 1200"/>
              <a:gd name="p0y9" fmla="*/ 360 h 360"/>
              <a:gd name="p0x10" fmla="*/ 53 w 1200"/>
              <a:gd name="p0y10" fmla="*/ 360 h 360"/>
              <a:gd name="p0x11" fmla="*/ 0 w 1200"/>
              <a:gd name="p0y11" fmla="*/ 306 h 360"/>
              <a:gd name="p0x12" fmla="*/ 0 w 1200"/>
              <a:gd name="p0y12" fmla="*/ 240 h 360"/>
              <a:gd name="p0x13" fmla="*/ 0 w 1200"/>
              <a:gd name="p0y13" fmla="*/ 120 h 360"/>
              <a:gd name="p0x14" fmla="*/ 0 w 1200"/>
              <a:gd name="p0y14" fmla="*/ 53 h 360"/>
              <a:gd name="p0x15" fmla="*/ 53 w 1200"/>
              <a:gd name="p0y15" fmla="*/ 0 h 360"/>
              <a:gd name="p0x16" fmla="*/ 120 w 120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0"/>
            </p:custDataLst>
          </p:nvPr>
        </p:nvSpPr>
        <p:spPr>
          <a:xfrm>
            <a:off x="1028700" y="5494496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1163"/>
                  </a:schemeClr>
                </a:solidFill>
                <a:cs typeface="+mn-lt"/>
              </a:rPr>
              <a:t>设计价值</a:t>
            </a:r>
            <a:endParaRPr sz="1200" b="1">
              <a:solidFill>
                <a:schemeClr val="accent1">
                  <a:lumMod val="51163"/>
                </a:schemeClr>
              </a:solidFill>
              <a:cs typeface="+mn-lt"/>
            </a:endParaRPr>
          </a:p>
        </p:txBody>
      </p:sp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>
            <a:off x="1790776" y="5462140"/>
            <a:ext cx="1886026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保护体验，减机器人感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36" name="任意多边形 35"/>
          <p:cNvSpPr/>
          <p:nvPr>
            <p:custDataLst>
              <p:tags r:id="rId32"/>
            </p:custDataLst>
          </p:nvPr>
        </p:nvSpPr>
        <p:spPr>
          <a:xfrm>
            <a:off x="5694680" y="1109345"/>
            <a:ext cx="5920740" cy="4257675"/>
          </a:xfrm>
          <a:custGeom>
            <a:avLst/>
            <a:gdLst>
              <a:gd name="sw" fmla="*/ 1 w 9324"/>
              <a:gd name="sh" fmla="*/ 1 h 6705"/>
              <a:gd name="mins" fmla="min sw sh"/>
              <a:gd name="dsw" fmla="+- 0 sw mins"/>
              <a:gd name="dsh" fmla="+- 0 sh mins"/>
              <a:gd name="p0x0" fmla="*/ 360 w 9324"/>
              <a:gd name="p0y0" fmla="*/ 0 h 6705"/>
              <a:gd name="p0x1" fmla="*/ 8964 w 9324"/>
              <a:gd name="p0y1" fmla="*/ 0 h 6705"/>
              <a:gd name="p0x2" fmla="*/ 9162 w 9324"/>
              <a:gd name="p0y2" fmla="*/ 0 h 6705"/>
              <a:gd name="p0x3" fmla="*/ 9324 w 9324"/>
              <a:gd name="p0y3" fmla="*/ 161 h 6705"/>
              <a:gd name="p0x4" fmla="*/ 9324 w 9324"/>
              <a:gd name="p0y4" fmla="*/ 360 h 6705"/>
              <a:gd name="p0x5" fmla="*/ 9324 w 9324"/>
              <a:gd name="p0y5" fmla="*/ 6345 h 6705"/>
              <a:gd name="p0x6" fmla="*/ 9324 w 9324"/>
              <a:gd name="p0y6" fmla="*/ 6543 h 6705"/>
              <a:gd name="p0x7" fmla="*/ 9162 w 9324"/>
              <a:gd name="p0y7" fmla="*/ 6705 h 6705"/>
              <a:gd name="p0x8" fmla="*/ 8964 w 9324"/>
              <a:gd name="p0y8" fmla="*/ 6705 h 6705"/>
              <a:gd name="p0x9" fmla="*/ 360 w 9324"/>
              <a:gd name="p0y9" fmla="*/ 6705 h 6705"/>
              <a:gd name="p0x10" fmla="*/ 161 w 9324"/>
              <a:gd name="p0y10" fmla="*/ 6705 h 6705"/>
              <a:gd name="p0x11" fmla="*/ 0 w 9324"/>
              <a:gd name="p0y11" fmla="*/ 6543 h 6705"/>
              <a:gd name="p0x12" fmla="*/ 0 w 9324"/>
              <a:gd name="p0y12" fmla="*/ 6345 h 6705"/>
              <a:gd name="p0x13" fmla="*/ 0 w 9324"/>
              <a:gd name="p0y13" fmla="*/ 360 h 6705"/>
              <a:gd name="p0x14" fmla="*/ 0 w 9324"/>
              <a:gd name="p0y14" fmla="*/ 161 h 6705"/>
              <a:gd name="p0x15" fmla="*/ 161 w 9324"/>
              <a:gd name="p0y15" fmla="*/ 0 h 6705"/>
              <a:gd name="p0x16" fmla="*/ 360 w 9324"/>
              <a:gd name="p0y16" fmla="*/ 0 h 67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FAFD"/>
          </a:solidFill>
          <a:ln w="9525" cmpd="sng">
            <a:solidFill>
              <a:schemeClr val="accent1">
                <a:alpha val="16078"/>
              </a:schemeClr>
            </a:solidFill>
            <a:prstDash val="solid"/>
          </a:ln>
          <a:effectLst>
            <a:outerShdw blurRad="114300" dist="19050" dir="5399999" algn="ctr" rotWithShape="0">
              <a:schemeClr val="accent1">
                <a:alpha val="7843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4" name="组合 73"/>
          <p:cNvGrpSpPr/>
          <p:nvPr/>
        </p:nvGrpSpPr>
        <p:grpSpPr>
          <a:xfrm>
            <a:off x="5889625" y="1304925"/>
            <a:ext cx="5530850" cy="466090"/>
            <a:chOff x="9275" y="2055"/>
            <a:chExt cx="8710" cy="734"/>
          </a:xfrm>
        </p:grpSpPr>
        <p:sp>
          <p:nvSpPr>
            <p:cNvPr id="37" name="任意多边形 36"/>
            <p:cNvSpPr/>
            <p:nvPr>
              <p:custDataLst>
                <p:tags r:id="rId33"/>
              </p:custDataLst>
            </p:nvPr>
          </p:nvSpPr>
          <p:spPr>
            <a:xfrm>
              <a:off x="9275" y="2055"/>
              <a:ext cx="8710" cy="735"/>
            </a:xfrm>
            <a:custGeom>
              <a:avLst/>
              <a:gdLst>
                <a:gd name="sw" fmla="*/ 1 w 8709"/>
                <a:gd name="sh" fmla="*/ 1 h 735"/>
                <a:gd name="mins" fmla="min sw sh"/>
                <a:gd name="dsw" fmla="+- 0 sw mins"/>
                <a:gd name="dsh" fmla="+- 0 sh mins"/>
                <a:gd name="p0x0" fmla="*/ 0 w 8709"/>
                <a:gd name="p0y0" fmla="*/ 0 h 735"/>
                <a:gd name="p0x1" fmla="*/ 8709 w 8709"/>
                <a:gd name="p0y1" fmla="*/ 0 h 735"/>
                <a:gd name="p0x2" fmla="*/ 8709 w 8709"/>
                <a:gd name="p0y2" fmla="*/ 735 h 735"/>
                <a:gd name="p0x3" fmla="*/ 0 w 8709"/>
                <a:gd name="p0y3" fmla="*/ 735 h 735"/>
                <a:gd name="p0x4" fmla="*/ 0 w 8709"/>
                <a:gd name="p0y4" fmla="*/ 0 h 7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34"/>
              </p:custDataLst>
            </p:nvPr>
          </p:nvSpPr>
          <p:spPr>
            <a:xfrm>
              <a:off x="9275" y="2775"/>
              <a:ext cx="8710" cy="15"/>
            </a:xfrm>
            <a:custGeom>
              <a:avLst/>
              <a:gdLst>
                <a:gd name="sw" fmla="*/ 1 w 8709"/>
                <a:gd name="sh" fmla="*/ 1 h 15"/>
                <a:gd name="mins" fmla="min sw sh"/>
                <a:gd name="dsw" fmla="+- 0 sw mins"/>
                <a:gd name="dsh" fmla="+- 0 sh mins"/>
                <a:gd name="p0x0" fmla="*/ 8709 w 8709"/>
                <a:gd name="p0y0" fmla="*/ 15 h 15"/>
                <a:gd name="p0x1" fmla="*/ 0 w 8709"/>
                <a:gd name="p0y1" fmla="*/ 15 h 15"/>
                <a:gd name="p0x2" fmla="*/ 0 w 8709"/>
                <a:gd name="p0y2" fmla="*/ 0 h 15"/>
                <a:gd name="p0x3" fmla="*/ 8709 w 8709"/>
                <a:gd name="p0y3" fmla="*/ 0 h 15"/>
                <a:gd name="p0x4" fmla="*/ 8709 w 8709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0" name="任意多边形 39"/>
          <p:cNvSpPr/>
          <p:nvPr>
            <p:custDataLst>
              <p:tags r:id="rId35"/>
            </p:custDataLst>
          </p:nvPr>
        </p:nvSpPr>
        <p:spPr>
          <a:xfrm>
            <a:off x="5894705" y="1309370"/>
            <a:ext cx="333375" cy="333375"/>
          </a:xfrm>
          <a:custGeom>
            <a:avLst/>
            <a:gdLst>
              <a:gd name="sw" fmla="*/ 1 w 525"/>
              <a:gd name="sh" fmla="*/ 1 h 525"/>
              <a:gd name="mins" fmla="min sw sh"/>
              <a:gd name="dsw" fmla="+- 0 sw mins"/>
              <a:gd name="dsh" fmla="+- 0 sh mins"/>
              <a:gd name="p0x0" fmla="*/ 240 w 525"/>
              <a:gd name="p0y0" fmla="*/ 0 h 525"/>
              <a:gd name="p0x1" fmla="*/ 285 w 525"/>
              <a:gd name="p0y1" fmla="*/ 0 h 525"/>
              <a:gd name="p0x2" fmla="*/ 417 w 525"/>
              <a:gd name="p0y2" fmla="*/ 0 h 525"/>
              <a:gd name="p0x3" fmla="*/ 525 w 525"/>
              <a:gd name="p0y3" fmla="*/ 107 h 525"/>
              <a:gd name="p0x4" fmla="*/ 525 w 525"/>
              <a:gd name="p0y4" fmla="*/ 240 h 525"/>
              <a:gd name="p0x5" fmla="*/ 525 w 525"/>
              <a:gd name="p0y5" fmla="*/ 285 h 525"/>
              <a:gd name="p0x6" fmla="*/ 525 w 525"/>
              <a:gd name="p0y6" fmla="*/ 417 h 525"/>
              <a:gd name="p0x7" fmla="*/ 417 w 525"/>
              <a:gd name="p0y7" fmla="*/ 525 h 525"/>
              <a:gd name="p0x8" fmla="*/ 285 w 525"/>
              <a:gd name="p0y8" fmla="*/ 525 h 525"/>
              <a:gd name="p0x9" fmla="*/ 240 w 525"/>
              <a:gd name="p0y9" fmla="*/ 525 h 525"/>
              <a:gd name="p0x10" fmla="*/ 107 w 525"/>
              <a:gd name="p0y10" fmla="*/ 525 h 525"/>
              <a:gd name="p0x11" fmla="*/ 0 w 525"/>
              <a:gd name="p0y11" fmla="*/ 417 h 525"/>
              <a:gd name="p0x12" fmla="*/ 0 w 525"/>
              <a:gd name="p0y12" fmla="*/ 285 h 525"/>
              <a:gd name="p0x13" fmla="*/ 0 w 525"/>
              <a:gd name="p0y13" fmla="*/ 240 h 525"/>
              <a:gd name="p0x14" fmla="*/ 0 w 525"/>
              <a:gd name="p0y14" fmla="*/ 107 h 525"/>
              <a:gd name="p0x15" fmla="*/ 107 w 525"/>
              <a:gd name="p0y15" fmla="*/ 0 h 525"/>
              <a:gd name="p0x16" fmla="*/ 240 w 525"/>
              <a:gd name="p0y16" fmla="*/ 0 h 5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alpha val="3803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5968365" y="1366520"/>
            <a:ext cx="186055" cy="21463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39"/>
            </p:custDataLst>
          </p:nvPr>
        </p:nvSpPr>
        <p:spPr>
          <a:xfrm>
            <a:off x="6347441" y="1293495"/>
            <a:ext cx="441401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1B3A5C"/>
                </a:solidFill>
                <a:cs typeface="+mn-lt"/>
              </a:rPr>
              <a:t>异常路径</a:t>
            </a:r>
            <a:r>
              <a:rPr lang="en-US" altLang="zh-CN" sz="2100" b="1" spc="42">
                <a:solidFill>
                  <a:srgbClr val="1B3A5C"/>
                </a:solidFill>
                <a:cs typeface="+mn-lt"/>
              </a:rPr>
              <a:t> 03–04</a:t>
            </a:r>
            <a:endParaRPr lang="en-US" altLang="zh-CN"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44" name="任意多边形 43"/>
          <p:cNvSpPr/>
          <p:nvPr>
            <p:custDataLst>
              <p:tags r:id="rId40"/>
            </p:custDataLst>
          </p:nvPr>
        </p:nvSpPr>
        <p:spPr>
          <a:xfrm>
            <a:off x="10880090" y="1333500"/>
            <a:ext cx="535305" cy="285750"/>
          </a:xfrm>
          <a:custGeom>
            <a:avLst/>
            <a:gdLst>
              <a:gd name="sw" fmla="*/ 1 w 842"/>
              <a:gd name="sh" fmla="*/ 1 h 450"/>
              <a:gd name="mins" fmla="min sw sh"/>
              <a:gd name="dsw" fmla="+- 0 sw mins"/>
              <a:gd name="dsh" fmla="+- 0 sh mins"/>
              <a:gd name="p0x0" fmla="*/ 225 w 842"/>
              <a:gd name="p0y0" fmla="*/ 0 h 450"/>
              <a:gd name="p0x1" fmla="*/ 617 w 842"/>
              <a:gd name="p0y1" fmla="*/ 0 h 450"/>
              <a:gd name="p0x2" fmla="*/ 742 w 842"/>
              <a:gd name="p0y2" fmla="*/ 0 h 450"/>
              <a:gd name="p0x3" fmla="*/ 842 w 842"/>
              <a:gd name="p0y3" fmla="*/ 100 h 450"/>
              <a:gd name="p0x4" fmla="*/ 842 w 842"/>
              <a:gd name="p0y4" fmla="*/ 225 h 450"/>
              <a:gd name="p0x5" fmla="*/ 842 w 842"/>
              <a:gd name="p0y5" fmla="*/ 349 h 450"/>
              <a:gd name="p0x6" fmla="*/ 742 w 842"/>
              <a:gd name="p0y6" fmla="*/ 450 h 450"/>
              <a:gd name="p0x7" fmla="*/ 617 w 842"/>
              <a:gd name="p0y7" fmla="*/ 450 h 450"/>
              <a:gd name="p0x8" fmla="*/ 225 w 842"/>
              <a:gd name="p0y8" fmla="*/ 450 h 450"/>
              <a:gd name="p0x9" fmla="*/ 100 w 842"/>
              <a:gd name="p0y9" fmla="*/ 450 h 450"/>
              <a:gd name="p0x10" fmla="*/ 0 w 842"/>
              <a:gd name="p0y10" fmla="*/ 349 h 450"/>
              <a:gd name="p0x11" fmla="*/ 0 w 842"/>
              <a:gd name="p0y11" fmla="*/ 225 h 450"/>
              <a:gd name="p0x12" fmla="*/ 0 w 842"/>
              <a:gd name="p0y12" fmla="*/ 100 h 450"/>
              <a:gd name="p0x13" fmla="*/ 100 w 842"/>
              <a:gd name="p0y13" fmla="*/ 0 h 450"/>
              <a:gd name="p0x14" fmla="*/ 225 w 842"/>
              <a:gd name="p0y14" fmla="*/ 0 h 4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 w="9525" cmpd="sng">
            <a:solidFill>
              <a:schemeClr val="accent1">
                <a:alpha val="38039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1"/>
            </p:custDataLst>
          </p:nvPr>
        </p:nvSpPr>
        <p:spPr>
          <a:xfrm>
            <a:off x="10999584" y="1376363"/>
            <a:ext cx="44946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>
                <a:solidFill>
                  <a:schemeClr val="accent1">
                    <a:lumMod val="51163"/>
                  </a:schemeClr>
                </a:solidFill>
                <a:cs typeface="+mn-lt"/>
              </a:rPr>
              <a:t>2 </a:t>
            </a:r>
            <a:r>
              <a:rPr lang="zh-CN" sz="1200" b="1">
                <a:solidFill>
                  <a:schemeClr val="accent1">
                    <a:lumMod val="51163"/>
                  </a:schemeClr>
                </a:solidFill>
                <a:cs typeface="+mn-lt"/>
              </a:rPr>
              <a:t>类</a:t>
            </a:r>
            <a:endParaRPr lang="zh-CN" sz="1200" b="1">
              <a:solidFill>
                <a:schemeClr val="accent1">
                  <a:lumMod val="51163"/>
                </a:schemeClr>
              </a:solidFill>
              <a:cs typeface="+mn-lt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5889625" y="1885950"/>
            <a:ext cx="5530850" cy="1584960"/>
            <a:chOff x="9275" y="2970"/>
            <a:chExt cx="8710" cy="2496"/>
          </a:xfrm>
        </p:grpSpPr>
        <p:sp>
          <p:nvSpPr>
            <p:cNvPr id="46" name="任意多边形 45"/>
            <p:cNvSpPr/>
            <p:nvPr>
              <p:custDataLst>
                <p:tags r:id="rId42"/>
              </p:custDataLst>
            </p:nvPr>
          </p:nvSpPr>
          <p:spPr>
            <a:xfrm>
              <a:off x="9275" y="2970"/>
              <a:ext cx="8710" cy="2497"/>
            </a:xfrm>
            <a:custGeom>
              <a:avLst/>
              <a:gdLst>
                <a:gd name="sw" fmla="*/ 1 w 8709"/>
                <a:gd name="sh" fmla="*/ 1 h 2497"/>
                <a:gd name="mins" fmla="min sw sh"/>
                <a:gd name="dsw" fmla="+- 0 sw mins"/>
                <a:gd name="dsh" fmla="+- 0 sh mins"/>
                <a:gd name="p0x0" fmla="*/ 240 w 8709"/>
                <a:gd name="p0y0" fmla="*/ 0 h 2497"/>
                <a:gd name="p0x1" fmla="*/ 8469 w 8709"/>
                <a:gd name="p0y1" fmla="*/ 0 h 2497"/>
                <a:gd name="p0x2" fmla="*/ 8601 w 8709"/>
                <a:gd name="p0y2" fmla="*/ 0 h 2497"/>
                <a:gd name="p0x3" fmla="*/ 8709 w 8709"/>
                <a:gd name="p0y3" fmla="*/ 107 h 2497"/>
                <a:gd name="p0x4" fmla="*/ 8709 w 8709"/>
                <a:gd name="p0y4" fmla="*/ 240 h 2497"/>
                <a:gd name="p0x5" fmla="*/ 8709 w 8709"/>
                <a:gd name="p0y5" fmla="*/ 2257 h 2497"/>
                <a:gd name="p0x6" fmla="*/ 8709 w 8709"/>
                <a:gd name="p0y6" fmla="*/ 2390 h 2497"/>
                <a:gd name="p0x7" fmla="*/ 8601 w 8709"/>
                <a:gd name="p0y7" fmla="*/ 2497 h 2497"/>
                <a:gd name="p0x8" fmla="*/ 8469 w 8709"/>
                <a:gd name="p0y8" fmla="*/ 2497 h 2497"/>
                <a:gd name="p0x9" fmla="*/ 240 w 8709"/>
                <a:gd name="p0y9" fmla="*/ 2497 h 2497"/>
                <a:gd name="p0x10" fmla="*/ 107 w 8709"/>
                <a:gd name="p0y10" fmla="*/ 2497 h 2497"/>
                <a:gd name="p0x11" fmla="*/ 0 w 8709"/>
                <a:gd name="p0y11" fmla="*/ 2390 h 2497"/>
                <a:gd name="p0x12" fmla="*/ 0 w 8709"/>
                <a:gd name="p0y12" fmla="*/ 2257 h 2497"/>
                <a:gd name="p0x13" fmla="*/ 0 w 8709"/>
                <a:gd name="p0y13" fmla="*/ 240 h 2497"/>
                <a:gd name="p0x14" fmla="*/ 0 w 8709"/>
                <a:gd name="p0y14" fmla="*/ 107 h 2497"/>
                <a:gd name="p0x15" fmla="*/ 107 w 8709"/>
                <a:gd name="p0y15" fmla="*/ 0 h 2497"/>
                <a:gd name="p0x16" fmla="*/ 240 w 8709"/>
                <a:gd name="p0y16" fmla="*/ 0 h 249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43"/>
              </p:custDataLst>
            </p:nvPr>
          </p:nvSpPr>
          <p:spPr>
            <a:xfrm>
              <a:off x="9424" y="2970"/>
              <a:ext cx="8490" cy="80"/>
            </a:xfrm>
            <a:custGeom>
              <a:avLst/>
              <a:gdLst>
                <a:gd name="sw" fmla="*/ 1 w 8490"/>
                <a:gd name="sh" fmla="*/ 1 h 80"/>
                <a:gd name="mins" fmla="min sw sh"/>
                <a:gd name="dsw" fmla="+- 0 sw mins"/>
                <a:gd name="dsh" fmla="+- 0 sh mins"/>
                <a:gd name="p0x0" fmla="*/ 91 w 8490"/>
                <a:gd name="p0y0" fmla="*/ 0 h 80"/>
                <a:gd name="p0x1" fmla="*/ 8320 w 8490"/>
                <a:gd name="p0y1" fmla="*/ 0 h 80"/>
                <a:gd name="p0x2" fmla="*/ 8387 w 8490"/>
                <a:gd name="p0y2" fmla="*/ 0 h 80"/>
                <a:gd name="p0x3" fmla="*/ 8447 w 8490"/>
                <a:gd name="p0y3" fmla="*/ 26 h 80"/>
                <a:gd name="p0x4" fmla="*/ 8490 w 8490"/>
                <a:gd name="p0y4" fmla="*/ 70 h 80"/>
                <a:gd name="p0x5" fmla="*/ 8480 w 8490"/>
                <a:gd name="p0y5" fmla="*/ 80 h 80"/>
                <a:gd name="p0x6" fmla="*/ 8439 w 8490"/>
                <a:gd name="p0y6" fmla="*/ 40 h 80"/>
                <a:gd name="p0x7" fmla="*/ 8383 w 8490"/>
                <a:gd name="p0y7" fmla="*/ 15 h 80"/>
                <a:gd name="p0x8" fmla="*/ 8320 w 8490"/>
                <a:gd name="p0y8" fmla="*/ 15 h 80"/>
                <a:gd name="p0x9" fmla="*/ 91 w 8490"/>
                <a:gd name="p0y9" fmla="*/ 15 h 80"/>
                <a:gd name="p0x10" fmla="*/ 65 w 8490"/>
                <a:gd name="p0y10" fmla="*/ 15 h 80"/>
                <a:gd name="p0x11" fmla="*/ 40 w 8490"/>
                <a:gd name="p0y11" fmla="*/ 21 h 80"/>
                <a:gd name="p0x12" fmla="*/ 17 w 8490"/>
                <a:gd name="p0y12" fmla="*/ 32 h 80"/>
                <a:gd name="p0x13" fmla="*/ 0 w 8490"/>
                <a:gd name="p0y13" fmla="*/ 18 h 80"/>
                <a:gd name="p0x14" fmla="*/ 0 w 8490"/>
                <a:gd name="p0y14" fmla="*/ 18 h 80"/>
                <a:gd name="p0x15" fmla="*/ 28 w 8490"/>
                <a:gd name="p0y15" fmla="*/ 6 h 80"/>
                <a:gd name="p0x16" fmla="*/ 59 w 8490"/>
                <a:gd name="p0y16" fmla="*/ 0 h 80"/>
                <a:gd name="p0x17" fmla="*/ 91 w 8490"/>
                <a:gd name="p0y17" fmla="*/ 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任意多边形 47"/>
            <p:cNvSpPr/>
            <p:nvPr>
              <p:custDataLst>
                <p:tags r:id="rId44"/>
              </p:custDataLst>
            </p:nvPr>
          </p:nvSpPr>
          <p:spPr>
            <a:xfrm>
              <a:off x="17904" y="3040"/>
              <a:ext cx="81" cy="2357"/>
            </a:xfrm>
            <a:custGeom>
              <a:avLst/>
              <a:gdLst>
                <a:gd name="sw" fmla="*/ 1 w 80"/>
                <a:gd name="sh" fmla="*/ 1 h 2356"/>
                <a:gd name="mins" fmla="min sw sh"/>
                <a:gd name="dsw" fmla="+- 0 sw mins"/>
                <a:gd name="dsh" fmla="+- 0 sh mins"/>
                <a:gd name="p0x0" fmla="*/ 80 w 80"/>
                <a:gd name="p0y0" fmla="*/ 169 h 2356"/>
                <a:gd name="p0x1" fmla="*/ 80 w 80"/>
                <a:gd name="p0y1" fmla="*/ 2187 h 2356"/>
                <a:gd name="p0x2" fmla="*/ 80 w 80"/>
                <a:gd name="p0y2" fmla="*/ 2253 h 2356"/>
                <a:gd name="p0x3" fmla="*/ 54 w 80"/>
                <a:gd name="p0y3" fmla="*/ 2313 h 2356"/>
                <a:gd name="p0x4" fmla="*/ 10 w 80"/>
                <a:gd name="p0y4" fmla="*/ 2356 h 2356"/>
                <a:gd name="p0x5" fmla="*/ 0 w 80"/>
                <a:gd name="p0y5" fmla="*/ 2346 h 2356"/>
                <a:gd name="p0x6" fmla="*/ 40 w 80"/>
                <a:gd name="p0y6" fmla="*/ 2305 h 2356"/>
                <a:gd name="p0x7" fmla="*/ 65 w 80"/>
                <a:gd name="p0y7" fmla="*/ 2249 h 2356"/>
                <a:gd name="p0x8" fmla="*/ 65 w 80"/>
                <a:gd name="p0y8" fmla="*/ 2187 h 2356"/>
                <a:gd name="p0x9" fmla="*/ 65 w 80"/>
                <a:gd name="p0y9" fmla="*/ 169 h 2356"/>
                <a:gd name="p0x10" fmla="*/ 65 w 80"/>
                <a:gd name="p0y10" fmla="*/ 107 h 2356"/>
                <a:gd name="p0x11" fmla="*/ 40 w 80"/>
                <a:gd name="p0y11" fmla="*/ 51 h 2356"/>
                <a:gd name="p0x12" fmla="*/ 0 w 80"/>
                <a:gd name="p0y12" fmla="*/ 10 h 2356"/>
                <a:gd name="p0x13" fmla="*/ 10 w 80"/>
                <a:gd name="p0y13" fmla="*/ 0 h 2356"/>
                <a:gd name="p0x14" fmla="*/ 10 w 80"/>
                <a:gd name="p0y14" fmla="*/ 0 h 2356"/>
                <a:gd name="p0x15" fmla="*/ 54 w 80"/>
                <a:gd name="p0y15" fmla="*/ 43 h 2356"/>
                <a:gd name="p0x16" fmla="*/ 80 w 80"/>
                <a:gd name="p0y16" fmla="*/ 103 h 2356"/>
                <a:gd name="p0x17" fmla="*/ 80 w 80"/>
                <a:gd name="p0y17" fmla="*/ 169 h 235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任意多边形 48"/>
            <p:cNvSpPr/>
            <p:nvPr>
              <p:custDataLst>
                <p:tags r:id="rId45"/>
              </p:custDataLst>
            </p:nvPr>
          </p:nvSpPr>
          <p:spPr>
            <a:xfrm>
              <a:off x="9424" y="5386"/>
              <a:ext cx="8490" cy="81"/>
            </a:xfrm>
            <a:custGeom>
              <a:avLst/>
              <a:gdLst>
                <a:gd name="sw" fmla="*/ 1 w 8490"/>
                <a:gd name="sh" fmla="*/ 1 h 80"/>
                <a:gd name="mins" fmla="min sw sh"/>
                <a:gd name="dsw" fmla="+- 0 sw mins"/>
                <a:gd name="dsh" fmla="+- 0 sh mins"/>
                <a:gd name="p0x0" fmla="*/ 8320 w 8490"/>
                <a:gd name="p0y0" fmla="*/ 80 h 80"/>
                <a:gd name="p0x1" fmla="*/ 91 w 8490"/>
                <a:gd name="p0y1" fmla="*/ 80 h 80"/>
                <a:gd name="p0x2" fmla="*/ 59 w 8490"/>
                <a:gd name="p0y2" fmla="*/ 80 h 80"/>
                <a:gd name="p0x3" fmla="*/ 28 w 8490"/>
                <a:gd name="p0y3" fmla="*/ 74 h 80"/>
                <a:gd name="p0x4" fmla="*/ 0 w 8490"/>
                <a:gd name="p0y4" fmla="*/ 62 h 80"/>
                <a:gd name="p0x5" fmla="*/ 17 w 8490"/>
                <a:gd name="p0y5" fmla="*/ 48 h 80"/>
                <a:gd name="p0x6" fmla="*/ 17 w 8490"/>
                <a:gd name="p0y6" fmla="*/ 48 h 80"/>
                <a:gd name="p0x7" fmla="*/ 40 w 8490"/>
                <a:gd name="p0y7" fmla="*/ 59 h 80"/>
                <a:gd name="p0x8" fmla="*/ 65 w 8490"/>
                <a:gd name="p0y8" fmla="*/ 65 h 80"/>
                <a:gd name="p0x9" fmla="*/ 91 w 8490"/>
                <a:gd name="p0y9" fmla="*/ 65 h 80"/>
                <a:gd name="p0x10" fmla="*/ 8320 w 8490"/>
                <a:gd name="p0y10" fmla="*/ 65 h 80"/>
                <a:gd name="p0x11" fmla="*/ 8383 w 8490"/>
                <a:gd name="p0y11" fmla="*/ 65 h 80"/>
                <a:gd name="p0x12" fmla="*/ 8439 w 8490"/>
                <a:gd name="p0y12" fmla="*/ 40 h 80"/>
                <a:gd name="p0x13" fmla="*/ 8480 w 8490"/>
                <a:gd name="p0y13" fmla="*/ 0 h 80"/>
                <a:gd name="p0x14" fmla="*/ 8490 w 8490"/>
                <a:gd name="p0y14" fmla="*/ 10 h 80"/>
                <a:gd name="p0x15" fmla="*/ 8447 w 8490"/>
                <a:gd name="p0y15" fmla="*/ 54 h 80"/>
                <a:gd name="p0x16" fmla="*/ 8387 w 8490"/>
                <a:gd name="p0y16" fmla="*/ 80 h 80"/>
                <a:gd name="p0x17" fmla="*/ 8320 w 8490"/>
                <a:gd name="p0y17" fmla="*/ 8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任意多边形 49"/>
            <p:cNvSpPr/>
            <p:nvPr>
              <p:custDataLst>
                <p:tags r:id="rId46"/>
              </p:custDataLst>
            </p:nvPr>
          </p:nvSpPr>
          <p:spPr>
            <a:xfrm>
              <a:off x="9275" y="2988"/>
              <a:ext cx="166" cy="2461"/>
            </a:xfrm>
            <a:custGeom>
              <a:avLst/>
              <a:gdLst>
                <a:gd name="sw" fmla="*/ 1 w 165"/>
                <a:gd name="sh" fmla="*/ 1 h 2461"/>
                <a:gd name="mins" fmla="min sw sh"/>
                <a:gd name="dsw" fmla="+- 0 sw mins"/>
                <a:gd name="dsh" fmla="+- 0 sh mins"/>
                <a:gd name="p0x0" fmla="*/ 0 w 165"/>
                <a:gd name="p0y0" fmla="*/ 2239 h 2461"/>
                <a:gd name="p0x1" fmla="*/ 0 w 165"/>
                <a:gd name="p0y1" fmla="*/ 221 h 2461"/>
                <a:gd name="p0x2" fmla="*/ 0 w 165"/>
                <a:gd name="p0y2" fmla="*/ 121 h 2461"/>
                <a:gd name="p0x3" fmla="*/ 61 w 165"/>
                <a:gd name="p0y3" fmla="*/ 36 h 2461"/>
                <a:gd name="p0x4" fmla="*/ 148 w 165"/>
                <a:gd name="p0y4" fmla="*/ 0 h 2461"/>
                <a:gd name="p0x5" fmla="*/ 165 w 165"/>
                <a:gd name="p0y5" fmla="*/ 13 h 2461"/>
                <a:gd name="p0x6" fmla="*/ 165 w 165"/>
                <a:gd name="p0y6" fmla="*/ 13 h 2461"/>
                <a:gd name="p0x7" fmla="*/ 94 w 165"/>
                <a:gd name="p0y7" fmla="*/ 47 h 2461"/>
                <a:gd name="p0x8" fmla="*/ 45 w 165"/>
                <a:gd name="p0y8" fmla="*/ 128 h 2461"/>
                <a:gd name="p0x9" fmla="*/ 45 w 165"/>
                <a:gd name="p0y9" fmla="*/ 221 h 2461"/>
                <a:gd name="p0x10" fmla="*/ 45 w 165"/>
                <a:gd name="p0y10" fmla="*/ 2239 h 2461"/>
                <a:gd name="p0x11" fmla="*/ 45 w 165"/>
                <a:gd name="p0y11" fmla="*/ 2333 h 2461"/>
                <a:gd name="p0x12" fmla="*/ 94 w 165"/>
                <a:gd name="p0y12" fmla="*/ 2413 h 2461"/>
                <a:gd name="p0x13" fmla="*/ 165 w 165"/>
                <a:gd name="p0y13" fmla="*/ 2447 h 2461"/>
                <a:gd name="p0x14" fmla="*/ 148 w 165"/>
                <a:gd name="p0y14" fmla="*/ 2460 h 2461"/>
                <a:gd name="p0x15" fmla="*/ 148 w 165"/>
                <a:gd name="p0y15" fmla="*/ 2461 h 2461"/>
                <a:gd name="p0x16" fmla="*/ 61 w 165"/>
                <a:gd name="p0y16" fmla="*/ 2424 h 2461"/>
                <a:gd name="p0x17" fmla="*/ 0 w 165"/>
                <a:gd name="p0y17" fmla="*/ 2339 h 2461"/>
                <a:gd name="p0x18" fmla="*/ 0 w 165"/>
                <a:gd name="p0y18" fmla="*/ 2239 h 246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2" name="文本框 51"/>
          <p:cNvSpPr txBox="1"/>
          <p:nvPr>
            <p:custDataLst>
              <p:tags r:id="rId47"/>
            </p:custDataLst>
          </p:nvPr>
        </p:nvSpPr>
        <p:spPr>
          <a:xfrm>
            <a:off x="6071216" y="2148869"/>
            <a:ext cx="518733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情绪升级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53" name="文本框 52"/>
          <p:cNvSpPr txBox="1"/>
          <p:nvPr>
            <p:custDataLst>
              <p:tags r:id="rId48"/>
            </p:custDataLst>
          </p:nvPr>
        </p:nvSpPr>
        <p:spPr>
          <a:xfrm>
            <a:off x="6071216" y="2511771"/>
            <a:ext cx="4572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B8A"/>
                </a:solidFill>
                <a:cs typeface="+mn-lt"/>
              </a:rPr>
              <a:t>情绪激烈、提投诉、历史承诺争议</a:t>
            </a:r>
            <a:r>
              <a:rPr sz="1500" b="1">
                <a:solidFill>
                  <a:schemeClr val="accent1"/>
                </a:solidFill>
                <a:cs typeface="+mn-lt"/>
              </a:rPr>
              <a:t>先安抚再交人工</a:t>
            </a:r>
            <a:endParaRPr sz="15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54" name="任意多边形 53"/>
          <p:cNvSpPr/>
          <p:nvPr>
            <p:custDataLst>
              <p:tags r:id="rId49"/>
            </p:custDataLst>
          </p:nvPr>
        </p:nvSpPr>
        <p:spPr>
          <a:xfrm>
            <a:off x="6070600" y="2954655"/>
            <a:ext cx="762635" cy="228600"/>
          </a:xfrm>
          <a:custGeom>
            <a:avLst/>
            <a:gdLst>
              <a:gd name="sw" fmla="*/ 1 w 1200"/>
              <a:gd name="sh" fmla="*/ 1 h 360"/>
              <a:gd name="mins" fmla="min sw sh"/>
              <a:gd name="dsw" fmla="+- 0 sw mins"/>
              <a:gd name="dsh" fmla="+- 0 sh mins"/>
              <a:gd name="p0x0" fmla="*/ 120 w 1200"/>
              <a:gd name="p0y0" fmla="*/ 0 h 360"/>
              <a:gd name="p0x1" fmla="*/ 1080 w 1200"/>
              <a:gd name="p0y1" fmla="*/ 0 h 360"/>
              <a:gd name="p0x2" fmla="*/ 1146 w 1200"/>
              <a:gd name="p0y2" fmla="*/ 0 h 360"/>
              <a:gd name="p0x3" fmla="*/ 1200 w 1200"/>
              <a:gd name="p0y3" fmla="*/ 53 h 360"/>
              <a:gd name="p0x4" fmla="*/ 1200 w 1200"/>
              <a:gd name="p0y4" fmla="*/ 120 h 360"/>
              <a:gd name="p0x5" fmla="*/ 1200 w 1200"/>
              <a:gd name="p0y5" fmla="*/ 240 h 360"/>
              <a:gd name="p0x6" fmla="*/ 1200 w 1200"/>
              <a:gd name="p0y6" fmla="*/ 306 h 360"/>
              <a:gd name="p0x7" fmla="*/ 1146 w 1200"/>
              <a:gd name="p0y7" fmla="*/ 360 h 360"/>
              <a:gd name="p0x8" fmla="*/ 1080 w 1200"/>
              <a:gd name="p0y8" fmla="*/ 360 h 360"/>
              <a:gd name="p0x9" fmla="*/ 120 w 1200"/>
              <a:gd name="p0y9" fmla="*/ 360 h 360"/>
              <a:gd name="p0x10" fmla="*/ 53 w 1200"/>
              <a:gd name="p0y10" fmla="*/ 360 h 360"/>
              <a:gd name="p0x11" fmla="*/ 0 w 1200"/>
              <a:gd name="p0y11" fmla="*/ 306 h 360"/>
              <a:gd name="p0x12" fmla="*/ 0 w 1200"/>
              <a:gd name="p0y12" fmla="*/ 240 h 360"/>
              <a:gd name="p0x13" fmla="*/ 0 w 1200"/>
              <a:gd name="p0y13" fmla="*/ 120 h 360"/>
              <a:gd name="p0x14" fmla="*/ 0 w 1200"/>
              <a:gd name="p0y14" fmla="*/ 53 h 360"/>
              <a:gd name="p0x15" fmla="*/ 53 w 1200"/>
              <a:gd name="p0y15" fmla="*/ 0 h 360"/>
              <a:gd name="p0x16" fmla="*/ 120 w 120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50"/>
            </p:custDataLst>
          </p:nvPr>
        </p:nvSpPr>
        <p:spPr>
          <a:xfrm>
            <a:off x="6147416" y="2965609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1163"/>
                  </a:schemeClr>
                </a:solidFill>
                <a:cs typeface="+mn-lt"/>
              </a:rPr>
              <a:t>设计价值</a:t>
            </a:r>
            <a:endParaRPr sz="1200" b="1">
              <a:solidFill>
                <a:schemeClr val="accent1">
                  <a:lumMod val="51163"/>
                </a:schemeClr>
              </a:solidFill>
              <a:cs typeface="+mn-lt"/>
            </a:endParaRPr>
          </a:p>
        </p:txBody>
      </p:sp>
      <p:sp>
        <p:nvSpPr>
          <p:cNvPr id="56" name="文本框 55"/>
          <p:cNvSpPr txBox="1"/>
          <p:nvPr>
            <p:custDataLst>
              <p:tags r:id="rId51"/>
            </p:custDataLst>
          </p:nvPr>
        </p:nvSpPr>
        <p:spPr>
          <a:xfrm>
            <a:off x="6909492" y="2933252"/>
            <a:ext cx="2057476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高风险问题快速人工兜底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5889625" y="3585845"/>
            <a:ext cx="5530850" cy="1586230"/>
            <a:chOff x="9275" y="5647"/>
            <a:chExt cx="8710" cy="2498"/>
          </a:xfrm>
        </p:grpSpPr>
        <p:sp>
          <p:nvSpPr>
            <p:cNvPr id="57" name="任意多边形 56"/>
            <p:cNvSpPr/>
            <p:nvPr>
              <p:custDataLst>
                <p:tags r:id="rId52"/>
              </p:custDataLst>
            </p:nvPr>
          </p:nvSpPr>
          <p:spPr>
            <a:xfrm>
              <a:off x="9275" y="5647"/>
              <a:ext cx="8710" cy="2498"/>
            </a:xfrm>
            <a:custGeom>
              <a:avLst/>
              <a:gdLst>
                <a:gd name="sw" fmla="*/ 1 w 8709"/>
                <a:gd name="sh" fmla="*/ 1 h 2497"/>
                <a:gd name="mins" fmla="min sw sh"/>
                <a:gd name="dsw" fmla="+- 0 sw mins"/>
                <a:gd name="dsh" fmla="+- 0 sh mins"/>
                <a:gd name="p0x0" fmla="*/ 240 w 8709"/>
                <a:gd name="p0y0" fmla="*/ 0 h 2497"/>
                <a:gd name="p0x1" fmla="*/ 8469 w 8709"/>
                <a:gd name="p0y1" fmla="*/ 0 h 2497"/>
                <a:gd name="p0x2" fmla="*/ 8601 w 8709"/>
                <a:gd name="p0y2" fmla="*/ 0 h 2497"/>
                <a:gd name="p0x3" fmla="*/ 8709 w 8709"/>
                <a:gd name="p0y3" fmla="*/ 107 h 2497"/>
                <a:gd name="p0x4" fmla="*/ 8709 w 8709"/>
                <a:gd name="p0y4" fmla="*/ 240 h 2497"/>
                <a:gd name="p0x5" fmla="*/ 8709 w 8709"/>
                <a:gd name="p0y5" fmla="*/ 2257 h 2497"/>
                <a:gd name="p0x6" fmla="*/ 8709 w 8709"/>
                <a:gd name="p0y6" fmla="*/ 2390 h 2497"/>
                <a:gd name="p0x7" fmla="*/ 8601 w 8709"/>
                <a:gd name="p0y7" fmla="*/ 2497 h 2497"/>
                <a:gd name="p0x8" fmla="*/ 8469 w 8709"/>
                <a:gd name="p0y8" fmla="*/ 2497 h 2497"/>
                <a:gd name="p0x9" fmla="*/ 240 w 8709"/>
                <a:gd name="p0y9" fmla="*/ 2497 h 2497"/>
                <a:gd name="p0x10" fmla="*/ 107 w 8709"/>
                <a:gd name="p0y10" fmla="*/ 2497 h 2497"/>
                <a:gd name="p0x11" fmla="*/ 0 w 8709"/>
                <a:gd name="p0y11" fmla="*/ 2390 h 2497"/>
                <a:gd name="p0x12" fmla="*/ 0 w 8709"/>
                <a:gd name="p0y12" fmla="*/ 2257 h 2497"/>
                <a:gd name="p0x13" fmla="*/ 0 w 8709"/>
                <a:gd name="p0y13" fmla="*/ 240 h 2497"/>
                <a:gd name="p0x14" fmla="*/ 0 w 8709"/>
                <a:gd name="p0y14" fmla="*/ 107 h 2497"/>
                <a:gd name="p0x15" fmla="*/ 107 w 8709"/>
                <a:gd name="p0y15" fmla="*/ 0 h 2497"/>
                <a:gd name="p0x16" fmla="*/ 240 w 8709"/>
                <a:gd name="p0y16" fmla="*/ 0 h 249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bg2">
                <a:lumMod val="0"/>
                <a:lumOff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>
              <p:custDataLst>
                <p:tags r:id="rId53"/>
              </p:custDataLst>
            </p:nvPr>
          </p:nvSpPr>
          <p:spPr>
            <a:xfrm>
              <a:off x="9424" y="5647"/>
              <a:ext cx="8490" cy="81"/>
            </a:xfrm>
            <a:custGeom>
              <a:avLst/>
              <a:gdLst>
                <a:gd name="sw" fmla="*/ 1 w 8490"/>
                <a:gd name="sh" fmla="*/ 1 h 80"/>
                <a:gd name="mins" fmla="min sw sh"/>
                <a:gd name="dsw" fmla="+- 0 sw mins"/>
                <a:gd name="dsh" fmla="+- 0 sh mins"/>
                <a:gd name="p0x0" fmla="*/ 91 w 8490"/>
                <a:gd name="p0y0" fmla="*/ 0 h 80"/>
                <a:gd name="p0x1" fmla="*/ 8320 w 8490"/>
                <a:gd name="p0y1" fmla="*/ 0 h 80"/>
                <a:gd name="p0x2" fmla="*/ 8387 w 8490"/>
                <a:gd name="p0y2" fmla="*/ 0 h 80"/>
                <a:gd name="p0x3" fmla="*/ 8447 w 8490"/>
                <a:gd name="p0y3" fmla="*/ 26 h 80"/>
                <a:gd name="p0x4" fmla="*/ 8490 w 8490"/>
                <a:gd name="p0y4" fmla="*/ 70 h 80"/>
                <a:gd name="p0x5" fmla="*/ 8480 w 8490"/>
                <a:gd name="p0y5" fmla="*/ 80 h 80"/>
                <a:gd name="p0x6" fmla="*/ 8439 w 8490"/>
                <a:gd name="p0y6" fmla="*/ 40 h 80"/>
                <a:gd name="p0x7" fmla="*/ 8383 w 8490"/>
                <a:gd name="p0y7" fmla="*/ 15 h 80"/>
                <a:gd name="p0x8" fmla="*/ 8320 w 8490"/>
                <a:gd name="p0y8" fmla="*/ 15 h 80"/>
                <a:gd name="p0x9" fmla="*/ 91 w 8490"/>
                <a:gd name="p0y9" fmla="*/ 15 h 80"/>
                <a:gd name="p0x10" fmla="*/ 65 w 8490"/>
                <a:gd name="p0y10" fmla="*/ 15 h 80"/>
                <a:gd name="p0x11" fmla="*/ 40 w 8490"/>
                <a:gd name="p0y11" fmla="*/ 21 h 80"/>
                <a:gd name="p0x12" fmla="*/ 17 w 8490"/>
                <a:gd name="p0y12" fmla="*/ 32 h 80"/>
                <a:gd name="p0x13" fmla="*/ 0 w 8490"/>
                <a:gd name="p0y13" fmla="*/ 18 h 80"/>
                <a:gd name="p0x14" fmla="*/ 0 w 8490"/>
                <a:gd name="p0y14" fmla="*/ 18 h 80"/>
                <a:gd name="p0x15" fmla="*/ 28 w 8490"/>
                <a:gd name="p0y15" fmla="*/ 6 h 80"/>
                <a:gd name="p0x16" fmla="*/ 59 w 8490"/>
                <a:gd name="p0y16" fmla="*/ 0 h 80"/>
                <a:gd name="p0x17" fmla="*/ 91 w 8490"/>
                <a:gd name="p0y17" fmla="*/ 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任意多边形 58"/>
            <p:cNvSpPr/>
            <p:nvPr>
              <p:custDataLst>
                <p:tags r:id="rId54"/>
              </p:custDataLst>
            </p:nvPr>
          </p:nvSpPr>
          <p:spPr>
            <a:xfrm>
              <a:off x="17904" y="5717"/>
              <a:ext cx="81" cy="2357"/>
            </a:xfrm>
            <a:custGeom>
              <a:avLst/>
              <a:gdLst>
                <a:gd name="sw" fmla="*/ 1 w 80"/>
                <a:gd name="sh" fmla="*/ 1 h 2356"/>
                <a:gd name="mins" fmla="min sw sh"/>
                <a:gd name="dsw" fmla="+- 0 sw mins"/>
                <a:gd name="dsh" fmla="+- 0 sh mins"/>
                <a:gd name="p0x0" fmla="*/ 80 w 80"/>
                <a:gd name="p0y0" fmla="*/ 169 h 2356"/>
                <a:gd name="p0x1" fmla="*/ 80 w 80"/>
                <a:gd name="p0y1" fmla="*/ 2187 h 2356"/>
                <a:gd name="p0x2" fmla="*/ 80 w 80"/>
                <a:gd name="p0y2" fmla="*/ 2253 h 2356"/>
                <a:gd name="p0x3" fmla="*/ 54 w 80"/>
                <a:gd name="p0y3" fmla="*/ 2313 h 2356"/>
                <a:gd name="p0x4" fmla="*/ 10 w 80"/>
                <a:gd name="p0y4" fmla="*/ 2356 h 2356"/>
                <a:gd name="p0x5" fmla="*/ 0 w 80"/>
                <a:gd name="p0y5" fmla="*/ 2346 h 2356"/>
                <a:gd name="p0x6" fmla="*/ 40 w 80"/>
                <a:gd name="p0y6" fmla="*/ 2305 h 2356"/>
                <a:gd name="p0x7" fmla="*/ 65 w 80"/>
                <a:gd name="p0y7" fmla="*/ 2249 h 2356"/>
                <a:gd name="p0x8" fmla="*/ 65 w 80"/>
                <a:gd name="p0y8" fmla="*/ 2187 h 2356"/>
                <a:gd name="p0x9" fmla="*/ 65 w 80"/>
                <a:gd name="p0y9" fmla="*/ 169 h 2356"/>
                <a:gd name="p0x10" fmla="*/ 65 w 80"/>
                <a:gd name="p0y10" fmla="*/ 107 h 2356"/>
                <a:gd name="p0x11" fmla="*/ 40 w 80"/>
                <a:gd name="p0y11" fmla="*/ 51 h 2356"/>
                <a:gd name="p0x12" fmla="*/ 0 w 80"/>
                <a:gd name="p0y12" fmla="*/ 10 h 2356"/>
                <a:gd name="p0x13" fmla="*/ 10 w 80"/>
                <a:gd name="p0y13" fmla="*/ 0 h 2356"/>
                <a:gd name="p0x14" fmla="*/ 54 w 80"/>
                <a:gd name="p0y14" fmla="*/ 43 h 2356"/>
                <a:gd name="p0x15" fmla="*/ 80 w 80"/>
                <a:gd name="p0y15" fmla="*/ 103 h 2356"/>
                <a:gd name="p0x16" fmla="*/ 80 w 80"/>
                <a:gd name="p0y16" fmla="*/ 169 h 235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任意多边形 59"/>
            <p:cNvSpPr/>
            <p:nvPr>
              <p:custDataLst>
                <p:tags r:id="rId55"/>
              </p:custDataLst>
            </p:nvPr>
          </p:nvSpPr>
          <p:spPr>
            <a:xfrm>
              <a:off x="9424" y="8064"/>
              <a:ext cx="8490" cy="81"/>
            </a:xfrm>
            <a:custGeom>
              <a:avLst/>
              <a:gdLst>
                <a:gd name="sw" fmla="*/ 1 w 8490"/>
                <a:gd name="sh" fmla="*/ 1 h 80"/>
                <a:gd name="mins" fmla="min sw sh"/>
                <a:gd name="dsw" fmla="+- 0 sw mins"/>
                <a:gd name="dsh" fmla="+- 0 sh mins"/>
                <a:gd name="p0x0" fmla="*/ 8320 w 8490"/>
                <a:gd name="p0y0" fmla="*/ 80 h 80"/>
                <a:gd name="p0x1" fmla="*/ 91 w 8490"/>
                <a:gd name="p0y1" fmla="*/ 80 h 80"/>
                <a:gd name="p0x2" fmla="*/ 59 w 8490"/>
                <a:gd name="p0y2" fmla="*/ 80 h 80"/>
                <a:gd name="p0x3" fmla="*/ 28 w 8490"/>
                <a:gd name="p0y3" fmla="*/ 74 h 80"/>
                <a:gd name="p0x4" fmla="*/ 0 w 8490"/>
                <a:gd name="p0y4" fmla="*/ 62 h 80"/>
                <a:gd name="p0x5" fmla="*/ 17 w 8490"/>
                <a:gd name="p0y5" fmla="*/ 48 h 80"/>
                <a:gd name="p0x6" fmla="*/ 17 w 8490"/>
                <a:gd name="p0y6" fmla="*/ 48 h 80"/>
                <a:gd name="p0x7" fmla="*/ 40 w 8490"/>
                <a:gd name="p0y7" fmla="*/ 59 h 80"/>
                <a:gd name="p0x8" fmla="*/ 65 w 8490"/>
                <a:gd name="p0y8" fmla="*/ 65 h 80"/>
                <a:gd name="p0x9" fmla="*/ 91 w 8490"/>
                <a:gd name="p0y9" fmla="*/ 65 h 80"/>
                <a:gd name="p0x10" fmla="*/ 8320 w 8490"/>
                <a:gd name="p0y10" fmla="*/ 65 h 80"/>
                <a:gd name="p0x11" fmla="*/ 8383 w 8490"/>
                <a:gd name="p0y11" fmla="*/ 65 h 80"/>
                <a:gd name="p0x12" fmla="*/ 8439 w 8490"/>
                <a:gd name="p0y12" fmla="*/ 40 h 80"/>
                <a:gd name="p0x13" fmla="*/ 8480 w 8490"/>
                <a:gd name="p0y13" fmla="*/ 0 h 80"/>
                <a:gd name="p0x14" fmla="*/ 8490 w 8490"/>
                <a:gd name="p0y14" fmla="*/ 10 h 80"/>
                <a:gd name="p0x15" fmla="*/ 8447 w 8490"/>
                <a:gd name="p0y15" fmla="*/ 54 h 80"/>
                <a:gd name="p0x16" fmla="*/ 8387 w 8490"/>
                <a:gd name="p0y16" fmla="*/ 80 h 80"/>
                <a:gd name="p0x17" fmla="*/ 8320 w 8490"/>
                <a:gd name="p0y17" fmla="*/ 80 h 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chemeClr val="accent1">
                <a:alpha val="10196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任意多边形 60"/>
            <p:cNvSpPr/>
            <p:nvPr>
              <p:custDataLst>
                <p:tags r:id="rId56"/>
              </p:custDataLst>
            </p:nvPr>
          </p:nvSpPr>
          <p:spPr>
            <a:xfrm>
              <a:off x="9275" y="5665"/>
              <a:ext cx="166" cy="2461"/>
            </a:xfrm>
            <a:custGeom>
              <a:avLst/>
              <a:gdLst>
                <a:gd name="sw" fmla="*/ 1 w 165"/>
                <a:gd name="sh" fmla="*/ 1 h 2461"/>
                <a:gd name="mins" fmla="min sw sh"/>
                <a:gd name="dsw" fmla="+- 0 sw mins"/>
                <a:gd name="dsh" fmla="+- 0 sh mins"/>
                <a:gd name="p0x0" fmla="*/ 0 w 165"/>
                <a:gd name="p0y0" fmla="*/ 2239 h 2461"/>
                <a:gd name="p0x1" fmla="*/ 0 w 165"/>
                <a:gd name="p0y1" fmla="*/ 221 h 2461"/>
                <a:gd name="p0x2" fmla="*/ 0 w 165"/>
                <a:gd name="p0y2" fmla="*/ 121 h 2461"/>
                <a:gd name="p0x3" fmla="*/ 61 w 165"/>
                <a:gd name="p0y3" fmla="*/ 36 h 2461"/>
                <a:gd name="p0x4" fmla="*/ 148 w 165"/>
                <a:gd name="p0y4" fmla="*/ 0 h 2461"/>
                <a:gd name="p0x5" fmla="*/ 165 w 165"/>
                <a:gd name="p0y5" fmla="*/ 13 h 2461"/>
                <a:gd name="p0x6" fmla="*/ 165 w 165"/>
                <a:gd name="p0y6" fmla="*/ 13 h 2461"/>
                <a:gd name="p0x7" fmla="*/ 94 w 165"/>
                <a:gd name="p0y7" fmla="*/ 47 h 2461"/>
                <a:gd name="p0x8" fmla="*/ 45 w 165"/>
                <a:gd name="p0y8" fmla="*/ 128 h 2461"/>
                <a:gd name="p0x9" fmla="*/ 45 w 165"/>
                <a:gd name="p0y9" fmla="*/ 221 h 2461"/>
                <a:gd name="p0x10" fmla="*/ 45 w 165"/>
                <a:gd name="p0y10" fmla="*/ 2239 h 2461"/>
                <a:gd name="p0x11" fmla="*/ 45 w 165"/>
                <a:gd name="p0y11" fmla="*/ 2333 h 2461"/>
                <a:gd name="p0x12" fmla="*/ 94 w 165"/>
                <a:gd name="p0y12" fmla="*/ 2413 h 2461"/>
                <a:gd name="p0x13" fmla="*/ 165 w 165"/>
                <a:gd name="p0y13" fmla="*/ 2447 h 2461"/>
                <a:gd name="p0x14" fmla="*/ 148 w 165"/>
                <a:gd name="p0y14" fmla="*/ 2460 h 2461"/>
                <a:gd name="p0x15" fmla="*/ 148 w 165"/>
                <a:gd name="p0y15" fmla="*/ 2461 h 2461"/>
                <a:gd name="p0x16" fmla="*/ 61 w 165"/>
                <a:gd name="p0y16" fmla="*/ 2424 h 2461"/>
                <a:gd name="p0x17" fmla="*/ 0 w 165"/>
                <a:gd name="p0y17" fmla="*/ 2339 h 2461"/>
                <a:gd name="p0x18" fmla="*/ 0 w 165"/>
                <a:gd name="p0y18" fmla="*/ 2239 h 246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3" name="文本框 62"/>
          <p:cNvSpPr txBox="1"/>
          <p:nvPr>
            <p:custDataLst>
              <p:tags r:id="rId57"/>
            </p:custDataLst>
          </p:nvPr>
        </p:nvSpPr>
        <p:spPr>
          <a:xfrm>
            <a:off x="6071216" y="3849081"/>
            <a:ext cx="518733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chemeClr val="tx2"/>
                </a:solidFill>
                <a:cs typeface="+mn-lt"/>
              </a:rPr>
              <a:t>主动要人工</a:t>
            </a:r>
            <a:endParaRPr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64" name="文本框 63"/>
          <p:cNvSpPr txBox="1"/>
          <p:nvPr>
            <p:custDataLst>
              <p:tags r:id="rId58"/>
            </p:custDataLst>
          </p:nvPr>
        </p:nvSpPr>
        <p:spPr>
          <a:xfrm>
            <a:off x="6071216" y="4211984"/>
            <a:ext cx="5187334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A6B8A"/>
                </a:solidFill>
                <a:cs typeface="+mn-lt"/>
              </a:rPr>
              <a:t>尊重选择，</a:t>
            </a:r>
            <a:r>
              <a:rPr sz="1500" b="1">
                <a:solidFill>
                  <a:schemeClr val="accent1"/>
                </a:solidFill>
                <a:cs typeface="+mn-lt"/>
              </a:rPr>
              <a:t>立即入队</a:t>
            </a:r>
            <a:r>
              <a:rPr sz="1500">
                <a:solidFill>
                  <a:srgbClr val="4A6B8A"/>
                </a:solidFill>
                <a:cs typeface="+mn-lt"/>
              </a:rPr>
              <a:t>并同步问题摘要</a:t>
            </a:r>
            <a:endParaRPr sz="1500">
              <a:solidFill>
                <a:srgbClr val="4A6B8A"/>
              </a:solidFill>
              <a:cs typeface="+mn-lt"/>
            </a:endParaRPr>
          </a:p>
        </p:txBody>
      </p:sp>
      <p:sp>
        <p:nvSpPr>
          <p:cNvPr id="65" name="任意多边形 64"/>
          <p:cNvSpPr/>
          <p:nvPr>
            <p:custDataLst>
              <p:tags r:id="rId59"/>
            </p:custDataLst>
          </p:nvPr>
        </p:nvSpPr>
        <p:spPr>
          <a:xfrm>
            <a:off x="6070600" y="4655185"/>
            <a:ext cx="762635" cy="228600"/>
          </a:xfrm>
          <a:custGeom>
            <a:avLst/>
            <a:gdLst>
              <a:gd name="sw" fmla="*/ 1 w 1200"/>
              <a:gd name="sh" fmla="*/ 1 h 360"/>
              <a:gd name="mins" fmla="min sw sh"/>
              <a:gd name="dsw" fmla="+- 0 sw mins"/>
              <a:gd name="dsh" fmla="+- 0 sh mins"/>
              <a:gd name="p0x0" fmla="*/ 120 w 1200"/>
              <a:gd name="p0y0" fmla="*/ 0 h 360"/>
              <a:gd name="p0x1" fmla="*/ 1080 w 1200"/>
              <a:gd name="p0y1" fmla="*/ 0 h 360"/>
              <a:gd name="p0x2" fmla="*/ 1146 w 1200"/>
              <a:gd name="p0y2" fmla="*/ 0 h 360"/>
              <a:gd name="p0x3" fmla="*/ 1200 w 1200"/>
              <a:gd name="p0y3" fmla="*/ 53 h 360"/>
              <a:gd name="p0x4" fmla="*/ 1200 w 1200"/>
              <a:gd name="p0y4" fmla="*/ 120 h 360"/>
              <a:gd name="p0x5" fmla="*/ 1200 w 1200"/>
              <a:gd name="p0y5" fmla="*/ 240 h 360"/>
              <a:gd name="p0x6" fmla="*/ 1200 w 1200"/>
              <a:gd name="p0y6" fmla="*/ 306 h 360"/>
              <a:gd name="p0x7" fmla="*/ 1146 w 1200"/>
              <a:gd name="p0y7" fmla="*/ 360 h 360"/>
              <a:gd name="p0x8" fmla="*/ 1080 w 1200"/>
              <a:gd name="p0y8" fmla="*/ 360 h 360"/>
              <a:gd name="p0x9" fmla="*/ 120 w 1200"/>
              <a:gd name="p0y9" fmla="*/ 360 h 360"/>
              <a:gd name="p0x10" fmla="*/ 53 w 1200"/>
              <a:gd name="p0y10" fmla="*/ 360 h 360"/>
              <a:gd name="p0x11" fmla="*/ 0 w 1200"/>
              <a:gd name="p0y11" fmla="*/ 306 h 360"/>
              <a:gd name="p0x12" fmla="*/ 0 w 1200"/>
              <a:gd name="p0y12" fmla="*/ 240 h 360"/>
              <a:gd name="p0x13" fmla="*/ 0 w 1200"/>
              <a:gd name="p0y13" fmla="*/ 120 h 360"/>
              <a:gd name="p0x14" fmla="*/ 0 w 1200"/>
              <a:gd name="p0y14" fmla="*/ 53 h 360"/>
              <a:gd name="p0x15" fmla="*/ 53 w 1200"/>
              <a:gd name="p0y15" fmla="*/ 0 h 360"/>
              <a:gd name="p0x16" fmla="*/ 120 w 1200"/>
              <a:gd name="p0y16" fmla="*/ 0 h 3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60"/>
            </p:custDataLst>
          </p:nvPr>
        </p:nvSpPr>
        <p:spPr>
          <a:xfrm>
            <a:off x="6147416" y="4665821"/>
            <a:ext cx="762076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chemeClr val="accent1">
                    <a:lumMod val="51163"/>
                  </a:schemeClr>
                </a:solidFill>
                <a:cs typeface="+mn-lt"/>
              </a:rPr>
              <a:t>设计价值</a:t>
            </a:r>
            <a:endParaRPr sz="1200" b="1">
              <a:solidFill>
                <a:schemeClr val="accent1">
                  <a:lumMod val="51163"/>
                </a:schemeClr>
              </a:solidFill>
              <a:cs typeface="+mn-lt"/>
            </a:endParaRPr>
          </a:p>
        </p:txBody>
      </p:sp>
      <p:sp>
        <p:nvSpPr>
          <p:cNvPr id="67" name="文本框 66"/>
          <p:cNvSpPr txBox="1"/>
          <p:nvPr>
            <p:custDataLst>
              <p:tags r:id="rId61"/>
            </p:custDataLst>
          </p:nvPr>
        </p:nvSpPr>
        <p:spPr>
          <a:xfrm>
            <a:off x="6909492" y="4633465"/>
            <a:ext cx="1200226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1000"/>
              </a:lnSpc>
            </a:pPr>
            <a:r>
              <a:rPr sz="1350">
                <a:solidFill>
                  <a:schemeClr val="tx2"/>
                </a:solidFill>
                <a:cs typeface="+mn-lt"/>
              </a:rPr>
              <a:t>减少重复描述</a:t>
            </a:r>
            <a:endParaRPr sz="1350">
              <a:solidFill>
                <a:schemeClr val="tx2"/>
              </a:solidFill>
              <a:cs typeface="+mn-lt"/>
            </a:endParaRPr>
          </a:p>
        </p:txBody>
      </p:sp>
      <p:sp>
        <p:nvSpPr>
          <p:cNvPr id="68" name="任意多边形 67"/>
          <p:cNvSpPr/>
          <p:nvPr>
            <p:custDataLst>
              <p:tags r:id="rId62"/>
            </p:custDataLst>
          </p:nvPr>
        </p:nvSpPr>
        <p:spPr>
          <a:xfrm>
            <a:off x="5689600" y="5524500"/>
            <a:ext cx="5930900" cy="952500"/>
          </a:xfrm>
          <a:custGeom>
            <a:avLst/>
            <a:gdLst>
              <a:gd name="sw" fmla="*/ 1 w 9339"/>
              <a:gd name="sh" fmla="*/ 1 h 1500"/>
              <a:gd name="mins" fmla="min sw sh"/>
              <a:gd name="dsw" fmla="+- 0 sw mins"/>
              <a:gd name="dsh" fmla="+- 0 sh mins"/>
              <a:gd name="p0x0" fmla="*/ 240 w 9339"/>
              <a:gd name="p0y0" fmla="*/ 0 h 1500"/>
              <a:gd name="p0x1" fmla="*/ 9099 w 9339"/>
              <a:gd name="p0y1" fmla="*/ 0 h 1500"/>
              <a:gd name="p0x2" fmla="*/ 9231 w 9339"/>
              <a:gd name="p0y2" fmla="*/ 0 h 1500"/>
              <a:gd name="p0x3" fmla="*/ 9339 w 9339"/>
              <a:gd name="p0y3" fmla="*/ 107 h 1500"/>
              <a:gd name="p0x4" fmla="*/ 9339 w 9339"/>
              <a:gd name="p0y4" fmla="*/ 240 h 1500"/>
              <a:gd name="p0x5" fmla="*/ 9339 w 9339"/>
              <a:gd name="p0y5" fmla="*/ 1260 h 1500"/>
              <a:gd name="p0x6" fmla="*/ 9339 w 9339"/>
              <a:gd name="p0y6" fmla="*/ 1392 h 1500"/>
              <a:gd name="p0x7" fmla="*/ 9231 w 9339"/>
              <a:gd name="p0y7" fmla="*/ 1500 h 1500"/>
              <a:gd name="p0x8" fmla="*/ 9099 w 9339"/>
              <a:gd name="p0y8" fmla="*/ 1500 h 1500"/>
              <a:gd name="p0x9" fmla="*/ 240 w 9339"/>
              <a:gd name="p0y9" fmla="*/ 1500 h 1500"/>
              <a:gd name="p0x10" fmla="*/ 107 w 9339"/>
              <a:gd name="p0y10" fmla="*/ 1500 h 1500"/>
              <a:gd name="p0x11" fmla="*/ 0 w 9339"/>
              <a:gd name="p0y11" fmla="*/ 1392 h 1500"/>
              <a:gd name="p0x12" fmla="*/ 0 w 9339"/>
              <a:gd name="p0y12" fmla="*/ 1260 h 1500"/>
              <a:gd name="p0x13" fmla="*/ 0 w 9339"/>
              <a:gd name="p0y13" fmla="*/ 240 h 1500"/>
              <a:gd name="p0x14" fmla="*/ 0 w 9339"/>
              <a:gd name="p0y14" fmla="*/ 107 h 1500"/>
              <a:gd name="p0x15" fmla="*/ 107 w 9339"/>
              <a:gd name="p0y15" fmla="*/ 0 h 1500"/>
              <a:gd name="p0x16" fmla="*/ 240 w 9339"/>
              <a:gd name="p0y16" fmla="*/ 0 h 15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>
            <p:custDataLst>
              <p:tags r:id="rId63"/>
            </p:custDataLst>
          </p:nvPr>
        </p:nvSpPr>
        <p:spPr>
          <a:xfrm>
            <a:off x="5880716" y="5699760"/>
            <a:ext cx="5549284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cs typeface="+mn-lt"/>
              </a:rPr>
              <a:t>四条异常路径共同守住</a:t>
            </a:r>
            <a:r>
              <a:rPr b="1">
                <a:solidFill>
                  <a:srgbClr val="0A1E33"/>
                </a:solidFill>
                <a:cs typeface="+mn-lt"/>
              </a:rPr>
              <a:t>体验底线</a:t>
            </a:r>
            <a:r>
              <a:rPr>
                <a:solidFill>
                  <a:srgbClr val="FFFFFF"/>
                </a:solidFill>
                <a:cs typeface="+mn-lt"/>
              </a:rPr>
              <a:t>：任何时候用户不满意，都有一条顺畅的人工通道。</a:t>
            </a:r>
            <a:endParaRPr>
              <a:solidFill>
                <a:srgbClr val="FFFFFF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四大工具地图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71500" y="1104900"/>
          <a:ext cx="11049000" cy="4831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646"/>
                <a:gridCol w="2918517"/>
                <a:gridCol w="2397328"/>
                <a:gridCol w="4221508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工具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用途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触发条件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失败应对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</a:tr>
              <a:tr h="1078182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订单查询</a:t>
                      </a:r>
                      <a:endParaRPr sz="1500" b="1" spc="-15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查订单状态、详情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用户提订单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提示提供订单号或稍后再试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1078182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物流查询</a:t>
                      </a:r>
                      <a:endParaRPr sz="1500" b="1" spc="-15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查物流轨迹、预计送达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用户提快递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物流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提示物流暂未更新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78182"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工单创建</a:t>
                      </a:r>
                      <a:endParaRPr sz="1500" b="1" spc="-15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AI 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自动建工单</a:t>
                      </a:r>
                      <a:endParaRPr lang="zh-CN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判断需人工跟进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提示客服手动建单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1078411">
                <a:tc>
                  <a:txBody>
                    <a:bodyPr wrap="square"/>
                    <a:p>
                      <a:pPr algn="l"/>
                      <a:r>
                        <a:rPr lang="en-US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CRM </a:t>
                      </a:r>
                      <a:r>
                        <a:rPr lang="zh-CN"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查询</a:t>
                      </a:r>
                      <a:endParaRPr lang="zh-CN" sz="1500" b="1" spc="-15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查会员等级、历史工单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每次提问自动调取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不阻断流程</a:t>
                      </a:r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，无信息仍答通用问题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6050280"/>
            <a:ext cx="11049000" cy="426085"/>
          </a:xfrm>
          <a:custGeom>
            <a:avLst/>
            <a:gdLst>
              <a:gd name="sw" fmla="*/ 1 w 17400"/>
              <a:gd name="sh" fmla="*/ 1 h 671"/>
              <a:gd name="mins" fmla="min sw sh"/>
              <a:gd name="dsw" fmla="+- 0 sw mins"/>
              <a:gd name="dsh" fmla="+- 0 sh mins"/>
              <a:gd name="p0x0" fmla="*/ 120 w 17400"/>
              <a:gd name="p0y0" fmla="*/ 0 h 671"/>
              <a:gd name="p0x1" fmla="*/ 17280 w 17400"/>
              <a:gd name="p0y1" fmla="*/ 0 h 671"/>
              <a:gd name="p0x2" fmla="*/ 17346 w 17400"/>
              <a:gd name="p0y2" fmla="*/ 0 h 671"/>
              <a:gd name="p0x3" fmla="*/ 17400 w 17400"/>
              <a:gd name="p0y3" fmla="*/ 53 h 671"/>
              <a:gd name="p0x4" fmla="*/ 17400 w 17400"/>
              <a:gd name="p0y4" fmla="*/ 120 h 671"/>
              <a:gd name="p0x5" fmla="*/ 17400 w 17400"/>
              <a:gd name="p0y5" fmla="*/ 551 h 671"/>
              <a:gd name="p0x6" fmla="*/ 17400 w 17400"/>
              <a:gd name="p0y6" fmla="*/ 618 h 671"/>
              <a:gd name="p0x7" fmla="*/ 17346 w 17400"/>
              <a:gd name="p0y7" fmla="*/ 671 h 671"/>
              <a:gd name="p0x8" fmla="*/ 17280 w 17400"/>
              <a:gd name="p0y8" fmla="*/ 671 h 671"/>
              <a:gd name="p0x9" fmla="*/ 120 w 17400"/>
              <a:gd name="p0y9" fmla="*/ 671 h 671"/>
              <a:gd name="p0x10" fmla="*/ 53 w 17400"/>
              <a:gd name="p0y10" fmla="*/ 671 h 671"/>
              <a:gd name="p0x11" fmla="*/ 0 w 17400"/>
              <a:gd name="p0y11" fmla="*/ 618 h 671"/>
              <a:gd name="p0x12" fmla="*/ 0 w 17400"/>
              <a:gd name="p0y12" fmla="*/ 551 h 671"/>
              <a:gd name="p0x13" fmla="*/ 0 w 17400"/>
              <a:gd name="p0y13" fmla="*/ 120 h 671"/>
              <a:gd name="p0x14" fmla="*/ 0 w 17400"/>
              <a:gd name="p0y14" fmla="*/ 53 h 671"/>
              <a:gd name="p0x15" fmla="*/ 53 w 17400"/>
              <a:gd name="p0y15" fmla="*/ 0 h 671"/>
              <a:gd name="p0x16" fmla="*/ 120 w 17400"/>
              <a:gd name="p0y16" fmla="*/ 0 h 6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685800" y="613029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 descr="4ee5d067-a675-11f1-9577-b22dae881a06"/>
          <p:cNvPicPr/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6" b="6"/>
          <a:stretch>
            <a:fillRect/>
          </a:stretch>
        </p:blipFill>
        <p:spPr>
          <a:xfrm>
            <a:off x="742950" y="6187440"/>
            <a:ext cx="15240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028700" y="6111268"/>
            <a:ext cx="634387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A6B8A"/>
                </a:solidFill>
                <a:cs typeface="+mn-lt"/>
              </a:rPr>
              <a:t>工具失败</a:t>
            </a:r>
            <a:r>
              <a:rPr sz="1350" b="1">
                <a:solidFill>
                  <a:schemeClr val="accent1"/>
                </a:solidFill>
                <a:cs typeface="+mn-lt"/>
              </a:rPr>
              <a:t>一律降级不阻断</a:t>
            </a:r>
            <a:r>
              <a:rPr sz="1350">
                <a:solidFill>
                  <a:srgbClr val="4A6B8A"/>
                </a:solidFill>
                <a:cs typeface="+mn-lt"/>
              </a:rPr>
              <a:t>，保证在任何系统异常下用户都能得到可接受的服务。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8801100" y="-685800"/>
            <a:ext cx="4000500" cy="4000500"/>
          </a:xfrm>
          <a:custGeom>
            <a:avLst/>
            <a:gdLst>
              <a:gd name="sw" fmla="*/ 1 w 6300"/>
              <a:gd name="sh" fmla="*/ 1 h 6300"/>
              <a:gd name="mins" fmla="min sw sh"/>
              <a:gd name="dsw" fmla="+- 0 sw mins"/>
              <a:gd name="dsh" fmla="+- 0 sh mins"/>
              <a:gd name="p0x0" fmla="*/ 3150 w 6300"/>
              <a:gd name="p0y0" fmla="*/ 0 h 6300"/>
              <a:gd name="p0x1" fmla="*/ 4889 w 6300"/>
              <a:gd name="p0y1" fmla="*/ 0 h 6300"/>
              <a:gd name="p0x2" fmla="*/ 6300 w 6300"/>
              <a:gd name="p0y2" fmla="*/ 1410 h 6300"/>
              <a:gd name="p0x3" fmla="*/ 6300 w 6300"/>
              <a:gd name="p0y3" fmla="*/ 3150 h 6300"/>
              <a:gd name="p0x4" fmla="*/ 6300 w 6300"/>
              <a:gd name="p0y4" fmla="*/ 4889 h 6300"/>
              <a:gd name="p0x5" fmla="*/ 4889 w 6300"/>
              <a:gd name="p0y5" fmla="*/ 6300 h 6300"/>
              <a:gd name="p0x6" fmla="*/ 3150 w 6300"/>
              <a:gd name="p0y6" fmla="*/ 6300 h 6300"/>
              <a:gd name="p0x7" fmla="*/ 1410 w 6300"/>
              <a:gd name="p0y7" fmla="*/ 6300 h 6300"/>
              <a:gd name="p0x8" fmla="*/ 0 w 6300"/>
              <a:gd name="p0y8" fmla="*/ 4889 h 6300"/>
              <a:gd name="p0x9" fmla="*/ 0 w 6300"/>
              <a:gd name="p0y9" fmla="*/ 3150 h 6300"/>
              <a:gd name="p0x10" fmla="*/ 0 w 6300"/>
              <a:gd name="p0y10" fmla="*/ 1410 h 6300"/>
              <a:gd name="p0x11" fmla="*/ 1410 w 6300"/>
              <a:gd name="p0y11" fmla="*/ 0 h 6300"/>
              <a:gd name="p0x12" fmla="*/ 3150 w 6300"/>
              <a:gd name="p0y12" fmla="*/ 0 h 6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571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4"/>
            </p:custDataLst>
          </p:nvPr>
        </p:nvSpPr>
        <p:spPr>
          <a:xfrm>
            <a:off x="-365125" y="3977005"/>
            <a:ext cx="3428365" cy="3429000"/>
          </a:xfrm>
          <a:custGeom>
            <a:avLst/>
            <a:gdLst>
              <a:gd name="sw" fmla="*/ 1 w 5400"/>
              <a:gd name="sh" fmla="*/ 1 h 5400"/>
              <a:gd name="mins" fmla="min sw sh"/>
              <a:gd name="dsw" fmla="+- 0 sw mins"/>
              <a:gd name="dsh" fmla="+- 0 sh mins"/>
              <a:gd name="p0x0" fmla="*/ 2700 w 5400"/>
              <a:gd name="p0y0" fmla="*/ 0 h 5400"/>
              <a:gd name="p0x1" fmla="*/ 4191 w 5400"/>
              <a:gd name="p0y1" fmla="*/ 0 h 5400"/>
              <a:gd name="p0x2" fmla="*/ 5400 w 5400"/>
              <a:gd name="p0y2" fmla="*/ 1208 h 5400"/>
              <a:gd name="p0x3" fmla="*/ 5400 w 5400"/>
              <a:gd name="p0y3" fmla="*/ 2700 h 5400"/>
              <a:gd name="p0x4" fmla="*/ 5400 w 5400"/>
              <a:gd name="p0y4" fmla="*/ 4191 h 5400"/>
              <a:gd name="p0x5" fmla="*/ 4191 w 5400"/>
              <a:gd name="p0y5" fmla="*/ 5400 h 5400"/>
              <a:gd name="p0x6" fmla="*/ 2700 w 5400"/>
              <a:gd name="p0y6" fmla="*/ 5400 h 5400"/>
              <a:gd name="p0x7" fmla="*/ 1208 w 5400"/>
              <a:gd name="p0y7" fmla="*/ 5400 h 5400"/>
              <a:gd name="p0x8" fmla="*/ 0 w 5400"/>
              <a:gd name="p0y8" fmla="*/ 4191 h 5400"/>
              <a:gd name="p0x9" fmla="*/ 0 w 5400"/>
              <a:gd name="p0y9" fmla="*/ 2700 h 5400"/>
              <a:gd name="p0x10" fmla="*/ 0 w 5400"/>
              <a:gd name="p0y10" fmla="*/ 1208 h 5400"/>
              <a:gd name="p0x11" fmla="*/ 1208 w 5400"/>
              <a:gd name="p0y11" fmla="*/ 0 h 5400"/>
              <a:gd name="p0x12" fmla="*/ 2700 w 5400"/>
              <a:gd name="p0y12" fmla="*/ 0 h 54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47625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809625" y="1650206"/>
            <a:ext cx="1048569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 spc="315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CHAPTER</a:t>
            </a:r>
            <a:endParaRPr sz="1050" b="1" spc="315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666750" y="3508534"/>
            <a:ext cx="426720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评估体系与迭代</a:t>
            </a:r>
            <a:endParaRPr sz="42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666750" y="4436110"/>
            <a:ext cx="2525395" cy="9525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666750" y="4583906"/>
            <a:ext cx="271655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B8A"/>
                </a:solidFill>
                <a:cs typeface="+mn-lt"/>
              </a:rPr>
              <a:t>第一版不是完美，是跑通闭环</a:t>
            </a:r>
            <a:endParaRPr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666750" y="4888706"/>
            <a:ext cx="252605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30">
                <a:solidFill>
                  <a:srgbClr val="4A6B8A"/>
                </a:solidFill>
                <a:cs typeface="+mn-lt"/>
              </a:rPr>
              <a:t>验收标准与飞轮机制</a:t>
            </a:r>
            <a:endParaRPr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 rot="2700000">
            <a:off x="666115" y="1714500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3"/>
            </p:custDataLst>
          </p:nvPr>
        </p:nvSpPr>
        <p:spPr>
          <a:xfrm>
            <a:off x="1819910" y="1733550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4"/>
            </p:custDataLst>
          </p:nvPr>
        </p:nvSpPr>
        <p:spPr>
          <a:xfrm>
            <a:off x="666750" y="2097881"/>
            <a:ext cx="2569521" cy="1281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9000" b="1">
                <a:solidFill>
                  <a:srgbClr val="1A73E8">
                    <a:alpha val="12000"/>
                  </a:srgbClr>
                </a:solidFill>
                <a:latin typeface="MiSans Demibold" panose="00000700000000000000" charset="-122"/>
                <a:ea typeface="MiSans Demibold" panose="00000700000000000000" charset="-122"/>
              </a:rPr>
              <a:t>06</a:t>
            </a:r>
            <a:endParaRPr sz="9000" b="1">
              <a:solidFill>
                <a:srgbClr val="1A73E8">
                  <a:alpha val="12000"/>
                </a:srgbClr>
              </a:solidFill>
              <a:latin typeface="MiSans Demibold" panose="00000700000000000000" charset="-122"/>
              <a:ea typeface="MiSans Demibold" panose="000007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六维验收标准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585764" y="1088707"/>
            <a:ext cx="3020397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100" b="1">
                <a:solidFill>
                  <a:schemeClr val="tx2"/>
                </a:solidFill>
                <a:cs typeface="+mn-lt"/>
              </a:rPr>
              <a:t>六维标准是</a:t>
            </a:r>
            <a:r>
              <a:rPr lang="en-US" altLang="zh-CN" sz="2100" b="1">
                <a:solidFill>
                  <a:schemeClr val="tx2"/>
                </a:solidFill>
                <a:cs typeface="+mn-lt"/>
              </a:rPr>
              <a:t> </a:t>
            </a:r>
            <a:r>
              <a:rPr sz="2100" b="1">
                <a:solidFill>
                  <a:schemeClr val="accent1"/>
                </a:solidFill>
                <a:cs typeface="+mn-lt"/>
              </a:rPr>
              <a:t>上线硬门槛</a:t>
            </a:r>
            <a:endParaRPr sz="2100" b="1">
              <a:solidFill>
                <a:schemeClr val="accent1"/>
              </a:solidFill>
              <a:cs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981499" y="1476375"/>
            <a:ext cx="22289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6B8AAA"/>
                </a:solidFill>
                <a:cs typeface="+mn-lt"/>
              </a:rPr>
              <a:t>任何一项不达标都不能放量</a:t>
            </a:r>
            <a:endParaRPr sz="1350">
              <a:solidFill>
                <a:srgbClr val="6B8AAA"/>
              </a:solidFill>
              <a:cs typeface="+mn-lt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4"/>
            </p:custDataLst>
          </p:nvPr>
        </p:nvGraphicFramePr>
        <p:xfrm>
          <a:off x="581025" y="1866900"/>
          <a:ext cx="11039493" cy="4610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6015"/>
                <a:gridCol w="9543478"/>
              </a:tblGrid>
              <a:tr h="527669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类型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验收标准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8036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功能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高置信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自动回复</a:t>
                      </a:r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，中置信必进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审核队列</a:t>
                      </a:r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，低置信必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转人工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  <a:tr h="68036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流程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主动转人工、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AI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转人工、确认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修改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拒绝发送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五条主流程</a:t>
                      </a:r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跑通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  <a:tr h="68036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数据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记录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session_id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、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confidence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、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citations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、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model_name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、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latency_ms</a:t>
                      </a:r>
                      <a:endParaRPr lang="en-US" altLang="zh-CN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  <a:tr h="68036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性能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自动回复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P95≤4 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秒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，审核推送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P95≤5 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秒</a:t>
                      </a:r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，超时必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降级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  <a:tr h="68036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安全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tenant_id </a:t>
                      </a:r>
                      <a:r>
                        <a:rPr 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强制过滤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，敏感脱敏，退款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赔偿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改价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不得</a:t>
                      </a:r>
                      <a:r>
                        <a:rPr lang="en-US" alt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 AI </a:t>
                      </a:r>
                      <a:r>
                        <a:rPr lang="zh-CN" alt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自动执行</a:t>
                      </a:r>
                      <a:endParaRPr lang="zh-CN" altLang="en-US"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  <a:tr h="680590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原型还原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C 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端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不展示置信度数字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，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B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端展示</a:t>
                      </a:r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判断、来源、话术、审核操作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L>
                    <a:lnR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R>
                    <a:lnT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T>
                    <a:lnB w="9525">
                      <a:solidFill>
                        <a:schemeClr val="accent1">
                          <a:alpha val="16078"/>
                        </a:schemeClr>
                      </a:solidFill>
                      <a:prstDash val="soli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四大评估方向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571500" y="2259330"/>
          <a:ext cx="11049000" cy="421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791"/>
                <a:gridCol w="4640532"/>
                <a:gridCol w="4419676"/>
              </a:tblGrid>
              <a:tr h="51814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评估方向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看什么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产品判断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</a:tr>
              <a:tr h="924818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回答准确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是否编造政策、编造承诺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底线指标</a:t>
                      </a:r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，宁可转人工不能答错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924818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用户解决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是否继续追问、点踩、短时重问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看用户是否</a:t>
                      </a:r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真走完问题</a:t>
                      </a:r>
                      <a:endParaRPr sz="1500" b="1" spc="-15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24818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客服采用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建议话术是否被采纳或轻改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大量重写说明</a:t>
                      </a:r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不符合一线习惯</a:t>
                      </a:r>
                      <a:endParaRPr sz="1500" b="1" spc="-15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925041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1B3A5C"/>
                          </a:solidFill>
                          <a:cs typeface="+mn-lt"/>
                        </a:rPr>
                        <a:t>问题回流</a:t>
                      </a:r>
                      <a:endParaRPr sz="1500" b="1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点踩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/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转人工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/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改写是否入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Bad Case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池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AI 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产品靠</a:t>
                      </a:r>
                      <a:r>
                        <a:rPr sz="1500" b="1" spc="-15">
                          <a:solidFill>
                            <a:schemeClr val="accent1"/>
                          </a:solidFill>
                          <a:cs typeface="+mn-lt"/>
                        </a:rPr>
                        <a:t>反馈持续变好</a:t>
                      </a:r>
                      <a:endParaRPr sz="1500" b="1" spc="-15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1500" y="1104900"/>
            <a:ext cx="11049000" cy="925830"/>
          </a:xfrm>
          <a:custGeom>
            <a:avLst/>
            <a:gdLst>
              <a:gd name="sw" fmla="*/ 1 w 17400"/>
              <a:gd name="sh" fmla="*/ 1 h 1458"/>
              <a:gd name="mins" fmla="min sw sh"/>
              <a:gd name="dsw" fmla="+- 0 sw mins"/>
              <a:gd name="dsh" fmla="+- 0 sh mins"/>
              <a:gd name="p0x0" fmla="*/ 240 w 17400"/>
              <a:gd name="p0y0" fmla="*/ 0 h 1458"/>
              <a:gd name="p0x1" fmla="*/ 17160 w 17400"/>
              <a:gd name="p0y1" fmla="*/ 0 h 1458"/>
              <a:gd name="p0x2" fmla="*/ 17292 w 17400"/>
              <a:gd name="p0y2" fmla="*/ 0 h 1458"/>
              <a:gd name="p0x3" fmla="*/ 17400 w 17400"/>
              <a:gd name="p0y3" fmla="*/ 107 h 1458"/>
              <a:gd name="p0x4" fmla="*/ 17400 w 17400"/>
              <a:gd name="p0y4" fmla="*/ 240 h 1458"/>
              <a:gd name="p0x5" fmla="*/ 17400 w 17400"/>
              <a:gd name="p0y5" fmla="*/ 1218 h 1458"/>
              <a:gd name="p0x6" fmla="*/ 17400 w 17400"/>
              <a:gd name="p0y6" fmla="*/ 1350 h 1458"/>
              <a:gd name="p0x7" fmla="*/ 17292 w 17400"/>
              <a:gd name="p0y7" fmla="*/ 1458 h 1458"/>
              <a:gd name="p0x8" fmla="*/ 17160 w 17400"/>
              <a:gd name="p0y8" fmla="*/ 1458 h 1458"/>
              <a:gd name="p0x9" fmla="*/ 240 w 17400"/>
              <a:gd name="p0y9" fmla="*/ 1458 h 1458"/>
              <a:gd name="p0x10" fmla="*/ 107 w 17400"/>
              <a:gd name="p0y10" fmla="*/ 1458 h 1458"/>
              <a:gd name="p0x11" fmla="*/ 0 w 17400"/>
              <a:gd name="p0y11" fmla="*/ 1350 h 1458"/>
              <a:gd name="p0x12" fmla="*/ 0 w 17400"/>
              <a:gd name="p0y12" fmla="*/ 1218 h 1458"/>
              <a:gd name="p0x13" fmla="*/ 0 w 17400"/>
              <a:gd name="p0y13" fmla="*/ 240 h 1458"/>
              <a:gd name="p0x14" fmla="*/ 0 w 17400"/>
              <a:gd name="p0y14" fmla="*/ 107 h 1458"/>
              <a:gd name="p0x15" fmla="*/ 107 w 17400"/>
              <a:gd name="p0y15" fmla="*/ 0 h 1458"/>
              <a:gd name="p0x16" fmla="*/ 240 w 17400"/>
              <a:gd name="p0y16" fmla="*/ 0 h 145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62000" y="1409719"/>
            <a:ext cx="8447036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cs typeface="+mn-lt"/>
              </a:rPr>
              <a:t>四项评估形成</a:t>
            </a:r>
            <a:r>
              <a:rPr lang="zh-CN" b="1">
                <a:solidFill>
                  <a:srgbClr val="0A1E33"/>
                </a:solidFill>
                <a:cs typeface="+mn-lt"/>
              </a:rPr>
              <a:t>「准确</a:t>
            </a:r>
            <a:r>
              <a:rPr lang="en-US" altLang="zh-CN" b="1">
                <a:solidFill>
                  <a:srgbClr val="0A1E33"/>
                </a:solidFill>
                <a:cs typeface="+mn-lt"/>
              </a:rPr>
              <a:t> → </a:t>
            </a:r>
            <a:r>
              <a:rPr lang="zh-CN" altLang="en-US" b="1">
                <a:solidFill>
                  <a:srgbClr val="0A1E33"/>
                </a:solidFill>
                <a:cs typeface="+mn-lt"/>
              </a:rPr>
              <a:t>解决</a:t>
            </a:r>
            <a:r>
              <a:rPr lang="en-US" altLang="zh-CN" b="1">
                <a:solidFill>
                  <a:srgbClr val="0A1E33"/>
                </a:solidFill>
                <a:cs typeface="+mn-lt"/>
              </a:rPr>
              <a:t> → </a:t>
            </a:r>
            <a:r>
              <a:rPr lang="zh-CN" altLang="en-US" b="1">
                <a:solidFill>
                  <a:srgbClr val="0A1E33"/>
                </a:solidFill>
                <a:cs typeface="+mn-lt"/>
              </a:rPr>
              <a:t>采用</a:t>
            </a:r>
            <a:r>
              <a:rPr lang="en-US" altLang="zh-CN" b="1">
                <a:solidFill>
                  <a:srgbClr val="0A1E33"/>
                </a:solidFill>
                <a:cs typeface="+mn-lt"/>
              </a:rPr>
              <a:t> → </a:t>
            </a:r>
            <a:r>
              <a:rPr lang="zh-CN" altLang="en-US" b="1">
                <a:solidFill>
                  <a:srgbClr val="0A1E33"/>
                </a:solidFill>
                <a:cs typeface="+mn-lt"/>
              </a:rPr>
              <a:t>回流」</a:t>
            </a:r>
            <a:r>
              <a:rPr>
                <a:solidFill>
                  <a:srgbClr val="FFFFFF"/>
                </a:solidFill>
                <a:cs typeface="+mn-lt"/>
              </a:rPr>
              <a:t>的质量闭环，</a:t>
            </a:r>
            <a:r>
              <a:rPr b="1">
                <a:solidFill>
                  <a:srgbClr val="0A1E33"/>
                </a:solidFill>
                <a:cs typeface="+mn-lt"/>
              </a:rPr>
              <a:t>少一环效果就失真</a:t>
            </a:r>
            <a:endParaRPr b="1">
              <a:solidFill>
                <a:srgbClr val="0A1E33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六大系统风险兜底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884555"/>
          </a:xfrm>
          <a:custGeom>
            <a:avLst/>
            <a:gdLst>
              <a:gd name="sw" fmla="*/ 1 w 17400"/>
              <a:gd name="sh" fmla="*/ 1 h 1393"/>
              <a:gd name="mins" fmla="min sw sh"/>
              <a:gd name="dsw" fmla="+- 0 sw mins"/>
              <a:gd name="dsh" fmla="+- 0 sh mins"/>
              <a:gd name="p0x0" fmla="*/ 240 w 17400"/>
              <a:gd name="p0y0" fmla="*/ 0 h 1393"/>
              <a:gd name="p0x1" fmla="*/ 17160 w 17400"/>
              <a:gd name="p0y1" fmla="*/ 0 h 1393"/>
              <a:gd name="p0x2" fmla="*/ 17292 w 17400"/>
              <a:gd name="p0y2" fmla="*/ 0 h 1393"/>
              <a:gd name="p0x3" fmla="*/ 17400 w 17400"/>
              <a:gd name="p0y3" fmla="*/ 107 h 1393"/>
              <a:gd name="p0x4" fmla="*/ 17400 w 17400"/>
              <a:gd name="p0y4" fmla="*/ 240 h 1393"/>
              <a:gd name="p0x5" fmla="*/ 17400 w 17400"/>
              <a:gd name="p0y5" fmla="*/ 1153 h 1393"/>
              <a:gd name="p0x6" fmla="*/ 17400 w 17400"/>
              <a:gd name="p0y6" fmla="*/ 1285 h 1393"/>
              <a:gd name="p0x7" fmla="*/ 17292 w 17400"/>
              <a:gd name="p0y7" fmla="*/ 1393 h 1393"/>
              <a:gd name="p0x8" fmla="*/ 17160 w 17400"/>
              <a:gd name="p0y8" fmla="*/ 1393 h 1393"/>
              <a:gd name="p0x9" fmla="*/ 240 w 17400"/>
              <a:gd name="p0y9" fmla="*/ 1393 h 1393"/>
              <a:gd name="p0x10" fmla="*/ 107 w 17400"/>
              <a:gd name="p0y10" fmla="*/ 1393 h 1393"/>
              <a:gd name="p0x11" fmla="*/ 0 w 17400"/>
              <a:gd name="p0y11" fmla="*/ 1285 h 1393"/>
              <a:gd name="p0x12" fmla="*/ 0 w 17400"/>
              <a:gd name="p0y12" fmla="*/ 1153 h 1393"/>
              <a:gd name="p0x13" fmla="*/ 0 w 17400"/>
              <a:gd name="p0y13" fmla="*/ 240 h 1393"/>
              <a:gd name="p0x14" fmla="*/ 0 w 17400"/>
              <a:gd name="p0y14" fmla="*/ 107 h 1393"/>
              <a:gd name="p0x15" fmla="*/ 107 w 17400"/>
              <a:gd name="p0y15" fmla="*/ 0 h 1393"/>
              <a:gd name="p0x16" fmla="*/ 240 w 17400"/>
              <a:gd name="p0y16" fmla="*/ 0 h 13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203007"/>
            <a:ext cx="10668000" cy="3800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i="1">
                <a:solidFill>
                  <a:srgbClr val="4A6B8A"/>
                </a:solidFill>
                <a:cs typeface="+mn-lt"/>
              </a:rPr>
              <a:t>“失败时</a:t>
            </a:r>
            <a:r>
              <a:rPr b="1">
                <a:solidFill>
                  <a:schemeClr val="accent1"/>
                </a:solidFill>
                <a:cs typeface="+mn-lt"/>
              </a:rPr>
              <a:t>优雅降级</a:t>
            </a:r>
            <a:r>
              <a:rPr lang="zh-CN" i="1">
                <a:solidFill>
                  <a:srgbClr val="4A6B8A"/>
                </a:solidFill>
                <a:cs typeface="+mn-lt"/>
              </a:rPr>
              <a:t>而非强行回答，用户体验永远优先于</a:t>
            </a:r>
            <a:r>
              <a:rPr lang="en-US" altLang="zh-CN" i="1">
                <a:solidFill>
                  <a:srgbClr val="4A6B8A"/>
                </a:solidFill>
                <a:cs typeface="+mn-lt"/>
              </a:rPr>
              <a:t> AI </a:t>
            </a:r>
            <a:r>
              <a:rPr lang="zh-CN" altLang="en-US" i="1">
                <a:solidFill>
                  <a:srgbClr val="4A6B8A"/>
                </a:solidFill>
                <a:cs typeface="+mn-lt"/>
              </a:rPr>
              <a:t>逞能。”</a:t>
            </a:r>
            <a:endParaRPr lang="zh-CN" altLang="en-US" i="1">
              <a:solidFill>
                <a:srgbClr val="4A6B8A"/>
              </a:solidFill>
              <a:cs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762000" y="1630632"/>
            <a:ext cx="10668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6B8AAA"/>
                </a:solidFill>
                <a:cs typeface="+mn-lt"/>
              </a:rPr>
              <a:t>— </a:t>
            </a:r>
            <a:r>
              <a:rPr lang="zh-CN" sz="1350">
                <a:solidFill>
                  <a:srgbClr val="6B8AAA"/>
                </a:solidFill>
                <a:cs typeface="+mn-lt"/>
              </a:rPr>
              <a:t>六大系统风险兜底原则</a:t>
            </a:r>
            <a:endParaRPr lang="zh-CN" sz="1350">
              <a:solidFill>
                <a:srgbClr val="6B8AAA"/>
              </a:solidFill>
              <a:cs typeface="+mn-lt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5"/>
            </p:custDataLst>
          </p:nvPr>
        </p:nvGraphicFramePr>
        <p:xfrm>
          <a:off x="571500" y="2218055"/>
          <a:ext cx="11049000" cy="3145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187"/>
                <a:gridCol w="4790998"/>
                <a:gridCol w="3687813"/>
              </a:tblGrid>
              <a:tr h="460994"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系统风险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兜底动作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cs typeface="+mn-lt"/>
                        </a:rPr>
                        <a:t>用户感知</a:t>
                      </a:r>
                      <a:endParaRPr sz="1800" b="1">
                        <a:solidFill>
                          <a:srgbClr val="FFFFFF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83333"/>
                        <a:lumOff val="16667"/>
                      </a:schemeClr>
                    </a:solidFill>
                  </a:tcPr>
                </a:tc>
              </a:tr>
              <a:tr h="44737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模型不可用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全部转人工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「系统升级中，已转人工」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44737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知识库无匹配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检索分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&lt;0.5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不强答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「暂未找到，已转人工」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737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接口超时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sz="1500" b="0">
                          <a:solidFill>
                            <a:srgbClr val="1B3A5C"/>
                          </a:solidFill>
                          <a:cs typeface="+mn-lt"/>
                        </a:rPr>
                        <a:t>2 </a:t>
                      </a:r>
                      <a:r>
                        <a:rPr lang="zh-CN" sz="1500" b="0">
                          <a:solidFill>
                            <a:srgbClr val="1B3A5C"/>
                          </a:solidFill>
                          <a:cs typeface="+mn-lt"/>
                        </a:rPr>
                        <a:t>秒重试一次，仍失败降级或转人工</a:t>
                      </a:r>
                      <a:endParaRPr lang="zh-CN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「正在核实，稍后确认」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44737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安全风险问题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不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 AI 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回，直接转人工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+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标安全升级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「已转人工，请稍候」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7377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chemeClr val="accent1"/>
                          </a:solidFill>
                          <a:cs typeface="+mn-lt"/>
                        </a:rPr>
                        <a:t>知识库大面积过期</a:t>
                      </a:r>
                      <a:endParaRPr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自动降置信阈值，更多转人工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转人工率暂时升高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AFD"/>
                    </a:solidFill>
                  </a:tcPr>
                </a:tc>
              </a:tr>
              <a:tr h="447675">
                <a:tc>
                  <a:txBody>
                    <a:bodyPr wrap="square"/>
                    <a:p>
                      <a:pPr algn="l"/>
                      <a:r>
                        <a:rPr lang="en-US" sz="1500" b="1">
                          <a:solidFill>
                            <a:schemeClr val="accent1"/>
                          </a:solidFill>
                          <a:cs typeface="+mn-lt"/>
                        </a:rPr>
                        <a:t>API </a:t>
                      </a:r>
                      <a:r>
                        <a:rPr lang="zh-CN" sz="1500" b="1">
                          <a:solidFill>
                            <a:schemeClr val="accent1"/>
                          </a:solidFill>
                          <a:cs typeface="+mn-lt"/>
                        </a:rPr>
                        <a:t>超预算</a:t>
                      </a:r>
                      <a:endParaRPr lang="zh-CN" sz="1500" b="1">
                        <a:solidFill>
                          <a:schemeClr val="accent1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切轻量模型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关键词匹配</a:t>
                      </a:r>
                      <a:r>
                        <a:rPr lang="en-US" altLang="zh-CN" sz="1500" b="0">
                          <a:solidFill>
                            <a:srgbClr val="1B3A5C"/>
                          </a:solidFill>
                          <a:cs typeface="+mn-lt"/>
                        </a:rPr>
                        <a:t>/</a:t>
                      </a:r>
                      <a:r>
                        <a:rPr lang="zh-CN" altLang="en-US" sz="1500" b="0">
                          <a:solidFill>
                            <a:srgbClr val="1B3A5C"/>
                          </a:solidFill>
                          <a:cs typeface="+mn-lt"/>
                        </a:rPr>
                        <a:t>告警</a:t>
                      </a:r>
                      <a:endParaRPr lang="zh-CN" altLang="en-US"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1B3A5C"/>
                          </a:solidFill>
                          <a:cs typeface="+mn-lt"/>
                        </a:rPr>
                        <a:t>回答变简短或排队</a:t>
                      </a:r>
                      <a:endParaRPr sz="1500" b="0">
                        <a:solidFill>
                          <a:srgbClr val="1B3A5C"/>
                        </a:solidFill>
                        <a:cs typeface="+mn-lt"/>
                      </a:endParaRPr>
                    </a:p>
                  </a:txBody>
                  <a:tcPr marL="114300" marR="11430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571500" y="5591810"/>
            <a:ext cx="11049000" cy="885190"/>
          </a:xfrm>
          <a:custGeom>
            <a:avLst/>
            <a:gdLst>
              <a:gd name="sw" fmla="*/ 1 w 17400"/>
              <a:gd name="sh" fmla="*/ 1 h 1393"/>
              <a:gd name="mins" fmla="min sw sh"/>
              <a:gd name="dsw" fmla="+- 0 sw mins"/>
              <a:gd name="dsh" fmla="+- 0 sh mins"/>
              <a:gd name="p0x0" fmla="*/ 240 w 17400"/>
              <a:gd name="p0y0" fmla="*/ 0 h 1393"/>
              <a:gd name="p0x1" fmla="*/ 17160 w 17400"/>
              <a:gd name="p0y1" fmla="*/ 0 h 1393"/>
              <a:gd name="p0x2" fmla="*/ 17292 w 17400"/>
              <a:gd name="p0y2" fmla="*/ 0 h 1393"/>
              <a:gd name="p0x3" fmla="*/ 17400 w 17400"/>
              <a:gd name="p0y3" fmla="*/ 107 h 1393"/>
              <a:gd name="p0x4" fmla="*/ 17400 w 17400"/>
              <a:gd name="p0y4" fmla="*/ 240 h 1393"/>
              <a:gd name="p0x5" fmla="*/ 17400 w 17400"/>
              <a:gd name="p0y5" fmla="*/ 1153 h 1393"/>
              <a:gd name="p0x6" fmla="*/ 17400 w 17400"/>
              <a:gd name="p0y6" fmla="*/ 1285 h 1393"/>
              <a:gd name="p0x7" fmla="*/ 17292 w 17400"/>
              <a:gd name="p0y7" fmla="*/ 1393 h 1393"/>
              <a:gd name="p0x8" fmla="*/ 17160 w 17400"/>
              <a:gd name="p0y8" fmla="*/ 1393 h 1393"/>
              <a:gd name="p0x9" fmla="*/ 240 w 17400"/>
              <a:gd name="p0y9" fmla="*/ 1393 h 1393"/>
              <a:gd name="p0x10" fmla="*/ 107 w 17400"/>
              <a:gd name="p0y10" fmla="*/ 1393 h 1393"/>
              <a:gd name="p0x11" fmla="*/ 0 w 17400"/>
              <a:gd name="p0y11" fmla="*/ 1285 h 1393"/>
              <a:gd name="p0x12" fmla="*/ 0 w 17400"/>
              <a:gd name="p0y12" fmla="*/ 1153 h 1393"/>
              <a:gd name="p0x13" fmla="*/ 0 w 17400"/>
              <a:gd name="p0y13" fmla="*/ 240 h 1393"/>
              <a:gd name="p0x14" fmla="*/ 0 w 17400"/>
              <a:gd name="p0y14" fmla="*/ 107 h 1393"/>
              <a:gd name="p0x15" fmla="*/ 107 w 17400"/>
              <a:gd name="p0y15" fmla="*/ 0 h 1393"/>
              <a:gd name="p0x16" fmla="*/ 240 w 17400"/>
              <a:gd name="p0y16" fmla="*/ 0 h 13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762000" y="5690473"/>
            <a:ext cx="10668000" cy="38004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9000"/>
              </a:lnSpc>
            </a:pPr>
            <a:r>
              <a:rPr i="1">
                <a:solidFill>
                  <a:srgbClr val="4A6B8A"/>
                </a:solidFill>
                <a:cs typeface="+mn-lt"/>
              </a:rPr>
              <a:t>“</a:t>
            </a:r>
            <a:r>
              <a:rPr b="1">
                <a:solidFill>
                  <a:schemeClr val="accent1"/>
                </a:solidFill>
                <a:cs typeface="+mn-lt"/>
              </a:rPr>
              <a:t>用户体验</a:t>
            </a:r>
            <a:r>
              <a:rPr lang="zh-CN" i="1">
                <a:solidFill>
                  <a:srgbClr val="4A6B8A"/>
                </a:solidFill>
                <a:cs typeface="+mn-lt"/>
              </a:rPr>
              <a:t>的优先级，永远高于</a:t>
            </a:r>
            <a:r>
              <a:rPr lang="en-US" altLang="zh-CN" i="1">
                <a:solidFill>
                  <a:srgbClr val="4A6B8A"/>
                </a:solidFill>
                <a:cs typeface="+mn-lt"/>
              </a:rPr>
              <a:t> AI </a:t>
            </a:r>
            <a:r>
              <a:rPr lang="zh-CN" altLang="en-US" i="1">
                <a:solidFill>
                  <a:srgbClr val="4A6B8A"/>
                </a:solidFill>
                <a:cs typeface="+mn-lt"/>
              </a:rPr>
              <a:t>逞能。”</a:t>
            </a:r>
            <a:endParaRPr lang="zh-CN" altLang="en-US" i="1">
              <a:solidFill>
                <a:srgbClr val="4A6B8A"/>
              </a:solidFill>
              <a:cs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762000" y="6118098"/>
            <a:ext cx="10668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6B8AAA"/>
                </a:solidFill>
                <a:cs typeface="+mn-lt"/>
              </a:rPr>
              <a:t>— </a:t>
            </a:r>
            <a:r>
              <a:rPr lang="zh-CN" sz="1350">
                <a:solidFill>
                  <a:srgbClr val="6B8AAA"/>
                </a:solidFill>
                <a:cs typeface="+mn-lt"/>
              </a:rPr>
              <a:t>兜底设计的最终取舍</a:t>
            </a:r>
            <a:endParaRPr lang="zh-CN" sz="1350">
              <a:solidFill>
                <a:srgbClr val="6B8AAA"/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三阶段版本规划与飞轮</a:t>
            </a:r>
            <a:endParaRPr sz="3000" b="1">
              <a:solidFill>
                <a:srgbClr val="1B3A5C"/>
              </a:solidFill>
              <a:latin typeface="+mj-lt"/>
              <a:ea typeface="+mj-ea"/>
              <a:cs typeface="+mj-lt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491490"/>
          </a:xfrm>
          <a:custGeom>
            <a:avLst/>
            <a:gdLst>
              <a:gd name="sw" fmla="*/ 1 w 17400"/>
              <a:gd name="sh" fmla="*/ 1 h 774"/>
              <a:gd name="mins" fmla="min sw sh"/>
              <a:gd name="dsw" fmla="+- 0 sw mins"/>
              <a:gd name="dsh" fmla="+- 0 sh mins"/>
              <a:gd name="p0x0" fmla="*/ 240 w 17400"/>
              <a:gd name="p0y0" fmla="*/ 0 h 774"/>
              <a:gd name="p0x1" fmla="*/ 17160 w 17400"/>
              <a:gd name="p0y1" fmla="*/ 0 h 774"/>
              <a:gd name="p0x2" fmla="*/ 17292 w 17400"/>
              <a:gd name="p0y2" fmla="*/ 0 h 774"/>
              <a:gd name="p0x3" fmla="*/ 17400 w 17400"/>
              <a:gd name="p0y3" fmla="*/ 107 h 774"/>
              <a:gd name="p0x4" fmla="*/ 17400 w 17400"/>
              <a:gd name="p0y4" fmla="*/ 240 h 774"/>
              <a:gd name="p0x5" fmla="*/ 17400 w 17400"/>
              <a:gd name="p0y5" fmla="*/ 534 h 774"/>
              <a:gd name="p0x6" fmla="*/ 17400 w 17400"/>
              <a:gd name="p0y6" fmla="*/ 666 h 774"/>
              <a:gd name="p0x7" fmla="*/ 17292 w 17400"/>
              <a:gd name="p0y7" fmla="*/ 774 h 774"/>
              <a:gd name="p0x8" fmla="*/ 17160 w 17400"/>
              <a:gd name="p0y8" fmla="*/ 774 h 774"/>
              <a:gd name="p0x9" fmla="*/ 240 w 17400"/>
              <a:gd name="p0y9" fmla="*/ 774 h 774"/>
              <a:gd name="p0x10" fmla="*/ 107 w 17400"/>
              <a:gd name="p0y10" fmla="*/ 774 h 774"/>
              <a:gd name="p0x11" fmla="*/ 0 w 17400"/>
              <a:gd name="p0y11" fmla="*/ 666 h 774"/>
              <a:gd name="p0x12" fmla="*/ 0 w 17400"/>
              <a:gd name="p0y12" fmla="*/ 534 h 774"/>
              <a:gd name="p0x13" fmla="*/ 0 w 17400"/>
              <a:gd name="p0y13" fmla="*/ 240 h 774"/>
              <a:gd name="p0x14" fmla="*/ 0 w 17400"/>
              <a:gd name="p0y14" fmla="*/ 107 h 774"/>
              <a:gd name="p0x15" fmla="*/ 107 w 17400"/>
              <a:gd name="p0y15" fmla="*/ 0 h 774"/>
              <a:gd name="p0x16" fmla="*/ 240 w 17400"/>
              <a:gd name="p0y16" fmla="*/ 0 h 7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lumMod val="83333"/>
              <a:lumOff val="16667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23900" y="1217266"/>
            <a:ext cx="3238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第一版的目标不是完美，是</a:t>
            </a:r>
            <a:r>
              <a:rPr sz="1500" b="1">
                <a:solidFill>
                  <a:srgbClr val="0A1E33"/>
                </a:solidFill>
                <a:cs typeface="+mn-lt"/>
              </a:rPr>
              <a:t>跑通闭环</a:t>
            </a:r>
            <a:endParaRPr sz="1500" b="1">
              <a:solidFill>
                <a:srgbClr val="0A1E33"/>
              </a:solidFill>
              <a:cs typeface="+mn-lt"/>
            </a:endParaRPr>
          </a:p>
        </p:txBody>
      </p:sp>
      <p:sp>
        <p:nvSpPr>
          <p:cNvPr id="101" name="任意多边形 100"/>
          <p:cNvSpPr/>
          <p:nvPr>
            <p:custDataLst>
              <p:tags r:id="rId4"/>
            </p:custDataLst>
          </p:nvPr>
        </p:nvSpPr>
        <p:spPr>
          <a:xfrm>
            <a:off x="571500" y="5984875"/>
            <a:ext cx="11049000" cy="491490"/>
          </a:xfrm>
          <a:custGeom>
            <a:avLst/>
            <a:gdLst>
              <a:gd name="sw" fmla="*/ 1 w 17400"/>
              <a:gd name="sh" fmla="*/ 1 h 774"/>
              <a:gd name="mins" fmla="min sw sh"/>
              <a:gd name="dsw" fmla="+- 0 sw mins"/>
              <a:gd name="dsh" fmla="+- 0 sh mins"/>
              <a:gd name="p0x0" fmla="*/ 240 w 17400"/>
              <a:gd name="p0y0" fmla="*/ 0 h 774"/>
              <a:gd name="p0x1" fmla="*/ 17160 w 17400"/>
              <a:gd name="p0y1" fmla="*/ 0 h 774"/>
              <a:gd name="p0x2" fmla="*/ 17292 w 17400"/>
              <a:gd name="p0y2" fmla="*/ 0 h 774"/>
              <a:gd name="p0x3" fmla="*/ 17400 w 17400"/>
              <a:gd name="p0y3" fmla="*/ 107 h 774"/>
              <a:gd name="p0x4" fmla="*/ 17400 w 17400"/>
              <a:gd name="p0y4" fmla="*/ 240 h 774"/>
              <a:gd name="p0x5" fmla="*/ 17400 w 17400"/>
              <a:gd name="p0y5" fmla="*/ 534 h 774"/>
              <a:gd name="p0x6" fmla="*/ 17400 w 17400"/>
              <a:gd name="p0y6" fmla="*/ 666 h 774"/>
              <a:gd name="p0x7" fmla="*/ 17292 w 17400"/>
              <a:gd name="p0y7" fmla="*/ 774 h 774"/>
              <a:gd name="p0x8" fmla="*/ 17160 w 17400"/>
              <a:gd name="p0y8" fmla="*/ 774 h 774"/>
              <a:gd name="p0x9" fmla="*/ 240 w 17400"/>
              <a:gd name="p0y9" fmla="*/ 774 h 774"/>
              <a:gd name="p0x10" fmla="*/ 107 w 17400"/>
              <a:gd name="p0y10" fmla="*/ 774 h 774"/>
              <a:gd name="p0x11" fmla="*/ 0 w 17400"/>
              <a:gd name="p0y11" fmla="*/ 666 h 774"/>
              <a:gd name="p0x12" fmla="*/ 0 w 17400"/>
              <a:gd name="p0y12" fmla="*/ 534 h 774"/>
              <a:gd name="p0x13" fmla="*/ 0 w 17400"/>
              <a:gd name="p0y13" fmla="*/ 240 h 774"/>
              <a:gd name="p0x14" fmla="*/ 0 w 17400"/>
              <a:gd name="p0y14" fmla="*/ 107 h 774"/>
              <a:gd name="p0x15" fmla="*/ 107 w 17400"/>
              <a:gd name="p0y15" fmla="*/ 0 h 774"/>
              <a:gd name="p0x16" fmla="*/ 240 w 17400"/>
              <a:gd name="p0y16" fmla="*/ 0 h 7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bg2">
              <a:lumMod val="0"/>
              <a:lumOff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文本框 101"/>
          <p:cNvSpPr txBox="1"/>
          <p:nvPr>
            <p:custDataLst>
              <p:tags r:id="rId5"/>
            </p:custDataLst>
          </p:nvPr>
        </p:nvSpPr>
        <p:spPr>
          <a:xfrm>
            <a:off x="723900" y="6073092"/>
            <a:ext cx="10111835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i="1">
                <a:solidFill>
                  <a:srgbClr val="4A6B8A"/>
                </a:solidFill>
                <a:cs typeface="+mn-lt"/>
              </a:rPr>
              <a:t>“第一版的目标不是完美，是跑通</a:t>
            </a:r>
            <a:r>
              <a:rPr lang="zh-CN" b="1" i="1">
                <a:solidFill>
                  <a:schemeClr val="accent1"/>
                </a:solidFill>
                <a:cs typeface="+mn-lt"/>
              </a:rPr>
              <a:t>「</a:t>
            </a:r>
            <a:r>
              <a:rPr lang="en-US" altLang="zh-CN" b="1" i="1">
                <a:solidFill>
                  <a:schemeClr val="accent1"/>
                </a:solidFill>
                <a:cs typeface="+mn-lt"/>
              </a:rPr>
              <a:t>AI </a:t>
            </a:r>
            <a:r>
              <a:rPr lang="zh-CN" altLang="en-US" b="1" i="1">
                <a:solidFill>
                  <a:schemeClr val="accent1"/>
                </a:solidFill>
                <a:cs typeface="+mn-lt"/>
              </a:rPr>
              <a:t>回答</a:t>
            </a:r>
            <a:r>
              <a:rPr lang="en-US" altLang="zh-CN" b="1" i="1">
                <a:solidFill>
                  <a:schemeClr val="accent1"/>
                </a:solidFill>
                <a:cs typeface="+mn-lt"/>
              </a:rPr>
              <a:t> → </a:t>
            </a:r>
            <a:r>
              <a:rPr lang="zh-CN" altLang="en-US" b="1" i="1">
                <a:solidFill>
                  <a:schemeClr val="accent1"/>
                </a:solidFill>
                <a:cs typeface="+mn-lt"/>
              </a:rPr>
              <a:t>用户反馈</a:t>
            </a:r>
            <a:r>
              <a:rPr lang="en-US" altLang="zh-CN" b="1" i="1">
                <a:solidFill>
                  <a:schemeClr val="accent1"/>
                </a:solidFill>
                <a:cs typeface="+mn-lt"/>
              </a:rPr>
              <a:t> → </a:t>
            </a:r>
            <a:r>
              <a:rPr lang="zh-CN" altLang="en-US" b="1" i="1">
                <a:solidFill>
                  <a:schemeClr val="accent1"/>
                </a:solidFill>
                <a:cs typeface="+mn-lt"/>
              </a:rPr>
              <a:t>数据沉淀</a:t>
            </a:r>
            <a:r>
              <a:rPr lang="en-US" altLang="zh-CN" b="1" i="1">
                <a:solidFill>
                  <a:schemeClr val="accent1"/>
                </a:solidFill>
                <a:cs typeface="+mn-lt"/>
              </a:rPr>
              <a:t> → </a:t>
            </a:r>
            <a:r>
              <a:rPr lang="zh-CN" altLang="en-US" b="1" i="1">
                <a:solidFill>
                  <a:schemeClr val="accent1"/>
                </a:solidFill>
                <a:cs typeface="+mn-lt"/>
              </a:rPr>
              <a:t>模型更好」</a:t>
            </a:r>
            <a:r>
              <a:rPr i="1">
                <a:solidFill>
                  <a:srgbClr val="4A6B8A"/>
                </a:solidFill>
                <a:cs typeface="+mn-lt"/>
              </a:rPr>
              <a:t>的闭环。”</a:t>
            </a:r>
            <a:endParaRPr i="1">
              <a:solidFill>
                <a:srgbClr val="4A6B8A"/>
              </a:solidFill>
              <a:cs typeface="+mn-lt"/>
            </a:endParaRPr>
          </a:p>
        </p:txBody>
      </p:sp>
      <p:sp>
        <p:nvSpPr>
          <p:cNvPr id="6" name="任意多边形 5"/>
          <p:cNvSpPr/>
          <p:nvPr>
            <p:custDataLst>
              <p:tags r:id="rId6"/>
            </p:custDataLst>
          </p:nvPr>
        </p:nvSpPr>
        <p:spPr>
          <a:xfrm>
            <a:off x="902335" y="1887220"/>
            <a:ext cx="10386695" cy="28575"/>
          </a:xfrm>
          <a:custGeom>
            <a:avLst/>
            <a:gdLst>
              <a:gd name="sw" fmla="*/ 1 w 16356"/>
              <a:gd name="sh" fmla="*/ 1 h 45"/>
              <a:gd name="mins" fmla="min sw sh"/>
              <a:gd name="dsw" fmla="+- 0 sw mins"/>
              <a:gd name="dsh" fmla="+- 0 sh mins"/>
              <a:gd name="p0x0" fmla="*/ 22 w 16356"/>
              <a:gd name="p0y0" fmla="*/ 0 h 45"/>
              <a:gd name="p0x1" fmla="*/ 16333 w 16356"/>
              <a:gd name="p0y1" fmla="*/ 0 h 45"/>
              <a:gd name="p0x2" fmla="*/ 16346 w 16356"/>
              <a:gd name="p0y2" fmla="*/ 0 h 45"/>
              <a:gd name="p0x3" fmla="*/ 16356 w 16356"/>
              <a:gd name="p0y3" fmla="*/ 10 h 45"/>
              <a:gd name="p0x4" fmla="*/ 16356 w 16356"/>
              <a:gd name="p0y4" fmla="*/ 22 h 45"/>
              <a:gd name="p0x5" fmla="*/ 16356 w 16356"/>
              <a:gd name="p0y5" fmla="*/ 34 h 45"/>
              <a:gd name="p0x6" fmla="*/ 16346 w 16356"/>
              <a:gd name="p0y6" fmla="*/ 45 h 45"/>
              <a:gd name="p0x7" fmla="*/ 16333 w 16356"/>
              <a:gd name="p0y7" fmla="*/ 45 h 45"/>
              <a:gd name="p0x8" fmla="*/ 22 w 16356"/>
              <a:gd name="p0y8" fmla="*/ 45 h 45"/>
              <a:gd name="p0x9" fmla="*/ 10 w 16356"/>
              <a:gd name="p0y9" fmla="*/ 45 h 45"/>
              <a:gd name="p0x10" fmla="*/ 0 w 16356"/>
              <a:gd name="p0y10" fmla="*/ 34 h 45"/>
              <a:gd name="p0x11" fmla="*/ 0 w 16356"/>
              <a:gd name="p0y11" fmla="*/ 22 h 45"/>
              <a:gd name="p0x12" fmla="*/ 0 w 16356"/>
              <a:gd name="p0y12" fmla="*/ 10 h 45"/>
              <a:gd name="p0x13" fmla="*/ 10 w 16356"/>
              <a:gd name="p0y13" fmla="*/ 0 h 45"/>
              <a:gd name="p0x14" fmla="*/ 22 w 16356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16268"/>
                  <a:lumOff val="83732"/>
                </a:schemeClr>
              </a:gs>
              <a:gs pos="50000">
                <a:schemeClr val="accent1"/>
              </a:gs>
              <a:gs pos="100000">
                <a:schemeClr val="accent2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2359660" y="1848485"/>
            <a:ext cx="104775" cy="104775"/>
          </a:xfrm>
          <a:custGeom>
            <a:avLst/>
            <a:gdLst>
              <a:gd name="sw" fmla="*/ 1 w 165"/>
              <a:gd name="sh" fmla="*/ 1 h 165"/>
              <a:gd name="mins" fmla="min sw sh"/>
              <a:gd name="dsw" fmla="+- 0 sw mins"/>
              <a:gd name="dsh" fmla="+- 0 sh mins"/>
              <a:gd name="p0x0" fmla="*/ 82 w 165"/>
              <a:gd name="p0y0" fmla="*/ 0 h 165"/>
              <a:gd name="p0x1" fmla="*/ 128 w 165"/>
              <a:gd name="p0y1" fmla="*/ 0 h 165"/>
              <a:gd name="p0x2" fmla="*/ 165 w 165"/>
              <a:gd name="p0y2" fmla="*/ 36 h 165"/>
              <a:gd name="p0x3" fmla="*/ 165 w 165"/>
              <a:gd name="p0y3" fmla="*/ 82 h 165"/>
              <a:gd name="p0x4" fmla="*/ 165 w 165"/>
              <a:gd name="p0y4" fmla="*/ 128 h 165"/>
              <a:gd name="p0x5" fmla="*/ 128 w 165"/>
              <a:gd name="p0y5" fmla="*/ 165 h 165"/>
              <a:gd name="p0x6" fmla="*/ 82 w 165"/>
              <a:gd name="p0y6" fmla="*/ 165 h 165"/>
              <a:gd name="p0x7" fmla="*/ 36 w 165"/>
              <a:gd name="p0y7" fmla="*/ 165 h 165"/>
              <a:gd name="p0x8" fmla="*/ 0 w 165"/>
              <a:gd name="p0y8" fmla="*/ 128 h 165"/>
              <a:gd name="p0x9" fmla="*/ 0 w 165"/>
              <a:gd name="p0y9" fmla="*/ 82 h 165"/>
              <a:gd name="p0x10" fmla="*/ 0 w 165"/>
              <a:gd name="p0y10" fmla="*/ 36 h 165"/>
              <a:gd name="p0x11" fmla="*/ 36 w 165"/>
              <a:gd name="p0y11" fmla="*/ 0 h 165"/>
              <a:gd name="p0x12" fmla="*/ 82 w 165"/>
              <a:gd name="p0y12" fmla="*/ 0 h 16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28575" cmpd="sng">
            <a:solidFill>
              <a:srgbClr val="F7FAFD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6043295" y="1848485"/>
            <a:ext cx="104775" cy="104775"/>
          </a:xfrm>
          <a:custGeom>
            <a:avLst/>
            <a:gdLst>
              <a:gd name="sw" fmla="*/ 1 w 165"/>
              <a:gd name="sh" fmla="*/ 1 h 165"/>
              <a:gd name="mins" fmla="min sw sh"/>
              <a:gd name="dsw" fmla="+- 0 sw mins"/>
              <a:gd name="dsh" fmla="+- 0 sh mins"/>
              <a:gd name="p0x0" fmla="*/ 82 w 165"/>
              <a:gd name="p0y0" fmla="*/ 0 h 165"/>
              <a:gd name="p0x1" fmla="*/ 128 w 165"/>
              <a:gd name="p0y1" fmla="*/ 0 h 165"/>
              <a:gd name="p0x2" fmla="*/ 165 w 165"/>
              <a:gd name="p0y2" fmla="*/ 36 h 165"/>
              <a:gd name="p0x3" fmla="*/ 165 w 165"/>
              <a:gd name="p0y3" fmla="*/ 82 h 165"/>
              <a:gd name="p0x4" fmla="*/ 165 w 165"/>
              <a:gd name="p0y4" fmla="*/ 128 h 165"/>
              <a:gd name="p0x5" fmla="*/ 128 w 165"/>
              <a:gd name="p0y5" fmla="*/ 165 h 165"/>
              <a:gd name="p0x6" fmla="*/ 82 w 165"/>
              <a:gd name="p0y6" fmla="*/ 165 h 165"/>
              <a:gd name="p0x7" fmla="*/ 36 w 165"/>
              <a:gd name="p0y7" fmla="*/ 165 h 165"/>
              <a:gd name="p0x8" fmla="*/ 0 w 165"/>
              <a:gd name="p0y8" fmla="*/ 128 h 165"/>
              <a:gd name="p0x9" fmla="*/ 0 w 165"/>
              <a:gd name="p0y9" fmla="*/ 82 h 165"/>
              <a:gd name="p0x10" fmla="*/ 0 w 165"/>
              <a:gd name="p0y10" fmla="*/ 36 h 165"/>
              <a:gd name="p0x11" fmla="*/ 36 w 165"/>
              <a:gd name="p0y11" fmla="*/ 0 h 165"/>
              <a:gd name="p0x12" fmla="*/ 82 w 165"/>
              <a:gd name="p0y12" fmla="*/ 0 h 16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28575" cmpd="sng">
            <a:solidFill>
              <a:srgbClr val="F7FAFD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9"/>
            </p:custDataLst>
          </p:nvPr>
        </p:nvSpPr>
        <p:spPr>
          <a:xfrm>
            <a:off x="9725660" y="1848485"/>
            <a:ext cx="104775" cy="104775"/>
          </a:xfrm>
          <a:custGeom>
            <a:avLst/>
            <a:gdLst>
              <a:gd name="sw" fmla="*/ 1 w 165"/>
              <a:gd name="sh" fmla="*/ 1 h 165"/>
              <a:gd name="mins" fmla="min sw sh"/>
              <a:gd name="dsw" fmla="+- 0 sw mins"/>
              <a:gd name="dsh" fmla="+- 0 sh mins"/>
              <a:gd name="p0x0" fmla="*/ 82 w 165"/>
              <a:gd name="p0y0" fmla="*/ 0 h 165"/>
              <a:gd name="p0x1" fmla="*/ 128 w 165"/>
              <a:gd name="p0y1" fmla="*/ 0 h 165"/>
              <a:gd name="p0x2" fmla="*/ 165 w 165"/>
              <a:gd name="p0y2" fmla="*/ 36 h 165"/>
              <a:gd name="p0x3" fmla="*/ 165 w 165"/>
              <a:gd name="p0y3" fmla="*/ 82 h 165"/>
              <a:gd name="p0x4" fmla="*/ 165 w 165"/>
              <a:gd name="p0y4" fmla="*/ 128 h 165"/>
              <a:gd name="p0x5" fmla="*/ 128 w 165"/>
              <a:gd name="p0y5" fmla="*/ 165 h 165"/>
              <a:gd name="p0x6" fmla="*/ 82 w 165"/>
              <a:gd name="p0y6" fmla="*/ 165 h 165"/>
              <a:gd name="p0x7" fmla="*/ 36 w 165"/>
              <a:gd name="p0y7" fmla="*/ 165 h 165"/>
              <a:gd name="p0x8" fmla="*/ 0 w 165"/>
              <a:gd name="p0y8" fmla="*/ 128 h 165"/>
              <a:gd name="p0x9" fmla="*/ 0 w 165"/>
              <a:gd name="p0y9" fmla="*/ 82 h 165"/>
              <a:gd name="p0x10" fmla="*/ 0 w 165"/>
              <a:gd name="p0y10" fmla="*/ 36 h 165"/>
              <a:gd name="p0x11" fmla="*/ 36 w 165"/>
              <a:gd name="p0y11" fmla="*/ 0 h 165"/>
              <a:gd name="p0x12" fmla="*/ 82 w 165"/>
              <a:gd name="p0y12" fmla="*/ 0 h 16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 w="28575" cmpd="sng">
            <a:solidFill>
              <a:srgbClr val="F7FAFD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>
            <a:off x="575945" y="2058035"/>
            <a:ext cx="3546475" cy="2348865"/>
          </a:xfrm>
          <a:custGeom>
            <a:avLst/>
            <a:gdLst>
              <a:gd name="sw" fmla="*/ 1 w 5585"/>
              <a:gd name="sh" fmla="*/ 1 h 3698"/>
              <a:gd name="mins" fmla="min sw sh"/>
              <a:gd name="dsw" fmla="+- 0 sw mins"/>
              <a:gd name="dsh" fmla="+- 0 sh mins"/>
              <a:gd name="p0x0" fmla="*/ 300 w 5585"/>
              <a:gd name="p0y0" fmla="*/ 0 h 3698"/>
              <a:gd name="p0x1" fmla="*/ 5285 w 5585"/>
              <a:gd name="p0y1" fmla="*/ 0 h 3698"/>
              <a:gd name="p0x2" fmla="*/ 5450 w 5585"/>
              <a:gd name="p0y2" fmla="*/ 0 h 3698"/>
              <a:gd name="p0x3" fmla="*/ 5585 w 5585"/>
              <a:gd name="p0y3" fmla="*/ 134 h 3698"/>
              <a:gd name="p0x4" fmla="*/ 5585 w 5585"/>
              <a:gd name="p0y4" fmla="*/ 300 h 3698"/>
              <a:gd name="p0x5" fmla="*/ 5585 w 5585"/>
              <a:gd name="p0y5" fmla="*/ 3398 h 3698"/>
              <a:gd name="p0x6" fmla="*/ 5585 w 5585"/>
              <a:gd name="p0y6" fmla="*/ 3564 h 3698"/>
              <a:gd name="p0x7" fmla="*/ 5450 w 5585"/>
              <a:gd name="p0y7" fmla="*/ 3698 h 3698"/>
              <a:gd name="p0x8" fmla="*/ 5285 w 5585"/>
              <a:gd name="p0y8" fmla="*/ 3698 h 3698"/>
              <a:gd name="p0x9" fmla="*/ 300 w 5585"/>
              <a:gd name="p0y9" fmla="*/ 3698 h 3698"/>
              <a:gd name="p0x10" fmla="*/ 134 w 5585"/>
              <a:gd name="p0y10" fmla="*/ 3698 h 3698"/>
              <a:gd name="p0x11" fmla="*/ 0 w 5585"/>
              <a:gd name="p0y11" fmla="*/ 3564 h 3698"/>
              <a:gd name="p0x12" fmla="*/ 0 w 5585"/>
              <a:gd name="p0y12" fmla="*/ 3398 h 3698"/>
              <a:gd name="p0x13" fmla="*/ 0 w 5585"/>
              <a:gd name="p0y13" fmla="*/ 300 h 3698"/>
              <a:gd name="p0x14" fmla="*/ 0 w 5585"/>
              <a:gd name="p0y14" fmla="*/ 134 h 3698"/>
              <a:gd name="p0x15" fmla="*/ 134 w 5585"/>
              <a:gd name="p0y15" fmla="*/ 0 h 3698"/>
              <a:gd name="p0x16" fmla="*/ 300 w 5585"/>
              <a:gd name="p0y16" fmla="*/ 0 h 36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>
            <a:off x="771525" y="2253615"/>
            <a:ext cx="713105" cy="238125"/>
          </a:xfrm>
          <a:custGeom>
            <a:avLst/>
            <a:gdLst>
              <a:gd name="sw" fmla="*/ 1 w 1123"/>
              <a:gd name="sh" fmla="*/ 1 h 375"/>
              <a:gd name="mins" fmla="min sw sh"/>
              <a:gd name="dsw" fmla="+- 0 sw mins"/>
              <a:gd name="dsh" fmla="+- 0 sh mins"/>
              <a:gd name="p0x0" fmla="*/ 187 w 1123"/>
              <a:gd name="p0y0" fmla="*/ 0 h 375"/>
              <a:gd name="p0x1" fmla="*/ 935 w 1123"/>
              <a:gd name="p0y1" fmla="*/ 0 h 375"/>
              <a:gd name="p0x2" fmla="*/ 1039 w 1123"/>
              <a:gd name="p0y2" fmla="*/ 0 h 375"/>
              <a:gd name="p0x3" fmla="*/ 1123 w 1123"/>
              <a:gd name="p0y3" fmla="*/ 83 h 375"/>
              <a:gd name="p0x4" fmla="*/ 1123 w 1123"/>
              <a:gd name="p0y4" fmla="*/ 187 h 375"/>
              <a:gd name="p0x5" fmla="*/ 1123 w 1123"/>
              <a:gd name="p0y5" fmla="*/ 291 h 375"/>
              <a:gd name="p0x6" fmla="*/ 1039 w 1123"/>
              <a:gd name="p0y6" fmla="*/ 375 h 375"/>
              <a:gd name="p0x7" fmla="*/ 935 w 1123"/>
              <a:gd name="p0y7" fmla="*/ 375 h 375"/>
              <a:gd name="p0x8" fmla="*/ 187 w 1123"/>
              <a:gd name="p0y8" fmla="*/ 375 h 375"/>
              <a:gd name="p0x9" fmla="*/ 83 w 1123"/>
              <a:gd name="p0y9" fmla="*/ 375 h 375"/>
              <a:gd name="p0x10" fmla="*/ 0 w 1123"/>
              <a:gd name="p0y10" fmla="*/ 291 h 375"/>
              <a:gd name="p0x11" fmla="*/ 0 w 1123"/>
              <a:gd name="p0y11" fmla="*/ 187 h 375"/>
              <a:gd name="p0x12" fmla="*/ 0 w 1123"/>
              <a:gd name="p0y12" fmla="*/ 83 h 375"/>
              <a:gd name="p0x13" fmla="*/ 83 w 1123"/>
              <a:gd name="p0y13" fmla="*/ 0 h 375"/>
              <a:gd name="p0x14" fmla="*/ 187 w 1123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885825" y="2272684"/>
            <a:ext cx="637061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阶段一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771525" y="2551767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1B3A5C"/>
                </a:solidFill>
                <a:cs typeface="+mn-lt"/>
              </a:rPr>
              <a:t>跑通</a:t>
            </a:r>
            <a:r>
              <a:rPr lang="en-US" altLang="zh-CN" sz="2100" b="1" spc="42">
                <a:solidFill>
                  <a:srgbClr val="1B3A5C"/>
                </a:solidFill>
                <a:cs typeface="+mn-lt"/>
              </a:rPr>
              <a:t> MVP</a:t>
            </a:r>
            <a:endParaRPr lang="en-US" altLang="zh-CN"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771525" y="2963247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重点：</a:t>
            </a:r>
            <a:r>
              <a:rPr sz="1500">
                <a:solidFill>
                  <a:schemeClr val="tx2"/>
                </a:solidFill>
                <a:cs typeface="+mn-lt"/>
              </a:rPr>
              <a:t>文本客服、高频问答、审核、转人工、基础反馈</a:t>
            </a:r>
            <a:endParaRPr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771525" y="3648094"/>
            <a:ext cx="31559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chemeClr val="tx2"/>
                </a:solidFill>
                <a:cs typeface="+mn-lt"/>
              </a:rPr>
              <a:t>安排逻辑：</a:t>
            </a:r>
            <a:r>
              <a:rPr lang="zh-CN" sz="1350">
                <a:solidFill>
                  <a:srgbClr val="4A6B8A"/>
                </a:solidFill>
                <a:cs typeface="+mn-lt"/>
              </a:rPr>
              <a:t>先验证</a:t>
            </a:r>
            <a:r>
              <a:rPr lang="en-US" altLang="zh-CN" sz="1350">
                <a:solidFill>
                  <a:srgbClr val="4A6B8A"/>
                </a:solidFill>
                <a:cs typeface="+mn-lt"/>
              </a:rPr>
              <a:t> AI </a:t>
            </a:r>
            <a:r>
              <a:rPr lang="zh-CN" altLang="en-US" sz="1350">
                <a:solidFill>
                  <a:srgbClr val="4A6B8A"/>
                </a:solidFill>
                <a:cs typeface="+mn-lt"/>
              </a:rPr>
              <a:t>能否稳定解决简单问题</a:t>
            </a:r>
            <a:endParaRPr lang="zh-CN" altLang="en-US"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20" name="任意多边形 19"/>
          <p:cNvSpPr/>
          <p:nvPr>
            <p:custDataLst>
              <p:tags r:id="rId16"/>
            </p:custDataLst>
          </p:nvPr>
        </p:nvSpPr>
        <p:spPr>
          <a:xfrm>
            <a:off x="4322445" y="2058035"/>
            <a:ext cx="3546475" cy="2348865"/>
          </a:xfrm>
          <a:custGeom>
            <a:avLst/>
            <a:gdLst>
              <a:gd name="sw" fmla="*/ 1 w 5585"/>
              <a:gd name="sh" fmla="*/ 1 h 3698"/>
              <a:gd name="mins" fmla="min sw sh"/>
              <a:gd name="dsw" fmla="+- 0 sw mins"/>
              <a:gd name="dsh" fmla="+- 0 sh mins"/>
              <a:gd name="p0x0" fmla="*/ 300 w 5585"/>
              <a:gd name="p0y0" fmla="*/ 0 h 3698"/>
              <a:gd name="p0x1" fmla="*/ 5285 w 5585"/>
              <a:gd name="p0y1" fmla="*/ 0 h 3698"/>
              <a:gd name="p0x2" fmla="*/ 5450 w 5585"/>
              <a:gd name="p0y2" fmla="*/ 0 h 3698"/>
              <a:gd name="p0x3" fmla="*/ 5585 w 5585"/>
              <a:gd name="p0y3" fmla="*/ 134 h 3698"/>
              <a:gd name="p0x4" fmla="*/ 5585 w 5585"/>
              <a:gd name="p0y4" fmla="*/ 300 h 3698"/>
              <a:gd name="p0x5" fmla="*/ 5585 w 5585"/>
              <a:gd name="p0y5" fmla="*/ 3398 h 3698"/>
              <a:gd name="p0x6" fmla="*/ 5585 w 5585"/>
              <a:gd name="p0y6" fmla="*/ 3564 h 3698"/>
              <a:gd name="p0x7" fmla="*/ 5450 w 5585"/>
              <a:gd name="p0y7" fmla="*/ 3698 h 3698"/>
              <a:gd name="p0x8" fmla="*/ 5285 w 5585"/>
              <a:gd name="p0y8" fmla="*/ 3698 h 3698"/>
              <a:gd name="p0x9" fmla="*/ 300 w 5585"/>
              <a:gd name="p0y9" fmla="*/ 3698 h 3698"/>
              <a:gd name="p0x10" fmla="*/ 134 w 5585"/>
              <a:gd name="p0y10" fmla="*/ 3698 h 3698"/>
              <a:gd name="p0x11" fmla="*/ 0 w 5585"/>
              <a:gd name="p0y11" fmla="*/ 3564 h 3698"/>
              <a:gd name="p0x12" fmla="*/ 0 w 5585"/>
              <a:gd name="p0y12" fmla="*/ 3398 h 3698"/>
              <a:gd name="p0x13" fmla="*/ 0 w 5585"/>
              <a:gd name="p0y13" fmla="*/ 300 h 3698"/>
              <a:gd name="p0x14" fmla="*/ 0 w 5585"/>
              <a:gd name="p0y14" fmla="*/ 134 h 3698"/>
              <a:gd name="p0x15" fmla="*/ 134 w 5585"/>
              <a:gd name="p0y15" fmla="*/ 0 h 3698"/>
              <a:gd name="p0x16" fmla="*/ 300 w 5585"/>
              <a:gd name="p0y16" fmla="*/ 0 h 36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17"/>
            </p:custDataLst>
          </p:nvPr>
        </p:nvSpPr>
        <p:spPr>
          <a:xfrm>
            <a:off x="4518025" y="2253615"/>
            <a:ext cx="713105" cy="238125"/>
          </a:xfrm>
          <a:custGeom>
            <a:avLst/>
            <a:gdLst>
              <a:gd name="sw" fmla="*/ 1 w 1123"/>
              <a:gd name="sh" fmla="*/ 1 h 375"/>
              <a:gd name="mins" fmla="min sw sh"/>
              <a:gd name="dsw" fmla="+- 0 sw mins"/>
              <a:gd name="dsh" fmla="+- 0 sh mins"/>
              <a:gd name="p0x0" fmla="*/ 187 w 1123"/>
              <a:gd name="p0y0" fmla="*/ 0 h 375"/>
              <a:gd name="p0x1" fmla="*/ 935 w 1123"/>
              <a:gd name="p0y1" fmla="*/ 0 h 375"/>
              <a:gd name="p0x2" fmla="*/ 1039 w 1123"/>
              <a:gd name="p0y2" fmla="*/ 0 h 375"/>
              <a:gd name="p0x3" fmla="*/ 1123 w 1123"/>
              <a:gd name="p0y3" fmla="*/ 83 h 375"/>
              <a:gd name="p0x4" fmla="*/ 1123 w 1123"/>
              <a:gd name="p0y4" fmla="*/ 187 h 375"/>
              <a:gd name="p0x5" fmla="*/ 1123 w 1123"/>
              <a:gd name="p0y5" fmla="*/ 291 h 375"/>
              <a:gd name="p0x6" fmla="*/ 1039 w 1123"/>
              <a:gd name="p0y6" fmla="*/ 375 h 375"/>
              <a:gd name="p0x7" fmla="*/ 935 w 1123"/>
              <a:gd name="p0y7" fmla="*/ 375 h 375"/>
              <a:gd name="p0x8" fmla="*/ 187 w 1123"/>
              <a:gd name="p0y8" fmla="*/ 375 h 375"/>
              <a:gd name="p0x9" fmla="*/ 83 w 1123"/>
              <a:gd name="p0y9" fmla="*/ 375 h 375"/>
              <a:gd name="p0x10" fmla="*/ 0 w 1123"/>
              <a:gd name="p0y10" fmla="*/ 291 h 375"/>
              <a:gd name="p0x11" fmla="*/ 0 w 1123"/>
              <a:gd name="p0y11" fmla="*/ 187 h 375"/>
              <a:gd name="p0x12" fmla="*/ 0 w 1123"/>
              <a:gd name="p0y12" fmla="*/ 83 h 375"/>
              <a:gd name="p0x13" fmla="*/ 83 w 1123"/>
              <a:gd name="p0y13" fmla="*/ 0 h 375"/>
              <a:gd name="p0x14" fmla="*/ 187 w 1123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4632351" y="2272684"/>
            <a:ext cx="63706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阶段二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23" name="文本框 22"/>
          <p:cNvSpPr txBox="1"/>
          <p:nvPr>
            <p:custDataLst>
              <p:tags r:id="rId19"/>
            </p:custDataLst>
          </p:nvPr>
        </p:nvSpPr>
        <p:spPr>
          <a:xfrm>
            <a:off x="4518051" y="2551767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B3A5C"/>
                </a:solidFill>
                <a:cs typeface="+mn-lt"/>
              </a:rPr>
              <a:t>优化效果</a:t>
            </a:r>
            <a:endParaRPr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4518051" y="2963247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重点：</a:t>
            </a:r>
            <a:r>
              <a:rPr sz="1500">
                <a:solidFill>
                  <a:schemeClr val="tx2"/>
                </a:solidFill>
                <a:cs typeface="+mn-lt"/>
              </a:rPr>
              <a:t>根据点踩、改写、转人工修知识库和话术</a:t>
            </a:r>
            <a:endParaRPr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4518051" y="3648094"/>
            <a:ext cx="31559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chemeClr val="tx2"/>
                </a:solidFill>
                <a:cs typeface="+mn-lt"/>
              </a:rPr>
              <a:t>安排逻辑：</a:t>
            </a:r>
            <a:r>
              <a:rPr sz="1350">
                <a:solidFill>
                  <a:srgbClr val="4A6B8A"/>
                </a:solidFill>
                <a:cs typeface="+mn-lt"/>
              </a:rPr>
              <a:t>关键不是上线，是持续变好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sp>
        <p:nvSpPr>
          <p:cNvPr id="26" name="任意多边形 25"/>
          <p:cNvSpPr/>
          <p:nvPr>
            <p:custDataLst>
              <p:tags r:id="rId22"/>
            </p:custDataLst>
          </p:nvPr>
        </p:nvSpPr>
        <p:spPr>
          <a:xfrm>
            <a:off x="8068945" y="2058035"/>
            <a:ext cx="3546475" cy="2348865"/>
          </a:xfrm>
          <a:custGeom>
            <a:avLst/>
            <a:gdLst>
              <a:gd name="sw" fmla="*/ 1 w 5585"/>
              <a:gd name="sh" fmla="*/ 1 h 3698"/>
              <a:gd name="mins" fmla="min sw sh"/>
              <a:gd name="dsw" fmla="+- 0 sw mins"/>
              <a:gd name="dsh" fmla="+- 0 sh mins"/>
              <a:gd name="p0x0" fmla="*/ 300 w 5585"/>
              <a:gd name="p0y0" fmla="*/ 0 h 3698"/>
              <a:gd name="p0x1" fmla="*/ 5285 w 5585"/>
              <a:gd name="p0y1" fmla="*/ 0 h 3698"/>
              <a:gd name="p0x2" fmla="*/ 5450 w 5585"/>
              <a:gd name="p0y2" fmla="*/ 0 h 3698"/>
              <a:gd name="p0x3" fmla="*/ 5585 w 5585"/>
              <a:gd name="p0y3" fmla="*/ 134 h 3698"/>
              <a:gd name="p0x4" fmla="*/ 5585 w 5585"/>
              <a:gd name="p0y4" fmla="*/ 300 h 3698"/>
              <a:gd name="p0x5" fmla="*/ 5585 w 5585"/>
              <a:gd name="p0y5" fmla="*/ 3398 h 3698"/>
              <a:gd name="p0x6" fmla="*/ 5585 w 5585"/>
              <a:gd name="p0y6" fmla="*/ 3564 h 3698"/>
              <a:gd name="p0x7" fmla="*/ 5450 w 5585"/>
              <a:gd name="p0y7" fmla="*/ 3698 h 3698"/>
              <a:gd name="p0x8" fmla="*/ 5285 w 5585"/>
              <a:gd name="p0y8" fmla="*/ 3698 h 3698"/>
              <a:gd name="p0x9" fmla="*/ 300 w 5585"/>
              <a:gd name="p0y9" fmla="*/ 3698 h 3698"/>
              <a:gd name="p0x10" fmla="*/ 134 w 5585"/>
              <a:gd name="p0y10" fmla="*/ 3698 h 3698"/>
              <a:gd name="p0x11" fmla="*/ 0 w 5585"/>
              <a:gd name="p0y11" fmla="*/ 3564 h 3698"/>
              <a:gd name="p0x12" fmla="*/ 0 w 5585"/>
              <a:gd name="p0y12" fmla="*/ 3398 h 3698"/>
              <a:gd name="p0x13" fmla="*/ 0 w 5585"/>
              <a:gd name="p0y13" fmla="*/ 300 h 3698"/>
              <a:gd name="p0x14" fmla="*/ 0 w 5585"/>
              <a:gd name="p0y14" fmla="*/ 134 h 3698"/>
              <a:gd name="p0x15" fmla="*/ 134 w 5585"/>
              <a:gd name="p0y15" fmla="*/ 0 h 3698"/>
              <a:gd name="p0x16" fmla="*/ 300 w 5585"/>
              <a:gd name="p0y16" fmla="*/ 0 h 36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gradFill>
            <a:gsLst>
              <a:gs pos="0">
                <a:srgbClr val="FFFFFF">
                  <a:alpha val="87843"/>
                </a:srgbClr>
              </a:gs>
              <a:gs pos="100000">
                <a:srgbClr val="FFFFFF">
                  <a:alpha val="72157"/>
                </a:srgbClr>
              </a:gs>
            </a:gsLst>
            <a:lin ang="2700000"/>
          </a:gradFill>
          <a:ln w="9525" cmpd="sng">
            <a:solidFill>
              <a:srgbClr val="FFFFFF">
                <a:alpha val="90196"/>
              </a:srgbClr>
            </a:solidFill>
            <a:prstDash val="solid"/>
          </a:ln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3"/>
            </p:custDataLst>
          </p:nvPr>
        </p:nvSpPr>
        <p:spPr>
          <a:xfrm>
            <a:off x="8264525" y="2253615"/>
            <a:ext cx="713105" cy="238125"/>
          </a:xfrm>
          <a:custGeom>
            <a:avLst/>
            <a:gdLst>
              <a:gd name="sw" fmla="*/ 1 w 1123"/>
              <a:gd name="sh" fmla="*/ 1 h 375"/>
              <a:gd name="mins" fmla="min sw sh"/>
              <a:gd name="dsw" fmla="+- 0 sw mins"/>
              <a:gd name="dsh" fmla="+- 0 sh mins"/>
              <a:gd name="p0x0" fmla="*/ 187 w 1123"/>
              <a:gd name="p0y0" fmla="*/ 0 h 375"/>
              <a:gd name="p0x1" fmla="*/ 935 w 1123"/>
              <a:gd name="p0y1" fmla="*/ 0 h 375"/>
              <a:gd name="p0x2" fmla="*/ 1039 w 1123"/>
              <a:gd name="p0y2" fmla="*/ 0 h 375"/>
              <a:gd name="p0x3" fmla="*/ 1123 w 1123"/>
              <a:gd name="p0y3" fmla="*/ 83 h 375"/>
              <a:gd name="p0x4" fmla="*/ 1123 w 1123"/>
              <a:gd name="p0y4" fmla="*/ 187 h 375"/>
              <a:gd name="p0x5" fmla="*/ 1123 w 1123"/>
              <a:gd name="p0y5" fmla="*/ 291 h 375"/>
              <a:gd name="p0x6" fmla="*/ 1039 w 1123"/>
              <a:gd name="p0y6" fmla="*/ 375 h 375"/>
              <a:gd name="p0x7" fmla="*/ 935 w 1123"/>
              <a:gd name="p0y7" fmla="*/ 375 h 375"/>
              <a:gd name="p0x8" fmla="*/ 187 w 1123"/>
              <a:gd name="p0y8" fmla="*/ 375 h 375"/>
              <a:gd name="p0x9" fmla="*/ 83 w 1123"/>
              <a:gd name="p0y9" fmla="*/ 375 h 375"/>
              <a:gd name="p0x10" fmla="*/ 0 w 1123"/>
              <a:gd name="p0y10" fmla="*/ 291 h 375"/>
              <a:gd name="p0x11" fmla="*/ 0 w 1123"/>
              <a:gd name="p0y11" fmla="*/ 187 h 375"/>
              <a:gd name="p0x12" fmla="*/ 0 w 1123"/>
              <a:gd name="p0y12" fmla="*/ 83 h 375"/>
              <a:gd name="p0x13" fmla="*/ 83 w 1123"/>
              <a:gd name="p0y13" fmla="*/ 0 h 375"/>
              <a:gd name="p0x14" fmla="*/ 187 w 1123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8378876" y="2272684"/>
            <a:ext cx="63706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阶段三</a:t>
            </a:r>
            <a:endParaRPr sz="1200" b="1" spc="72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25"/>
            </p:custDataLst>
          </p:nvPr>
        </p:nvSpPr>
        <p:spPr>
          <a:xfrm>
            <a:off x="8264576" y="2551767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1B3A5C"/>
                </a:solidFill>
                <a:cs typeface="+mn-lt"/>
              </a:rPr>
              <a:t>扩展场景</a:t>
            </a:r>
            <a:endParaRPr sz="2100" b="1" spc="42">
              <a:solidFill>
                <a:srgbClr val="1B3A5C"/>
              </a:solidFill>
              <a:cs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26"/>
            </p:custDataLst>
          </p:nvPr>
        </p:nvSpPr>
        <p:spPr>
          <a:xfrm>
            <a:off x="8264576" y="2963247"/>
            <a:ext cx="3238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chemeClr val="tx2"/>
                </a:solidFill>
                <a:cs typeface="+mn-lt"/>
              </a:rPr>
              <a:t>重点：</a:t>
            </a:r>
            <a:r>
              <a:rPr sz="1500">
                <a:solidFill>
                  <a:schemeClr val="tx2"/>
                </a:solidFill>
                <a:cs typeface="+mn-lt"/>
              </a:rPr>
              <a:t>图片识别、多渠道、主动服务</a:t>
            </a:r>
            <a:endParaRPr sz="1500">
              <a:solidFill>
                <a:schemeClr val="tx2"/>
              </a:solidFill>
              <a:cs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27"/>
            </p:custDataLst>
          </p:nvPr>
        </p:nvSpPr>
        <p:spPr>
          <a:xfrm>
            <a:off x="8264576" y="3343294"/>
            <a:ext cx="31559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 b="1">
                <a:solidFill>
                  <a:schemeClr val="tx2"/>
                </a:solidFill>
                <a:cs typeface="+mn-lt"/>
              </a:rPr>
              <a:t>安排逻辑：</a:t>
            </a:r>
            <a:r>
              <a:rPr sz="1350">
                <a:solidFill>
                  <a:srgbClr val="4A6B8A"/>
                </a:solidFill>
                <a:cs typeface="+mn-lt"/>
              </a:rPr>
              <a:t>先做稳低风险高频，再扩复杂场景</a:t>
            </a:r>
            <a:endParaRPr sz="1350">
              <a:solidFill>
                <a:srgbClr val="4A6B8A"/>
              </a:solidFill>
              <a:cs typeface="+mn-lt"/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571500" y="4563745"/>
            <a:ext cx="3606165" cy="539115"/>
            <a:chOff x="900" y="7187"/>
            <a:chExt cx="5679" cy="849"/>
          </a:xfrm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grpSpPr>
        <p:sp>
          <p:nvSpPr>
            <p:cNvPr id="32" name="任意多边形 31"/>
            <p:cNvSpPr/>
            <p:nvPr>
              <p:custDataLst>
                <p:tags r:id="rId28"/>
              </p:custDataLst>
            </p:nvPr>
          </p:nvSpPr>
          <p:spPr>
            <a:xfrm>
              <a:off x="900" y="7187"/>
              <a:ext cx="5679" cy="849"/>
            </a:xfrm>
            <a:custGeom>
              <a:avLst/>
              <a:gdLst>
                <a:gd name="sw" fmla="*/ 1 w 5679"/>
                <a:gd name="sh" fmla="*/ 1 h 849"/>
                <a:gd name="mins" fmla="min sw sh"/>
                <a:gd name="dsw" fmla="+- 0 sw mins"/>
                <a:gd name="dsh" fmla="+- 0 sh mins"/>
                <a:gd name="p0x0" fmla="*/ 300 w 5679"/>
                <a:gd name="p0y0" fmla="*/ 0 h 849"/>
                <a:gd name="p0x1" fmla="*/ 5379 w 5679"/>
                <a:gd name="p0y1" fmla="*/ 0 h 849"/>
                <a:gd name="p0x2" fmla="*/ 5545 w 5679"/>
                <a:gd name="p0y2" fmla="*/ 0 h 849"/>
                <a:gd name="p0x3" fmla="*/ 5679 w 5679"/>
                <a:gd name="p0y3" fmla="*/ 134 h 849"/>
                <a:gd name="p0x4" fmla="*/ 5679 w 5679"/>
                <a:gd name="p0y4" fmla="*/ 300 h 849"/>
                <a:gd name="p0x5" fmla="*/ 5679 w 5679"/>
                <a:gd name="p0y5" fmla="*/ 549 h 849"/>
                <a:gd name="p0x6" fmla="*/ 5679 w 5679"/>
                <a:gd name="p0y6" fmla="*/ 714 h 849"/>
                <a:gd name="p0x7" fmla="*/ 5545 w 5679"/>
                <a:gd name="p0y7" fmla="*/ 849 h 849"/>
                <a:gd name="p0x8" fmla="*/ 5379 w 5679"/>
                <a:gd name="p0y8" fmla="*/ 849 h 849"/>
                <a:gd name="p0x9" fmla="*/ 300 w 5679"/>
                <a:gd name="p0y9" fmla="*/ 849 h 849"/>
                <a:gd name="p0x10" fmla="*/ 134 w 5679"/>
                <a:gd name="p0y10" fmla="*/ 849 h 849"/>
                <a:gd name="p0x11" fmla="*/ 0 w 5679"/>
                <a:gd name="p0y11" fmla="*/ 714 h 849"/>
                <a:gd name="p0x12" fmla="*/ 0 w 5679"/>
                <a:gd name="p0y12" fmla="*/ 549 h 849"/>
                <a:gd name="p0x13" fmla="*/ 0 w 5679"/>
                <a:gd name="p0y13" fmla="*/ 300 h 849"/>
                <a:gd name="p0x14" fmla="*/ 0 w 5679"/>
                <a:gd name="p0y14" fmla="*/ 134 h 849"/>
                <a:gd name="p0x15" fmla="*/ 134 w 5679"/>
                <a:gd name="p0y15" fmla="*/ 0 h 849"/>
                <a:gd name="p0x16" fmla="*/ 300 w 5679"/>
                <a:gd name="p0y16" fmla="*/ 0 h 84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7843"/>
                  </a:srgbClr>
                </a:gs>
                <a:gs pos="100000">
                  <a:srgbClr val="FFFFFF">
                    <a:alpha val="72157"/>
                  </a:srgbClr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>
              <p:custDataLst>
                <p:tags r:id="rId29"/>
              </p:custDataLst>
            </p:nvPr>
          </p:nvSpPr>
          <p:spPr>
            <a:xfrm>
              <a:off x="987" y="7187"/>
              <a:ext cx="5407" cy="99"/>
            </a:xfrm>
            <a:custGeom>
              <a:avLst/>
              <a:gdLst>
                <a:gd name="sw" fmla="*/ 1 w 5406"/>
                <a:gd name="sh" fmla="*/ 1 h 98"/>
                <a:gd name="mins" fmla="min sw sh"/>
                <a:gd name="dsw" fmla="+- 0 sw mins"/>
                <a:gd name="dsh" fmla="+- 0 sh mins"/>
                <a:gd name="p0x0" fmla="*/ 212 w 5406"/>
                <a:gd name="p0y0" fmla="*/ 0 h 98"/>
                <a:gd name="p0x1" fmla="*/ 5292 w 5406"/>
                <a:gd name="p0y1" fmla="*/ 0 h 98"/>
                <a:gd name="p0x2" fmla="*/ 5332 w 5406"/>
                <a:gd name="p0y2" fmla="*/ 0 h 98"/>
                <a:gd name="p0x3" fmla="*/ 5371 w 5406"/>
                <a:gd name="p0y3" fmla="*/ 8 h 98"/>
                <a:gd name="p0x4" fmla="*/ 5406 w 5406"/>
                <a:gd name="p0y4" fmla="*/ 22 h 98"/>
                <a:gd name="p0x5" fmla="*/ 5389 w 5406"/>
                <a:gd name="p0y5" fmla="*/ 36 h 98"/>
                <a:gd name="p0x6" fmla="*/ 5389 w 5406"/>
                <a:gd name="p0y6" fmla="*/ 36 h 98"/>
                <a:gd name="p0x7" fmla="*/ 5359 w 5406"/>
                <a:gd name="p0y7" fmla="*/ 22 h 98"/>
                <a:gd name="p0x8" fmla="*/ 5326 w 5406"/>
                <a:gd name="p0y8" fmla="*/ 15 h 98"/>
                <a:gd name="p0x9" fmla="*/ 5292 w 5406"/>
                <a:gd name="p0y9" fmla="*/ 15 h 98"/>
                <a:gd name="p0x10" fmla="*/ 212 w 5406"/>
                <a:gd name="p0y10" fmla="*/ 15 h 98"/>
                <a:gd name="p0x11" fmla="*/ 133 w 5406"/>
                <a:gd name="p0y11" fmla="*/ 15 h 98"/>
                <a:gd name="p0x12" fmla="*/ 62 w 5406"/>
                <a:gd name="p0y12" fmla="*/ 46 h 98"/>
                <a:gd name="p0x13" fmla="*/ 10 w 5406"/>
                <a:gd name="p0y13" fmla="*/ 98 h 98"/>
                <a:gd name="p0x14" fmla="*/ 0 w 5406"/>
                <a:gd name="p0y14" fmla="*/ 87 h 98"/>
                <a:gd name="p0x15" fmla="*/ 0 w 5406"/>
                <a:gd name="p0y15" fmla="*/ 87 h 98"/>
                <a:gd name="p0x16" fmla="*/ 54 w 5406"/>
                <a:gd name="p0y16" fmla="*/ 33 h 98"/>
                <a:gd name="p0x17" fmla="*/ 129 w 5406"/>
                <a:gd name="p0y17" fmla="*/ 0 h 98"/>
                <a:gd name="p0x18" fmla="*/ 212 w 5406"/>
                <a:gd name="p0y18" fmla="*/ 0 h 9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30"/>
              </p:custDataLst>
            </p:nvPr>
          </p:nvSpPr>
          <p:spPr>
            <a:xfrm>
              <a:off x="6377" y="7210"/>
              <a:ext cx="202" cy="804"/>
            </a:xfrm>
            <a:custGeom>
              <a:avLst/>
              <a:gdLst>
                <a:gd name="sw" fmla="*/ 1 w 202"/>
                <a:gd name="sh" fmla="*/ 1 h 803"/>
                <a:gd name="mins" fmla="min sw sh"/>
                <a:gd name="dsw" fmla="+- 0 sw mins"/>
                <a:gd name="dsh" fmla="+- 0 sh mins"/>
                <a:gd name="p0x0" fmla="*/ 202 w 202"/>
                <a:gd name="p0y0" fmla="*/ 277 h 803"/>
                <a:gd name="p0x1" fmla="*/ 202 w 202"/>
                <a:gd name="p0y1" fmla="*/ 526 h 803"/>
                <a:gd name="p0x2" fmla="*/ 202 w 202"/>
                <a:gd name="p0y2" fmla="*/ 651 h 803"/>
                <a:gd name="p0x3" fmla="*/ 125 w 202"/>
                <a:gd name="p0y3" fmla="*/ 758 h 803"/>
                <a:gd name="p0x4" fmla="*/ 17 w 202"/>
                <a:gd name="p0y4" fmla="*/ 803 h 803"/>
                <a:gd name="p0x5" fmla="*/ 0 w 202"/>
                <a:gd name="p0y5" fmla="*/ 789 h 803"/>
                <a:gd name="p0x6" fmla="*/ 0 w 202"/>
                <a:gd name="p0y6" fmla="*/ 789 h 803"/>
                <a:gd name="p0x7" fmla="*/ 92 w 202"/>
                <a:gd name="p0y7" fmla="*/ 746 h 803"/>
                <a:gd name="p0x8" fmla="*/ 157 w 202"/>
                <a:gd name="p0y8" fmla="*/ 644 h 803"/>
                <a:gd name="p0x9" fmla="*/ 157 w 202"/>
                <a:gd name="p0y9" fmla="*/ 526 h 803"/>
                <a:gd name="p0x10" fmla="*/ 157 w 202"/>
                <a:gd name="p0y10" fmla="*/ 277 h 803"/>
                <a:gd name="p0x11" fmla="*/ 157 w 202"/>
                <a:gd name="p0y11" fmla="*/ 158 h 803"/>
                <a:gd name="p0x12" fmla="*/ 92 w 202"/>
                <a:gd name="p0y12" fmla="*/ 56 h 803"/>
                <a:gd name="p0x13" fmla="*/ 0 w 202"/>
                <a:gd name="p0y13" fmla="*/ 13 h 803"/>
                <a:gd name="p0x14" fmla="*/ 17 w 202"/>
                <a:gd name="p0y14" fmla="*/ 0 h 803"/>
                <a:gd name="p0x15" fmla="*/ 17 w 202"/>
                <a:gd name="p0y15" fmla="*/ 0 h 803"/>
                <a:gd name="p0x16" fmla="*/ 125 w 202"/>
                <a:gd name="p0y16" fmla="*/ 45 h 803"/>
                <a:gd name="p0x17" fmla="*/ 202 w 202"/>
                <a:gd name="p0y17" fmla="*/ 152 h 803"/>
                <a:gd name="p0x18" fmla="*/ 202 w 202"/>
                <a:gd name="p0y18" fmla="*/ 277 h 80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>
                <a:alpha val="38039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31"/>
              </p:custDataLst>
            </p:nvPr>
          </p:nvSpPr>
          <p:spPr>
            <a:xfrm>
              <a:off x="987" y="7938"/>
              <a:ext cx="5407" cy="98"/>
            </a:xfrm>
            <a:custGeom>
              <a:avLst/>
              <a:gdLst>
                <a:gd name="sw" fmla="*/ 1 w 5407"/>
                <a:gd name="sh" fmla="*/ 1 h 98"/>
                <a:gd name="mins" fmla="min sw sh"/>
                <a:gd name="dsw" fmla="+- 0 sw mins"/>
                <a:gd name="dsh" fmla="+- 0 sh mins"/>
                <a:gd name="p0x0" fmla="*/ 5292 w 5407"/>
                <a:gd name="p0y0" fmla="*/ 98 h 98"/>
                <a:gd name="p0x1" fmla="*/ 212 w 5407"/>
                <a:gd name="p0y1" fmla="*/ 98 h 98"/>
                <a:gd name="p0x2" fmla="*/ 129 w 5407"/>
                <a:gd name="p0y2" fmla="*/ 98 h 98"/>
                <a:gd name="p0x3" fmla="*/ 54 w 5407"/>
                <a:gd name="p0y3" fmla="*/ 64 h 98"/>
                <a:gd name="p0x4" fmla="*/ 0 w 5407"/>
                <a:gd name="p0y4" fmla="*/ 10 h 98"/>
                <a:gd name="p0x5" fmla="*/ 10 w 5407"/>
                <a:gd name="p0y5" fmla="*/ 0 h 98"/>
                <a:gd name="p0x6" fmla="*/ 10 w 5407"/>
                <a:gd name="p0y6" fmla="*/ 0 h 98"/>
                <a:gd name="p0x7" fmla="*/ 62 w 5407"/>
                <a:gd name="p0y7" fmla="*/ 51 h 98"/>
                <a:gd name="p0x8" fmla="*/ 133 w 5407"/>
                <a:gd name="p0y8" fmla="*/ 83 h 98"/>
                <a:gd name="p0x9" fmla="*/ 212 w 5407"/>
                <a:gd name="p0y9" fmla="*/ 83 h 98"/>
                <a:gd name="p0x10" fmla="*/ 5292 w 5407"/>
                <a:gd name="p0y10" fmla="*/ 83 h 98"/>
                <a:gd name="p0x11" fmla="*/ 5326 w 5407"/>
                <a:gd name="p0y11" fmla="*/ 83 h 98"/>
                <a:gd name="p0x12" fmla="*/ 5359 w 5407"/>
                <a:gd name="p0y12" fmla="*/ 75 h 98"/>
                <a:gd name="p0x13" fmla="*/ 5389 w 5407"/>
                <a:gd name="p0y13" fmla="*/ 61 h 98"/>
                <a:gd name="p0x14" fmla="*/ 5406 w 5407"/>
                <a:gd name="p0y14" fmla="*/ 75 h 98"/>
                <a:gd name="p0x15" fmla="*/ 5407 w 5407"/>
                <a:gd name="p0y15" fmla="*/ 75 h 98"/>
                <a:gd name="p0x16" fmla="*/ 5371 w 5407"/>
                <a:gd name="p0y16" fmla="*/ 90 h 98"/>
                <a:gd name="p0x17" fmla="*/ 5332 w 5407"/>
                <a:gd name="p0y17" fmla="*/ 98 h 98"/>
                <a:gd name="p0x18" fmla="*/ 5292 w 5407"/>
                <a:gd name="p0y18" fmla="*/ 98 h 9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>
              <p:custDataLst>
                <p:tags r:id="rId32"/>
              </p:custDataLst>
            </p:nvPr>
          </p:nvSpPr>
          <p:spPr>
            <a:xfrm>
              <a:off x="900" y="7275"/>
              <a:ext cx="98" cy="674"/>
            </a:xfrm>
            <a:custGeom>
              <a:avLst/>
              <a:gdLst>
                <a:gd name="sw" fmla="*/ 1 w 98"/>
                <a:gd name="sh" fmla="*/ 1 h 673"/>
                <a:gd name="mins" fmla="min sw sh"/>
                <a:gd name="dsw" fmla="+- 0 sw mins"/>
                <a:gd name="dsh" fmla="+- 0 sh mins"/>
                <a:gd name="p0x0" fmla="*/ 0 w 98"/>
                <a:gd name="p0y0" fmla="*/ 461 h 673"/>
                <a:gd name="p0x1" fmla="*/ 0 w 98"/>
                <a:gd name="p0y1" fmla="*/ 212 h 673"/>
                <a:gd name="p0x2" fmla="*/ 0 w 98"/>
                <a:gd name="p0y2" fmla="*/ 129 h 673"/>
                <a:gd name="p0x3" fmla="*/ 33 w 98"/>
                <a:gd name="p0y3" fmla="*/ 54 h 673"/>
                <a:gd name="p0x4" fmla="*/ 87 w 98"/>
                <a:gd name="p0y4" fmla="*/ 0 h 673"/>
                <a:gd name="p0x5" fmla="*/ 98 w 98"/>
                <a:gd name="p0y5" fmla="*/ 10 h 673"/>
                <a:gd name="p0x6" fmla="*/ 98 w 98"/>
                <a:gd name="p0y6" fmla="*/ 10 h 673"/>
                <a:gd name="p0x7" fmla="*/ 46 w 98"/>
                <a:gd name="p0y7" fmla="*/ 62 h 673"/>
                <a:gd name="p0x8" fmla="*/ 15 w 98"/>
                <a:gd name="p0y8" fmla="*/ 133 h 673"/>
                <a:gd name="p0x9" fmla="*/ 15 w 98"/>
                <a:gd name="p0y9" fmla="*/ 212 h 673"/>
                <a:gd name="p0x10" fmla="*/ 15 w 98"/>
                <a:gd name="p0y10" fmla="*/ 461 h 673"/>
                <a:gd name="p0x11" fmla="*/ 15 w 98"/>
                <a:gd name="p0y11" fmla="*/ 539 h 673"/>
                <a:gd name="p0x12" fmla="*/ 46 w 98"/>
                <a:gd name="p0y12" fmla="*/ 611 h 673"/>
                <a:gd name="p0x13" fmla="*/ 98 w 98"/>
                <a:gd name="p0y13" fmla="*/ 662 h 673"/>
                <a:gd name="p0x14" fmla="*/ 87 w 98"/>
                <a:gd name="p0y14" fmla="*/ 673 h 673"/>
                <a:gd name="p0x15" fmla="*/ 87 w 98"/>
                <a:gd name="p0y15" fmla="*/ 673 h 673"/>
                <a:gd name="p0x16" fmla="*/ 33 w 98"/>
                <a:gd name="p0y16" fmla="*/ 618 h 673"/>
                <a:gd name="p0x17" fmla="*/ 0 w 98"/>
                <a:gd name="p0y17" fmla="*/ 543 h 673"/>
                <a:gd name="p0x18" fmla="*/ 0 w 98"/>
                <a:gd name="p0y18" fmla="*/ 461 h 67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8" name="任意多边形 37"/>
          <p:cNvSpPr/>
          <p:nvPr>
            <p:custDataLst>
              <p:tags r:id="rId33"/>
            </p:custDataLst>
          </p:nvPr>
        </p:nvSpPr>
        <p:spPr>
          <a:xfrm>
            <a:off x="695325" y="47002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 descr="a2ef58bb-a675-11f1-9577-b22dae881a06"/>
          <p:cNvPicPr/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t="-164" b="164"/>
          <a:stretch>
            <a:fillRect/>
          </a:stretch>
        </p:blipFill>
        <p:spPr>
          <a:xfrm>
            <a:off x="752475" y="4757420"/>
            <a:ext cx="152400" cy="1524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37"/>
            </p:custDataLst>
          </p:nvPr>
        </p:nvSpPr>
        <p:spPr>
          <a:xfrm>
            <a:off x="1038225" y="4707665"/>
            <a:ext cx="120491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chemeClr val="tx2"/>
                </a:solidFill>
                <a:cs typeface="+mn-lt"/>
              </a:rPr>
              <a:t>①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 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用户使用</a:t>
            </a:r>
            <a:endParaRPr lang="zh-CN" altLang="en-US" sz="1500" b="1">
              <a:solidFill>
                <a:schemeClr val="tx2"/>
              </a:solidFill>
              <a:cs typeface="+mn-lt"/>
            </a:endParaRPr>
          </a:p>
        </p:txBody>
      </p:sp>
      <p:grpSp>
        <p:nvGrpSpPr>
          <p:cNvPr id="109" name="组合 108"/>
          <p:cNvGrpSpPr/>
          <p:nvPr/>
        </p:nvGrpSpPr>
        <p:grpSpPr>
          <a:xfrm>
            <a:off x="4291965" y="4563745"/>
            <a:ext cx="3606800" cy="539115"/>
            <a:chOff x="6759" y="7187"/>
            <a:chExt cx="5680" cy="849"/>
          </a:xfrm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grpSpPr>
        <p:sp>
          <p:nvSpPr>
            <p:cNvPr id="43" name="任意多边形 42"/>
            <p:cNvSpPr/>
            <p:nvPr>
              <p:custDataLst>
                <p:tags r:id="rId38"/>
              </p:custDataLst>
            </p:nvPr>
          </p:nvSpPr>
          <p:spPr>
            <a:xfrm>
              <a:off x="6759" y="7187"/>
              <a:ext cx="5680" cy="849"/>
            </a:xfrm>
            <a:custGeom>
              <a:avLst/>
              <a:gdLst>
                <a:gd name="sw" fmla="*/ 1 w 5679"/>
                <a:gd name="sh" fmla="*/ 1 h 849"/>
                <a:gd name="mins" fmla="min sw sh"/>
                <a:gd name="dsw" fmla="+- 0 sw mins"/>
                <a:gd name="dsh" fmla="+- 0 sh mins"/>
                <a:gd name="p0x0" fmla="*/ 300 w 5679"/>
                <a:gd name="p0y0" fmla="*/ 0 h 849"/>
                <a:gd name="p0x1" fmla="*/ 5379 w 5679"/>
                <a:gd name="p0y1" fmla="*/ 0 h 849"/>
                <a:gd name="p0x2" fmla="*/ 5545 w 5679"/>
                <a:gd name="p0y2" fmla="*/ 0 h 849"/>
                <a:gd name="p0x3" fmla="*/ 5679 w 5679"/>
                <a:gd name="p0y3" fmla="*/ 134 h 849"/>
                <a:gd name="p0x4" fmla="*/ 5679 w 5679"/>
                <a:gd name="p0y4" fmla="*/ 300 h 849"/>
                <a:gd name="p0x5" fmla="*/ 5679 w 5679"/>
                <a:gd name="p0y5" fmla="*/ 549 h 849"/>
                <a:gd name="p0x6" fmla="*/ 5679 w 5679"/>
                <a:gd name="p0y6" fmla="*/ 714 h 849"/>
                <a:gd name="p0x7" fmla="*/ 5545 w 5679"/>
                <a:gd name="p0y7" fmla="*/ 849 h 849"/>
                <a:gd name="p0x8" fmla="*/ 5379 w 5679"/>
                <a:gd name="p0y8" fmla="*/ 849 h 849"/>
                <a:gd name="p0x9" fmla="*/ 300 w 5679"/>
                <a:gd name="p0y9" fmla="*/ 849 h 849"/>
                <a:gd name="p0x10" fmla="*/ 134 w 5679"/>
                <a:gd name="p0y10" fmla="*/ 849 h 849"/>
                <a:gd name="p0x11" fmla="*/ 0 w 5679"/>
                <a:gd name="p0y11" fmla="*/ 714 h 849"/>
                <a:gd name="p0x12" fmla="*/ 0 w 5679"/>
                <a:gd name="p0y12" fmla="*/ 549 h 849"/>
                <a:gd name="p0x13" fmla="*/ 0 w 5679"/>
                <a:gd name="p0y13" fmla="*/ 300 h 849"/>
                <a:gd name="p0x14" fmla="*/ 0 w 5679"/>
                <a:gd name="p0y14" fmla="*/ 134 h 849"/>
                <a:gd name="p0x15" fmla="*/ 134 w 5679"/>
                <a:gd name="p0y15" fmla="*/ 0 h 849"/>
                <a:gd name="p0x16" fmla="*/ 300 w 5679"/>
                <a:gd name="p0y16" fmla="*/ 0 h 84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7843"/>
                  </a:srgbClr>
                </a:gs>
                <a:gs pos="100000">
                  <a:srgbClr val="FFFFFF">
                    <a:alpha val="72157"/>
                  </a:srgbClr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4" name="任意多边形 43"/>
            <p:cNvSpPr/>
            <p:nvPr>
              <p:custDataLst>
                <p:tags r:id="rId39"/>
              </p:custDataLst>
            </p:nvPr>
          </p:nvSpPr>
          <p:spPr>
            <a:xfrm>
              <a:off x="6847" y="7187"/>
              <a:ext cx="5407" cy="99"/>
            </a:xfrm>
            <a:custGeom>
              <a:avLst/>
              <a:gdLst>
                <a:gd name="sw" fmla="*/ 1 w 5406"/>
                <a:gd name="sh" fmla="*/ 1 h 98"/>
                <a:gd name="mins" fmla="min sw sh"/>
                <a:gd name="dsw" fmla="+- 0 sw mins"/>
                <a:gd name="dsh" fmla="+- 0 sh mins"/>
                <a:gd name="p0x0" fmla="*/ 212 w 5406"/>
                <a:gd name="p0y0" fmla="*/ 0 h 98"/>
                <a:gd name="p0x1" fmla="*/ 5292 w 5406"/>
                <a:gd name="p0y1" fmla="*/ 0 h 98"/>
                <a:gd name="p0x2" fmla="*/ 5332 w 5406"/>
                <a:gd name="p0y2" fmla="*/ 0 h 98"/>
                <a:gd name="p0x3" fmla="*/ 5371 w 5406"/>
                <a:gd name="p0y3" fmla="*/ 8 h 98"/>
                <a:gd name="p0x4" fmla="*/ 5406 w 5406"/>
                <a:gd name="p0y4" fmla="*/ 22 h 98"/>
                <a:gd name="p0x5" fmla="*/ 5389 w 5406"/>
                <a:gd name="p0y5" fmla="*/ 36 h 98"/>
                <a:gd name="p0x6" fmla="*/ 5389 w 5406"/>
                <a:gd name="p0y6" fmla="*/ 36 h 98"/>
                <a:gd name="p0x7" fmla="*/ 5359 w 5406"/>
                <a:gd name="p0y7" fmla="*/ 22 h 98"/>
                <a:gd name="p0x8" fmla="*/ 5326 w 5406"/>
                <a:gd name="p0y8" fmla="*/ 15 h 98"/>
                <a:gd name="p0x9" fmla="*/ 5292 w 5406"/>
                <a:gd name="p0y9" fmla="*/ 15 h 98"/>
                <a:gd name="p0x10" fmla="*/ 212 w 5406"/>
                <a:gd name="p0y10" fmla="*/ 15 h 98"/>
                <a:gd name="p0x11" fmla="*/ 133 w 5406"/>
                <a:gd name="p0y11" fmla="*/ 15 h 98"/>
                <a:gd name="p0x12" fmla="*/ 62 w 5406"/>
                <a:gd name="p0y12" fmla="*/ 46 h 98"/>
                <a:gd name="p0x13" fmla="*/ 10 w 5406"/>
                <a:gd name="p0y13" fmla="*/ 98 h 98"/>
                <a:gd name="p0x14" fmla="*/ 0 w 5406"/>
                <a:gd name="p0y14" fmla="*/ 87 h 98"/>
                <a:gd name="p0x15" fmla="*/ 54 w 5406"/>
                <a:gd name="p0y15" fmla="*/ 33 h 98"/>
                <a:gd name="p0x16" fmla="*/ 129 w 5406"/>
                <a:gd name="p0y16" fmla="*/ 0 h 98"/>
                <a:gd name="p0x17" fmla="*/ 212 w 5406"/>
                <a:gd name="p0y17" fmla="*/ 0 h 9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任意多边形 44"/>
            <p:cNvSpPr/>
            <p:nvPr>
              <p:custDataLst>
                <p:tags r:id="rId40"/>
              </p:custDataLst>
            </p:nvPr>
          </p:nvSpPr>
          <p:spPr>
            <a:xfrm>
              <a:off x="12237" y="7210"/>
              <a:ext cx="202" cy="804"/>
            </a:xfrm>
            <a:custGeom>
              <a:avLst/>
              <a:gdLst>
                <a:gd name="sw" fmla="*/ 1 w 202"/>
                <a:gd name="sh" fmla="*/ 1 h 803"/>
                <a:gd name="mins" fmla="min sw sh"/>
                <a:gd name="dsw" fmla="+- 0 sw mins"/>
                <a:gd name="dsh" fmla="+- 0 sh mins"/>
                <a:gd name="p0x0" fmla="*/ 202 w 202"/>
                <a:gd name="p0y0" fmla="*/ 277 h 803"/>
                <a:gd name="p0x1" fmla="*/ 202 w 202"/>
                <a:gd name="p0y1" fmla="*/ 526 h 803"/>
                <a:gd name="p0x2" fmla="*/ 202 w 202"/>
                <a:gd name="p0y2" fmla="*/ 651 h 803"/>
                <a:gd name="p0x3" fmla="*/ 125 w 202"/>
                <a:gd name="p0y3" fmla="*/ 758 h 803"/>
                <a:gd name="p0x4" fmla="*/ 17 w 202"/>
                <a:gd name="p0y4" fmla="*/ 803 h 803"/>
                <a:gd name="p0x5" fmla="*/ 0 w 202"/>
                <a:gd name="p0y5" fmla="*/ 789 h 803"/>
                <a:gd name="p0x6" fmla="*/ 0 w 202"/>
                <a:gd name="p0y6" fmla="*/ 789 h 803"/>
                <a:gd name="p0x7" fmla="*/ 92 w 202"/>
                <a:gd name="p0y7" fmla="*/ 746 h 803"/>
                <a:gd name="p0x8" fmla="*/ 157 w 202"/>
                <a:gd name="p0y8" fmla="*/ 644 h 803"/>
                <a:gd name="p0x9" fmla="*/ 157 w 202"/>
                <a:gd name="p0y9" fmla="*/ 526 h 803"/>
                <a:gd name="p0x10" fmla="*/ 157 w 202"/>
                <a:gd name="p0y10" fmla="*/ 277 h 803"/>
                <a:gd name="p0x11" fmla="*/ 157 w 202"/>
                <a:gd name="p0y11" fmla="*/ 158 h 803"/>
                <a:gd name="p0x12" fmla="*/ 92 w 202"/>
                <a:gd name="p0y12" fmla="*/ 56 h 803"/>
                <a:gd name="p0x13" fmla="*/ 0 w 202"/>
                <a:gd name="p0y13" fmla="*/ 13 h 803"/>
                <a:gd name="p0x14" fmla="*/ 17 w 202"/>
                <a:gd name="p0y14" fmla="*/ 0 h 803"/>
                <a:gd name="p0x15" fmla="*/ 17 w 202"/>
                <a:gd name="p0y15" fmla="*/ 0 h 803"/>
                <a:gd name="p0x16" fmla="*/ 125 w 202"/>
                <a:gd name="p0y16" fmla="*/ 45 h 803"/>
                <a:gd name="p0x17" fmla="*/ 202 w 202"/>
                <a:gd name="p0y17" fmla="*/ 152 h 803"/>
                <a:gd name="p0x18" fmla="*/ 202 w 202"/>
                <a:gd name="p0y18" fmla="*/ 277 h 80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>
                <a:alpha val="38039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任意多边形 45"/>
            <p:cNvSpPr/>
            <p:nvPr>
              <p:custDataLst>
                <p:tags r:id="rId41"/>
              </p:custDataLst>
            </p:nvPr>
          </p:nvSpPr>
          <p:spPr>
            <a:xfrm>
              <a:off x="6847" y="7938"/>
              <a:ext cx="5407" cy="98"/>
            </a:xfrm>
            <a:custGeom>
              <a:avLst/>
              <a:gdLst>
                <a:gd name="sw" fmla="*/ 1 w 5407"/>
                <a:gd name="sh" fmla="*/ 1 h 98"/>
                <a:gd name="mins" fmla="min sw sh"/>
                <a:gd name="dsw" fmla="+- 0 sw mins"/>
                <a:gd name="dsh" fmla="+- 0 sh mins"/>
                <a:gd name="p0x0" fmla="*/ 5292 w 5407"/>
                <a:gd name="p0y0" fmla="*/ 98 h 98"/>
                <a:gd name="p0x1" fmla="*/ 212 w 5407"/>
                <a:gd name="p0y1" fmla="*/ 98 h 98"/>
                <a:gd name="p0x2" fmla="*/ 129 w 5407"/>
                <a:gd name="p0y2" fmla="*/ 98 h 98"/>
                <a:gd name="p0x3" fmla="*/ 54 w 5407"/>
                <a:gd name="p0y3" fmla="*/ 64 h 98"/>
                <a:gd name="p0x4" fmla="*/ 0 w 5407"/>
                <a:gd name="p0y4" fmla="*/ 10 h 98"/>
                <a:gd name="p0x5" fmla="*/ 10 w 5407"/>
                <a:gd name="p0y5" fmla="*/ 0 h 98"/>
                <a:gd name="p0x6" fmla="*/ 62 w 5407"/>
                <a:gd name="p0y6" fmla="*/ 51 h 98"/>
                <a:gd name="p0x7" fmla="*/ 133 w 5407"/>
                <a:gd name="p0y7" fmla="*/ 83 h 98"/>
                <a:gd name="p0x8" fmla="*/ 212 w 5407"/>
                <a:gd name="p0y8" fmla="*/ 83 h 98"/>
                <a:gd name="p0x9" fmla="*/ 5292 w 5407"/>
                <a:gd name="p0y9" fmla="*/ 83 h 98"/>
                <a:gd name="p0x10" fmla="*/ 5326 w 5407"/>
                <a:gd name="p0y10" fmla="*/ 83 h 98"/>
                <a:gd name="p0x11" fmla="*/ 5359 w 5407"/>
                <a:gd name="p0y11" fmla="*/ 75 h 98"/>
                <a:gd name="p0x12" fmla="*/ 5389 w 5407"/>
                <a:gd name="p0y12" fmla="*/ 61 h 98"/>
                <a:gd name="p0x13" fmla="*/ 5406 w 5407"/>
                <a:gd name="p0y13" fmla="*/ 75 h 98"/>
                <a:gd name="p0x14" fmla="*/ 5407 w 5407"/>
                <a:gd name="p0y14" fmla="*/ 75 h 98"/>
                <a:gd name="p0x15" fmla="*/ 5371 w 5407"/>
                <a:gd name="p0y15" fmla="*/ 90 h 98"/>
                <a:gd name="p0x16" fmla="*/ 5332 w 5407"/>
                <a:gd name="p0y16" fmla="*/ 98 h 98"/>
                <a:gd name="p0x17" fmla="*/ 5292 w 5407"/>
                <a:gd name="p0y17" fmla="*/ 98 h 9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任意多边形 46"/>
            <p:cNvSpPr/>
            <p:nvPr>
              <p:custDataLst>
                <p:tags r:id="rId42"/>
              </p:custDataLst>
            </p:nvPr>
          </p:nvSpPr>
          <p:spPr>
            <a:xfrm>
              <a:off x="6759" y="7275"/>
              <a:ext cx="99" cy="674"/>
            </a:xfrm>
            <a:custGeom>
              <a:avLst/>
              <a:gdLst>
                <a:gd name="sw" fmla="*/ 1 w 98"/>
                <a:gd name="sh" fmla="*/ 1 h 673"/>
                <a:gd name="mins" fmla="min sw sh"/>
                <a:gd name="dsw" fmla="+- 0 sw mins"/>
                <a:gd name="dsh" fmla="+- 0 sh mins"/>
                <a:gd name="p0x0" fmla="*/ 0 w 98"/>
                <a:gd name="p0y0" fmla="*/ 461 h 673"/>
                <a:gd name="p0x1" fmla="*/ 0 w 98"/>
                <a:gd name="p0y1" fmla="*/ 212 h 673"/>
                <a:gd name="p0x2" fmla="*/ 0 w 98"/>
                <a:gd name="p0y2" fmla="*/ 129 h 673"/>
                <a:gd name="p0x3" fmla="*/ 33 w 98"/>
                <a:gd name="p0y3" fmla="*/ 54 h 673"/>
                <a:gd name="p0x4" fmla="*/ 87 w 98"/>
                <a:gd name="p0y4" fmla="*/ 0 h 673"/>
                <a:gd name="p0x5" fmla="*/ 98 w 98"/>
                <a:gd name="p0y5" fmla="*/ 10 h 673"/>
                <a:gd name="p0x6" fmla="*/ 46 w 98"/>
                <a:gd name="p0y6" fmla="*/ 62 h 673"/>
                <a:gd name="p0x7" fmla="*/ 15 w 98"/>
                <a:gd name="p0y7" fmla="*/ 133 h 673"/>
                <a:gd name="p0x8" fmla="*/ 15 w 98"/>
                <a:gd name="p0y8" fmla="*/ 212 h 673"/>
                <a:gd name="p0x9" fmla="*/ 15 w 98"/>
                <a:gd name="p0y9" fmla="*/ 461 h 673"/>
                <a:gd name="p0x10" fmla="*/ 15 w 98"/>
                <a:gd name="p0y10" fmla="*/ 539 h 673"/>
                <a:gd name="p0x11" fmla="*/ 46 w 98"/>
                <a:gd name="p0y11" fmla="*/ 611 h 673"/>
                <a:gd name="p0x12" fmla="*/ 98 w 98"/>
                <a:gd name="p0y12" fmla="*/ 662 h 673"/>
                <a:gd name="p0x13" fmla="*/ 87 w 98"/>
                <a:gd name="p0y13" fmla="*/ 673 h 673"/>
                <a:gd name="p0x14" fmla="*/ 33 w 98"/>
                <a:gd name="p0y14" fmla="*/ 618 h 673"/>
                <a:gd name="p0x15" fmla="*/ 0 w 98"/>
                <a:gd name="p0y15" fmla="*/ 543 h 673"/>
                <a:gd name="p0x16" fmla="*/ 0 w 98"/>
                <a:gd name="p0y16" fmla="*/ 461 h 67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9" name="任意多边形 48"/>
          <p:cNvSpPr/>
          <p:nvPr>
            <p:custDataLst>
              <p:tags r:id="rId43"/>
            </p:custDataLst>
          </p:nvPr>
        </p:nvSpPr>
        <p:spPr>
          <a:xfrm>
            <a:off x="4415790" y="47002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 descr="a2ef5dc1-a675-11f1-9577-b22dae881a06"/>
          <p:cNvPicPr/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400" t="-164" r="400" b="164"/>
          <a:stretch>
            <a:fillRect/>
          </a:stretch>
        </p:blipFill>
        <p:spPr>
          <a:xfrm>
            <a:off x="4472940" y="4757420"/>
            <a:ext cx="152400" cy="152400"/>
          </a:xfrm>
          <a:prstGeom prst="rect">
            <a:avLst/>
          </a:prstGeom>
        </p:spPr>
      </p:pic>
      <p:sp>
        <p:nvSpPr>
          <p:cNvPr id="53" name="文本框 52"/>
          <p:cNvSpPr txBox="1"/>
          <p:nvPr>
            <p:custDataLst>
              <p:tags r:id="rId47"/>
            </p:custDataLst>
          </p:nvPr>
        </p:nvSpPr>
        <p:spPr>
          <a:xfrm>
            <a:off x="4759299" y="4707665"/>
            <a:ext cx="120491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chemeClr val="tx2"/>
                </a:solidFill>
                <a:cs typeface="+mn-lt"/>
              </a:rPr>
              <a:t>②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 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产生反馈</a:t>
            </a:r>
            <a:endParaRPr lang="zh-CN" altLang="en-US" sz="1500" b="1">
              <a:solidFill>
                <a:schemeClr val="tx2"/>
              </a:solidFill>
              <a:cs typeface="+mn-lt"/>
            </a:endParaRPr>
          </a:p>
        </p:txBody>
      </p:sp>
      <p:grpSp>
        <p:nvGrpSpPr>
          <p:cNvPr id="110" name="组合 109"/>
          <p:cNvGrpSpPr/>
          <p:nvPr/>
        </p:nvGrpSpPr>
        <p:grpSpPr>
          <a:xfrm>
            <a:off x="8013065" y="4563745"/>
            <a:ext cx="3606800" cy="539115"/>
            <a:chOff x="12619" y="7187"/>
            <a:chExt cx="5680" cy="849"/>
          </a:xfrm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grpSpPr>
        <p:sp>
          <p:nvSpPr>
            <p:cNvPr id="54" name="任意多边形 53"/>
            <p:cNvSpPr/>
            <p:nvPr>
              <p:custDataLst>
                <p:tags r:id="rId48"/>
              </p:custDataLst>
            </p:nvPr>
          </p:nvSpPr>
          <p:spPr>
            <a:xfrm>
              <a:off x="12619" y="7187"/>
              <a:ext cx="5680" cy="849"/>
            </a:xfrm>
            <a:custGeom>
              <a:avLst/>
              <a:gdLst>
                <a:gd name="sw" fmla="*/ 1 w 5679"/>
                <a:gd name="sh" fmla="*/ 1 h 849"/>
                <a:gd name="mins" fmla="min sw sh"/>
                <a:gd name="dsw" fmla="+- 0 sw mins"/>
                <a:gd name="dsh" fmla="+- 0 sh mins"/>
                <a:gd name="p0x0" fmla="*/ 300 w 5679"/>
                <a:gd name="p0y0" fmla="*/ 0 h 849"/>
                <a:gd name="p0x1" fmla="*/ 5379 w 5679"/>
                <a:gd name="p0y1" fmla="*/ 0 h 849"/>
                <a:gd name="p0x2" fmla="*/ 5545 w 5679"/>
                <a:gd name="p0y2" fmla="*/ 0 h 849"/>
                <a:gd name="p0x3" fmla="*/ 5679 w 5679"/>
                <a:gd name="p0y3" fmla="*/ 134 h 849"/>
                <a:gd name="p0x4" fmla="*/ 5679 w 5679"/>
                <a:gd name="p0y4" fmla="*/ 300 h 849"/>
                <a:gd name="p0x5" fmla="*/ 5679 w 5679"/>
                <a:gd name="p0y5" fmla="*/ 549 h 849"/>
                <a:gd name="p0x6" fmla="*/ 5679 w 5679"/>
                <a:gd name="p0y6" fmla="*/ 714 h 849"/>
                <a:gd name="p0x7" fmla="*/ 5545 w 5679"/>
                <a:gd name="p0y7" fmla="*/ 849 h 849"/>
                <a:gd name="p0x8" fmla="*/ 5379 w 5679"/>
                <a:gd name="p0y8" fmla="*/ 849 h 849"/>
                <a:gd name="p0x9" fmla="*/ 300 w 5679"/>
                <a:gd name="p0y9" fmla="*/ 849 h 849"/>
                <a:gd name="p0x10" fmla="*/ 134 w 5679"/>
                <a:gd name="p0y10" fmla="*/ 849 h 849"/>
                <a:gd name="p0x11" fmla="*/ 0 w 5679"/>
                <a:gd name="p0y11" fmla="*/ 714 h 849"/>
                <a:gd name="p0x12" fmla="*/ 0 w 5679"/>
                <a:gd name="p0y12" fmla="*/ 549 h 849"/>
                <a:gd name="p0x13" fmla="*/ 0 w 5679"/>
                <a:gd name="p0y13" fmla="*/ 300 h 849"/>
                <a:gd name="p0x14" fmla="*/ 0 w 5679"/>
                <a:gd name="p0y14" fmla="*/ 134 h 849"/>
                <a:gd name="p0x15" fmla="*/ 134 w 5679"/>
                <a:gd name="p0y15" fmla="*/ 0 h 849"/>
                <a:gd name="p0x16" fmla="*/ 300 w 5679"/>
                <a:gd name="p0y16" fmla="*/ 0 h 84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7843"/>
                  </a:srgbClr>
                </a:gs>
                <a:gs pos="100000">
                  <a:srgbClr val="FFFFFF">
                    <a:alpha val="72157"/>
                  </a:srgbClr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任意多边形 54"/>
            <p:cNvSpPr/>
            <p:nvPr>
              <p:custDataLst>
                <p:tags r:id="rId49"/>
              </p:custDataLst>
            </p:nvPr>
          </p:nvSpPr>
          <p:spPr>
            <a:xfrm>
              <a:off x="12707" y="7187"/>
              <a:ext cx="5505" cy="99"/>
            </a:xfrm>
            <a:custGeom>
              <a:avLst/>
              <a:gdLst>
                <a:gd name="sw" fmla="*/ 1 w 5504"/>
                <a:gd name="sh" fmla="*/ 1 h 98"/>
                <a:gd name="mins" fmla="min sw sh"/>
                <a:gd name="dsw" fmla="+- 0 sw mins"/>
                <a:gd name="dsh" fmla="+- 0 sh mins"/>
                <a:gd name="p0x0" fmla="*/ 212 w 5504"/>
                <a:gd name="p0y0" fmla="*/ 0 h 98"/>
                <a:gd name="p0x1" fmla="*/ 5292 w 5504"/>
                <a:gd name="p0y1" fmla="*/ 0 h 98"/>
                <a:gd name="p0x2" fmla="*/ 5374 w 5504"/>
                <a:gd name="p0y2" fmla="*/ 0 h 98"/>
                <a:gd name="p0x3" fmla="*/ 5449 w 5504"/>
                <a:gd name="p0y3" fmla="*/ 33 h 98"/>
                <a:gd name="p0x4" fmla="*/ 5504 w 5504"/>
                <a:gd name="p0y4" fmla="*/ 87 h 98"/>
                <a:gd name="p0x5" fmla="*/ 5493 w 5504"/>
                <a:gd name="p0y5" fmla="*/ 98 h 98"/>
                <a:gd name="p0x6" fmla="*/ 5442 w 5504"/>
                <a:gd name="p0y6" fmla="*/ 46 h 98"/>
                <a:gd name="p0x7" fmla="*/ 5370 w 5504"/>
                <a:gd name="p0y7" fmla="*/ 15 h 98"/>
                <a:gd name="p0x8" fmla="*/ 5292 w 5504"/>
                <a:gd name="p0y8" fmla="*/ 15 h 98"/>
                <a:gd name="p0x9" fmla="*/ 212 w 5504"/>
                <a:gd name="p0y9" fmla="*/ 15 h 98"/>
                <a:gd name="p0x10" fmla="*/ 133 w 5504"/>
                <a:gd name="p0y10" fmla="*/ 15 h 98"/>
                <a:gd name="p0x11" fmla="*/ 62 w 5504"/>
                <a:gd name="p0y11" fmla="*/ 46 h 98"/>
                <a:gd name="p0x12" fmla="*/ 10 w 5504"/>
                <a:gd name="p0y12" fmla="*/ 98 h 98"/>
                <a:gd name="p0x13" fmla="*/ 0 w 5504"/>
                <a:gd name="p0y13" fmla="*/ 87 h 98"/>
                <a:gd name="p0x14" fmla="*/ 54 w 5504"/>
                <a:gd name="p0y14" fmla="*/ 33 h 98"/>
                <a:gd name="p0x15" fmla="*/ 129 w 5504"/>
                <a:gd name="p0y15" fmla="*/ 0 h 98"/>
                <a:gd name="p0x16" fmla="*/ 212 w 5504"/>
                <a:gd name="p0y16" fmla="*/ 0 h 9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任意多边形 55"/>
            <p:cNvSpPr/>
            <p:nvPr>
              <p:custDataLst>
                <p:tags r:id="rId50"/>
              </p:custDataLst>
            </p:nvPr>
          </p:nvSpPr>
          <p:spPr>
            <a:xfrm>
              <a:off x="18201" y="7275"/>
              <a:ext cx="98" cy="576"/>
            </a:xfrm>
            <a:custGeom>
              <a:avLst/>
              <a:gdLst>
                <a:gd name="sw" fmla="*/ 1 w 98"/>
                <a:gd name="sh" fmla="*/ 1 h 576"/>
                <a:gd name="mins" fmla="min sw sh"/>
                <a:gd name="dsw" fmla="+- 0 sw mins"/>
                <a:gd name="dsh" fmla="+- 0 sh mins"/>
                <a:gd name="p0x0" fmla="*/ 98 w 98"/>
                <a:gd name="p0y0" fmla="*/ 212 h 576"/>
                <a:gd name="p0x1" fmla="*/ 98 w 98"/>
                <a:gd name="p0y1" fmla="*/ 461 h 576"/>
                <a:gd name="p0x2" fmla="*/ 98 w 98"/>
                <a:gd name="p0y2" fmla="*/ 501 h 576"/>
                <a:gd name="p0x3" fmla="*/ 90 w 98"/>
                <a:gd name="p0y3" fmla="*/ 540 h 576"/>
                <a:gd name="p0x4" fmla="*/ 75 w 98"/>
                <a:gd name="p0y4" fmla="*/ 576 h 576"/>
                <a:gd name="p0x5" fmla="*/ 61 w 98"/>
                <a:gd name="p0y5" fmla="*/ 558 h 576"/>
                <a:gd name="p0x6" fmla="*/ 61 w 98"/>
                <a:gd name="p0y6" fmla="*/ 558 h 576"/>
                <a:gd name="p0x7" fmla="*/ 75 w 98"/>
                <a:gd name="p0y7" fmla="*/ 528 h 576"/>
                <a:gd name="p0x8" fmla="*/ 83 w 98"/>
                <a:gd name="p0y8" fmla="*/ 495 h 576"/>
                <a:gd name="p0x9" fmla="*/ 83 w 98"/>
                <a:gd name="p0y9" fmla="*/ 461 h 576"/>
                <a:gd name="p0x10" fmla="*/ 83 w 98"/>
                <a:gd name="p0y10" fmla="*/ 212 h 576"/>
                <a:gd name="p0x11" fmla="*/ 83 w 98"/>
                <a:gd name="p0y11" fmla="*/ 133 h 576"/>
                <a:gd name="p0x12" fmla="*/ 51 w 98"/>
                <a:gd name="p0y12" fmla="*/ 62 h 576"/>
                <a:gd name="p0x13" fmla="*/ 0 w 98"/>
                <a:gd name="p0y13" fmla="*/ 10 h 576"/>
                <a:gd name="p0x14" fmla="*/ 10 w 98"/>
                <a:gd name="p0y14" fmla="*/ 0 h 576"/>
                <a:gd name="p0x15" fmla="*/ 64 w 98"/>
                <a:gd name="p0y15" fmla="*/ 54 h 576"/>
                <a:gd name="p0x16" fmla="*/ 98 w 98"/>
                <a:gd name="p0y16" fmla="*/ 129 h 576"/>
                <a:gd name="p0x17" fmla="*/ 98 w 98"/>
                <a:gd name="p0y17" fmla="*/ 212 h 57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任意多边形 56"/>
            <p:cNvSpPr/>
            <p:nvPr>
              <p:custDataLst>
                <p:tags r:id="rId51"/>
              </p:custDataLst>
            </p:nvPr>
          </p:nvSpPr>
          <p:spPr>
            <a:xfrm>
              <a:off x="12642" y="7834"/>
              <a:ext cx="5635" cy="202"/>
            </a:xfrm>
            <a:custGeom>
              <a:avLst/>
              <a:gdLst>
                <a:gd name="sw" fmla="*/ 1 w 5634"/>
                <a:gd name="sh" fmla="*/ 1 h 202"/>
                <a:gd name="mins" fmla="min sw sh"/>
                <a:gd name="dsw" fmla="+- 0 sw mins"/>
                <a:gd name="dsh" fmla="+- 0 sh mins"/>
                <a:gd name="p0x0" fmla="*/ 5357 w 5634"/>
                <a:gd name="p0y0" fmla="*/ 202 h 202"/>
                <a:gd name="p0x1" fmla="*/ 277 w 5634"/>
                <a:gd name="p0y1" fmla="*/ 202 h 202"/>
                <a:gd name="p0x2" fmla="*/ 152 w 5634"/>
                <a:gd name="p0y2" fmla="*/ 202 h 202"/>
                <a:gd name="p0x3" fmla="*/ 45 w 5634"/>
                <a:gd name="p0y3" fmla="*/ 125 h 202"/>
                <a:gd name="p0x4" fmla="*/ 0 w 5634"/>
                <a:gd name="p0y4" fmla="*/ 17 h 202"/>
                <a:gd name="p0x5" fmla="*/ 13 w 5634"/>
                <a:gd name="p0y5" fmla="*/ 0 h 202"/>
                <a:gd name="p0x6" fmla="*/ 13 w 5634"/>
                <a:gd name="p0y6" fmla="*/ 0 h 202"/>
                <a:gd name="p0x7" fmla="*/ 56 w 5634"/>
                <a:gd name="p0y7" fmla="*/ 92 h 202"/>
                <a:gd name="p0x8" fmla="*/ 158 w 5634"/>
                <a:gd name="p0y8" fmla="*/ 157 h 202"/>
                <a:gd name="p0x9" fmla="*/ 277 w 5634"/>
                <a:gd name="p0y9" fmla="*/ 157 h 202"/>
                <a:gd name="p0x10" fmla="*/ 5357 w 5634"/>
                <a:gd name="p0y10" fmla="*/ 157 h 202"/>
                <a:gd name="p0x11" fmla="*/ 5475 w 5634"/>
                <a:gd name="p0y11" fmla="*/ 157 h 202"/>
                <a:gd name="p0x12" fmla="*/ 5577 w 5634"/>
                <a:gd name="p0y12" fmla="*/ 92 h 202"/>
                <a:gd name="p0x13" fmla="*/ 5620 w 5634"/>
                <a:gd name="p0y13" fmla="*/ 0 h 202"/>
                <a:gd name="p0x14" fmla="*/ 5634 w 5634"/>
                <a:gd name="p0y14" fmla="*/ 17 h 202"/>
                <a:gd name="p0x15" fmla="*/ 5634 w 5634"/>
                <a:gd name="p0y15" fmla="*/ 17 h 202"/>
                <a:gd name="p0x16" fmla="*/ 5589 w 5634"/>
                <a:gd name="p0y16" fmla="*/ 125 h 202"/>
                <a:gd name="p0x17" fmla="*/ 5482 w 5634"/>
                <a:gd name="p0y17" fmla="*/ 202 h 202"/>
                <a:gd name="p0x18" fmla="*/ 5357 w 5634"/>
                <a:gd name="p0y18" fmla="*/ 202 h 20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>
                <a:alpha val="38039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任意多边形 57"/>
            <p:cNvSpPr/>
            <p:nvPr>
              <p:custDataLst>
                <p:tags r:id="rId52"/>
              </p:custDataLst>
            </p:nvPr>
          </p:nvSpPr>
          <p:spPr>
            <a:xfrm>
              <a:off x="12619" y="7275"/>
              <a:ext cx="99" cy="576"/>
            </a:xfrm>
            <a:custGeom>
              <a:avLst/>
              <a:gdLst>
                <a:gd name="sw" fmla="*/ 1 w 98"/>
                <a:gd name="sh" fmla="*/ 1 h 576"/>
                <a:gd name="mins" fmla="min sw sh"/>
                <a:gd name="dsw" fmla="+- 0 sw mins"/>
                <a:gd name="dsh" fmla="+- 0 sh mins"/>
                <a:gd name="p0x0" fmla="*/ 0 w 98"/>
                <a:gd name="p0y0" fmla="*/ 461 h 576"/>
                <a:gd name="p0x1" fmla="*/ 0 w 98"/>
                <a:gd name="p0y1" fmla="*/ 212 h 576"/>
                <a:gd name="p0x2" fmla="*/ 0 w 98"/>
                <a:gd name="p0y2" fmla="*/ 129 h 576"/>
                <a:gd name="p0x3" fmla="*/ 33 w 98"/>
                <a:gd name="p0y3" fmla="*/ 54 h 576"/>
                <a:gd name="p0x4" fmla="*/ 87 w 98"/>
                <a:gd name="p0y4" fmla="*/ 0 h 576"/>
                <a:gd name="p0x5" fmla="*/ 98 w 98"/>
                <a:gd name="p0y5" fmla="*/ 10 h 576"/>
                <a:gd name="p0x6" fmla="*/ 46 w 98"/>
                <a:gd name="p0y6" fmla="*/ 62 h 576"/>
                <a:gd name="p0x7" fmla="*/ 15 w 98"/>
                <a:gd name="p0y7" fmla="*/ 133 h 576"/>
                <a:gd name="p0x8" fmla="*/ 15 w 98"/>
                <a:gd name="p0y8" fmla="*/ 212 h 576"/>
                <a:gd name="p0x9" fmla="*/ 15 w 98"/>
                <a:gd name="p0y9" fmla="*/ 461 h 576"/>
                <a:gd name="p0x10" fmla="*/ 15 w 98"/>
                <a:gd name="p0y10" fmla="*/ 495 h 576"/>
                <a:gd name="p0x11" fmla="*/ 22 w 98"/>
                <a:gd name="p0y11" fmla="*/ 528 h 576"/>
                <a:gd name="p0x12" fmla="*/ 36 w 98"/>
                <a:gd name="p0y12" fmla="*/ 558 h 576"/>
                <a:gd name="p0x13" fmla="*/ 22 w 98"/>
                <a:gd name="p0y13" fmla="*/ 575 h 576"/>
                <a:gd name="p0x14" fmla="*/ 22 w 98"/>
                <a:gd name="p0y14" fmla="*/ 576 h 576"/>
                <a:gd name="p0x15" fmla="*/ 8 w 98"/>
                <a:gd name="p0y15" fmla="*/ 540 h 576"/>
                <a:gd name="p0x16" fmla="*/ 0 w 98"/>
                <a:gd name="p0y16" fmla="*/ 501 h 576"/>
                <a:gd name="p0x17" fmla="*/ 0 w 98"/>
                <a:gd name="p0y17" fmla="*/ 461 h 57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0" name="任意多边形 59"/>
          <p:cNvSpPr/>
          <p:nvPr>
            <p:custDataLst>
              <p:tags r:id="rId53"/>
            </p:custDataLst>
          </p:nvPr>
        </p:nvSpPr>
        <p:spPr>
          <a:xfrm>
            <a:off x="8136890" y="46907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1" name="图片 60" descr="a2ef5fff-a675-11f1-9577-b22dae881a06"/>
          <p:cNvPicPr/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383" t="-164" r="383" b="164"/>
          <a:stretch>
            <a:fillRect/>
          </a:stretch>
        </p:blipFill>
        <p:spPr>
          <a:xfrm>
            <a:off x="8194040" y="4747895"/>
            <a:ext cx="152400" cy="152400"/>
          </a:xfrm>
          <a:prstGeom prst="rect">
            <a:avLst/>
          </a:prstGeom>
        </p:spPr>
      </p:pic>
      <p:sp>
        <p:nvSpPr>
          <p:cNvPr id="64" name="文本框 63"/>
          <p:cNvSpPr txBox="1"/>
          <p:nvPr>
            <p:custDataLst>
              <p:tags r:id="rId57"/>
            </p:custDataLst>
          </p:nvPr>
        </p:nvSpPr>
        <p:spPr>
          <a:xfrm>
            <a:off x="8480374" y="4698140"/>
            <a:ext cx="176688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chemeClr val="tx2"/>
                </a:solidFill>
                <a:cs typeface="+mn-lt"/>
              </a:rPr>
              <a:t>③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 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发现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 Bad Case</a:t>
            </a:r>
            <a:endParaRPr lang="en-US" altLang="zh-CN" sz="1500" b="1">
              <a:solidFill>
                <a:schemeClr val="tx2"/>
              </a:solidFill>
              <a:cs typeface="+mn-lt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571500" y="5217160"/>
            <a:ext cx="3606165" cy="539115"/>
            <a:chOff x="900" y="8216"/>
            <a:chExt cx="5679" cy="849"/>
          </a:xfrm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grpSpPr>
        <p:sp>
          <p:nvSpPr>
            <p:cNvPr id="65" name="任意多边形 64"/>
            <p:cNvSpPr/>
            <p:nvPr>
              <p:custDataLst>
                <p:tags r:id="rId58"/>
              </p:custDataLst>
            </p:nvPr>
          </p:nvSpPr>
          <p:spPr>
            <a:xfrm>
              <a:off x="900" y="8216"/>
              <a:ext cx="5679" cy="849"/>
            </a:xfrm>
            <a:custGeom>
              <a:avLst/>
              <a:gdLst>
                <a:gd name="sw" fmla="*/ 1 w 5679"/>
                <a:gd name="sh" fmla="*/ 1 h 849"/>
                <a:gd name="mins" fmla="min sw sh"/>
                <a:gd name="dsw" fmla="+- 0 sw mins"/>
                <a:gd name="dsh" fmla="+- 0 sh mins"/>
                <a:gd name="p0x0" fmla="*/ 300 w 5679"/>
                <a:gd name="p0y0" fmla="*/ 0 h 849"/>
                <a:gd name="p0x1" fmla="*/ 5379 w 5679"/>
                <a:gd name="p0y1" fmla="*/ 0 h 849"/>
                <a:gd name="p0x2" fmla="*/ 5545 w 5679"/>
                <a:gd name="p0y2" fmla="*/ 0 h 849"/>
                <a:gd name="p0x3" fmla="*/ 5679 w 5679"/>
                <a:gd name="p0y3" fmla="*/ 134 h 849"/>
                <a:gd name="p0x4" fmla="*/ 5679 w 5679"/>
                <a:gd name="p0y4" fmla="*/ 300 h 849"/>
                <a:gd name="p0x5" fmla="*/ 5679 w 5679"/>
                <a:gd name="p0y5" fmla="*/ 549 h 849"/>
                <a:gd name="p0x6" fmla="*/ 5679 w 5679"/>
                <a:gd name="p0y6" fmla="*/ 714 h 849"/>
                <a:gd name="p0x7" fmla="*/ 5545 w 5679"/>
                <a:gd name="p0y7" fmla="*/ 849 h 849"/>
                <a:gd name="p0x8" fmla="*/ 5379 w 5679"/>
                <a:gd name="p0y8" fmla="*/ 849 h 849"/>
                <a:gd name="p0x9" fmla="*/ 300 w 5679"/>
                <a:gd name="p0y9" fmla="*/ 849 h 849"/>
                <a:gd name="p0x10" fmla="*/ 134 w 5679"/>
                <a:gd name="p0y10" fmla="*/ 849 h 849"/>
                <a:gd name="p0x11" fmla="*/ 0 w 5679"/>
                <a:gd name="p0y11" fmla="*/ 714 h 849"/>
                <a:gd name="p0x12" fmla="*/ 0 w 5679"/>
                <a:gd name="p0y12" fmla="*/ 549 h 849"/>
                <a:gd name="p0x13" fmla="*/ 0 w 5679"/>
                <a:gd name="p0y13" fmla="*/ 300 h 849"/>
                <a:gd name="p0x14" fmla="*/ 0 w 5679"/>
                <a:gd name="p0y14" fmla="*/ 134 h 849"/>
                <a:gd name="p0x15" fmla="*/ 134 w 5679"/>
                <a:gd name="p0y15" fmla="*/ 0 h 849"/>
                <a:gd name="p0x16" fmla="*/ 300 w 5679"/>
                <a:gd name="p0y16" fmla="*/ 0 h 84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7843"/>
                  </a:srgbClr>
                </a:gs>
                <a:gs pos="100000">
                  <a:srgbClr val="FFFFFF">
                    <a:alpha val="72157"/>
                  </a:srgbClr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任意多边形 65"/>
            <p:cNvSpPr/>
            <p:nvPr>
              <p:custDataLst>
                <p:tags r:id="rId59"/>
              </p:custDataLst>
            </p:nvPr>
          </p:nvSpPr>
          <p:spPr>
            <a:xfrm>
              <a:off x="922" y="8216"/>
              <a:ext cx="5635" cy="203"/>
            </a:xfrm>
            <a:custGeom>
              <a:avLst/>
              <a:gdLst>
                <a:gd name="sw" fmla="*/ 1 w 5634"/>
                <a:gd name="sh" fmla="*/ 1 h 202"/>
                <a:gd name="mins" fmla="min sw sh"/>
                <a:gd name="dsw" fmla="+- 0 sw mins"/>
                <a:gd name="dsh" fmla="+- 0 sh mins"/>
                <a:gd name="p0x0" fmla="*/ 277 w 5634"/>
                <a:gd name="p0y0" fmla="*/ 0 h 202"/>
                <a:gd name="p0x1" fmla="*/ 5357 w 5634"/>
                <a:gd name="p0y1" fmla="*/ 0 h 202"/>
                <a:gd name="p0x2" fmla="*/ 5482 w 5634"/>
                <a:gd name="p0y2" fmla="*/ 0 h 202"/>
                <a:gd name="p0x3" fmla="*/ 5589 w 5634"/>
                <a:gd name="p0y3" fmla="*/ 76 h 202"/>
                <a:gd name="p0x4" fmla="*/ 5634 w 5634"/>
                <a:gd name="p0y4" fmla="*/ 185 h 202"/>
                <a:gd name="p0x5" fmla="*/ 5620 w 5634"/>
                <a:gd name="p0y5" fmla="*/ 202 h 202"/>
                <a:gd name="p0x6" fmla="*/ 5620 w 5634"/>
                <a:gd name="p0y6" fmla="*/ 202 h 202"/>
                <a:gd name="p0x7" fmla="*/ 5577 w 5634"/>
                <a:gd name="p0y7" fmla="*/ 109 h 202"/>
                <a:gd name="p0x8" fmla="*/ 5475 w 5634"/>
                <a:gd name="p0y8" fmla="*/ 45 h 202"/>
                <a:gd name="p0x9" fmla="*/ 5357 w 5634"/>
                <a:gd name="p0y9" fmla="*/ 45 h 202"/>
                <a:gd name="p0x10" fmla="*/ 277 w 5634"/>
                <a:gd name="p0y10" fmla="*/ 45 h 202"/>
                <a:gd name="p0x11" fmla="*/ 158 w 5634"/>
                <a:gd name="p0y11" fmla="*/ 45 h 202"/>
                <a:gd name="p0x12" fmla="*/ 56 w 5634"/>
                <a:gd name="p0y12" fmla="*/ 109 h 202"/>
                <a:gd name="p0x13" fmla="*/ 13 w 5634"/>
                <a:gd name="p0y13" fmla="*/ 202 h 202"/>
                <a:gd name="p0x14" fmla="*/ 0 w 5634"/>
                <a:gd name="p0y14" fmla="*/ 185 h 202"/>
                <a:gd name="p0x15" fmla="*/ 0 w 5634"/>
                <a:gd name="p0y15" fmla="*/ 185 h 202"/>
                <a:gd name="p0x16" fmla="*/ 45 w 5634"/>
                <a:gd name="p0y16" fmla="*/ 76 h 202"/>
                <a:gd name="p0x17" fmla="*/ 152 w 5634"/>
                <a:gd name="p0y17" fmla="*/ 0 h 202"/>
                <a:gd name="p0x18" fmla="*/ 277 w 5634"/>
                <a:gd name="p0y18" fmla="*/ 0 h 20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>
                <a:alpha val="38039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任意多边形 66"/>
            <p:cNvSpPr/>
            <p:nvPr>
              <p:custDataLst>
                <p:tags r:id="rId60"/>
              </p:custDataLst>
            </p:nvPr>
          </p:nvSpPr>
          <p:spPr>
            <a:xfrm>
              <a:off x="6481" y="8402"/>
              <a:ext cx="98" cy="576"/>
            </a:xfrm>
            <a:custGeom>
              <a:avLst/>
              <a:gdLst>
                <a:gd name="sw" fmla="*/ 1 w 98"/>
                <a:gd name="sh" fmla="*/ 1 h 576"/>
                <a:gd name="mins" fmla="min sw sh"/>
                <a:gd name="dsw" fmla="+- 0 sw mins"/>
                <a:gd name="dsh" fmla="+- 0 sh mins"/>
                <a:gd name="p0x0" fmla="*/ 98 w 98"/>
                <a:gd name="p0y0" fmla="*/ 114 h 576"/>
                <a:gd name="p0x1" fmla="*/ 98 w 98"/>
                <a:gd name="p0y1" fmla="*/ 363 h 576"/>
                <a:gd name="p0x2" fmla="*/ 98 w 98"/>
                <a:gd name="p0y2" fmla="*/ 446 h 576"/>
                <a:gd name="p0x3" fmla="*/ 64 w 98"/>
                <a:gd name="p0y3" fmla="*/ 521 h 576"/>
                <a:gd name="p0x4" fmla="*/ 10 w 98"/>
                <a:gd name="p0y4" fmla="*/ 576 h 576"/>
                <a:gd name="p0x5" fmla="*/ 0 w 98"/>
                <a:gd name="p0y5" fmla="*/ 565 h 576"/>
                <a:gd name="p0x6" fmla="*/ 51 w 98"/>
                <a:gd name="p0y6" fmla="*/ 513 h 576"/>
                <a:gd name="p0x7" fmla="*/ 83 w 98"/>
                <a:gd name="p0y7" fmla="*/ 442 h 576"/>
                <a:gd name="p0x8" fmla="*/ 83 w 98"/>
                <a:gd name="p0y8" fmla="*/ 363 h 576"/>
                <a:gd name="p0x9" fmla="*/ 83 w 98"/>
                <a:gd name="p0y9" fmla="*/ 114 h 576"/>
                <a:gd name="p0x10" fmla="*/ 83 w 98"/>
                <a:gd name="p0y10" fmla="*/ 80 h 576"/>
                <a:gd name="p0x11" fmla="*/ 75 w 98"/>
                <a:gd name="p0y11" fmla="*/ 47 h 576"/>
                <a:gd name="p0x12" fmla="*/ 61 w 98"/>
                <a:gd name="p0y12" fmla="*/ 17 h 576"/>
                <a:gd name="p0x13" fmla="*/ 75 w 98"/>
                <a:gd name="p0y13" fmla="*/ 0 h 576"/>
                <a:gd name="p0x14" fmla="*/ 75 w 98"/>
                <a:gd name="p0y14" fmla="*/ 0 h 576"/>
                <a:gd name="p0x15" fmla="*/ 90 w 98"/>
                <a:gd name="p0y15" fmla="*/ 35 h 576"/>
                <a:gd name="p0x16" fmla="*/ 98 w 98"/>
                <a:gd name="p0y16" fmla="*/ 74 h 576"/>
                <a:gd name="p0x17" fmla="*/ 98 w 98"/>
                <a:gd name="p0y17" fmla="*/ 114 h 57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任意多边形 67"/>
            <p:cNvSpPr/>
            <p:nvPr>
              <p:custDataLst>
                <p:tags r:id="rId61"/>
              </p:custDataLst>
            </p:nvPr>
          </p:nvSpPr>
          <p:spPr>
            <a:xfrm>
              <a:off x="987" y="8967"/>
              <a:ext cx="5505" cy="98"/>
            </a:xfrm>
            <a:custGeom>
              <a:avLst/>
              <a:gdLst>
                <a:gd name="sw" fmla="*/ 1 w 5504"/>
                <a:gd name="sh" fmla="*/ 1 h 98"/>
                <a:gd name="mins" fmla="min sw sh"/>
                <a:gd name="dsw" fmla="+- 0 sw mins"/>
                <a:gd name="dsh" fmla="+- 0 sh mins"/>
                <a:gd name="p0x0" fmla="*/ 5292 w 5504"/>
                <a:gd name="p0y0" fmla="*/ 98 h 98"/>
                <a:gd name="p0x1" fmla="*/ 212 w 5504"/>
                <a:gd name="p0y1" fmla="*/ 98 h 98"/>
                <a:gd name="p0x2" fmla="*/ 129 w 5504"/>
                <a:gd name="p0y2" fmla="*/ 98 h 98"/>
                <a:gd name="p0x3" fmla="*/ 54 w 5504"/>
                <a:gd name="p0y3" fmla="*/ 64 h 98"/>
                <a:gd name="p0x4" fmla="*/ 0 w 5504"/>
                <a:gd name="p0y4" fmla="*/ 10 h 98"/>
                <a:gd name="p0x5" fmla="*/ 10 w 5504"/>
                <a:gd name="p0y5" fmla="*/ 0 h 98"/>
                <a:gd name="p0x6" fmla="*/ 10 w 5504"/>
                <a:gd name="p0y6" fmla="*/ 0 h 98"/>
                <a:gd name="p0x7" fmla="*/ 62 w 5504"/>
                <a:gd name="p0y7" fmla="*/ 51 h 98"/>
                <a:gd name="p0x8" fmla="*/ 133 w 5504"/>
                <a:gd name="p0y8" fmla="*/ 83 h 98"/>
                <a:gd name="p0x9" fmla="*/ 212 w 5504"/>
                <a:gd name="p0y9" fmla="*/ 83 h 98"/>
                <a:gd name="p0x10" fmla="*/ 5292 w 5504"/>
                <a:gd name="p0y10" fmla="*/ 83 h 98"/>
                <a:gd name="p0x11" fmla="*/ 5370 w 5504"/>
                <a:gd name="p0y11" fmla="*/ 83 h 98"/>
                <a:gd name="p0x12" fmla="*/ 5442 w 5504"/>
                <a:gd name="p0y12" fmla="*/ 51 h 98"/>
                <a:gd name="p0x13" fmla="*/ 5493 w 5504"/>
                <a:gd name="p0y13" fmla="*/ 0 h 98"/>
                <a:gd name="p0x14" fmla="*/ 5504 w 5504"/>
                <a:gd name="p0y14" fmla="*/ 10 h 98"/>
                <a:gd name="p0x15" fmla="*/ 5449 w 5504"/>
                <a:gd name="p0y15" fmla="*/ 64 h 98"/>
                <a:gd name="p0x16" fmla="*/ 5374 w 5504"/>
                <a:gd name="p0y16" fmla="*/ 98 h 98"/>
                <a:gd name="p0x17" fmla="*/ 5292 w 5504"/>
                <a:gd name="p0y17" fmla="*/ 98 h 9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任意多边形 68"/>
            <p:cNvSpPr/>
            <p:nvPr>
              <p:custDataLst>
                <p:tags r:id="rId62"/>
              </p:custDataLst>
            </p:nvPr>
          </p:nvSpPr>
          <p:spPr>
            <a:xfrm>
              <a:off x="900" y="8402"/>
              <a:ext cx="98" cy="576"/>
            </a:xfrm>
            <a:custGeom>
              <a:avLst/>
              <a:gdLst>
                <a:gd name="sw" fmla="*/ 1 w 98"/>
                <a:gd name="sh" fmla="*/ 1 h 576"/>
                <a:gd name="mins" fmla="min sw sh"/>
                <a:gd name="dsw" fmla="+- 0 sw mins"/>
                <a:gd name="dsh" fmla="+- 0 sh mins"/>
                <a:gd name="p0x0" fmla="*/ 0 w 98"/>
                <a:gd name="p0y0" fmla="*/ 363 h 576"/>
                <a:gd name="p0x1" fmla="*/ 0 w 98"/>
                <a:gd name="p0y1" fmla="*/ 114 h 576"/>
                <a:gd name="p0x2" fmla="*/ 0 w 98"/>
                <a:gd name="p0y2" fmla="*/ 74 h 576"/>
                <a:gd name="p0x3" fmla="*/ 8 w 98"/>
                <a:gd name="p0y3" fmla="*/ 35 h 576"/>
                <a:gd name="p0x4" fmla="*/ 22 w 98"/>
                <a:gd name="p0y4" fmla="*/ 0 h 576"/>
                <a:gd name="p0x5" fmla="*/ 36 w 98"/>
                <a:gd name="p0y5" fmla="*/ 17 h 576"/>
                <a:gd name="p0x6" fmla="*/ 36 w 98"/>
                <a:gd name="p0y6" fmla="*/ 17 h 576"/>
                <a:gd name="p0x7" fmla="*/ 22 w 98"/>
                <a:gd name="p0y7" fmla="*/ 47 h 576"/>
                <a:gd name="p0x8" fmla="*/ 15 w 98"/>
                <a:gd name="p0y8" fmla="*/ 80 h 576"/>
                <a:gd name="p0x9" fmla="*/ 15 w 98"/>
                <a:gd name="p0y9" fmla="*/ 114 h 576"/>
                <a:gd name="p0x10" fmla="*/ 15 w 98"/>
                <a:gd name="p0y10" fmla="*/ 363 h 576"/>
                <a:gd name="p0x11" fmla="*/ 15 w 98"/>
                <a:gd name="p0y11" fmla="*/ 442 h 576"/>
                <a:gd name="p0x12" fmla="*/ 46 w 98"/>
                <a:gd name="p0y12" fmla="*/ 513 h 576"/>
                <a:gd name="p0x13" fmla="*/ 98 w 98"/>
                <a:gd name="p0y13" fmla="*/ 565 h 576"/>
                <a:gd name="p0x14" fmla="*/ 87 w 98"/>
                <a:gd name="p0y14" fmla="*/ 576 h 576"/>
                <a:gd name="p0x15" fmla="*/ 87 w 98"/>
                <a:gd name="p0y15" fmla="*/ 576 h 576"/>
                <a:gd name="p0x16" fmla="*/ 33 w 98"/>
                <a:gd name="p0y16" fmla="*/ 521 h 576"/>
                <a:gd name="p0x17" fmla="*/ 0 w 98"/>
                <a:gd name="p0y17" fmla="*/ 446 h 576"/>
                <a:gd name="p0x18" fmla="*/ 0 w 98"/>
                <a:gd name="p0y18" fmla="*/ 363 h 57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1" name="任意多边形 70"/>
          <p:cNvSpPr/>
          <p:nvPr>
            <p:custDataLst>
              <p:tags r:id="rId63"/>
            </p:custDataLst>
          </p:nvPr>
        </p:nvSpPr>
        <p:spPr>
          <a:xfrm>
            <a:off x="695325" y="53632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2" name="图片 71" descr="a2ef5f93-a675-11f1-9577-b22dae881a06"/>
          <p:cNvPicPr/>
          <p:nvPr>
            <p:custDataLst>
              <p:tags r:id="rId64"/>
            </p:custDataLst>
          </p:nvPr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 t="-177" b="177"/>
          <a:stretch>
            <a:fillRect/>
          </a:stretch>
        </p:blipFill>
        <p:spPr>
          <a:xfrm>
            <a:off x="752475" y="5420360"/>
            <a:ext cx="152400" cy="152400"/>
          </a:xfrm>
          <a:prstGeom prst="rect">
            <a:avLst/>
          </a:prstGeom>
        </p:spPr>
      </p:pic>
      <p:sp>
        <p:nvSpPr>
          <p:cNvPr id="75" name="文本框 74"/>
          <p:cNvSpPr txBox="1"/>
          <p:nvPr>
            <p:custDataLst>
              <p:tags r:id="rId67"/>
            </p:custDataLst>
          </p:nvPr>
        </p:nvSpPr>
        <p:spPr>
          <a:xfrm>
            <a:off x="1038225" y="5370624"/>
            <a:ext cx="120491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chemeClr val="tx2"/>
                </a:solidFill>
                <a:cs typeface="+mn-lt"/>
              </a:rPr>
              <a:t>⑥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 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扩大场景</a:t>
            </a:r>
            <a:endParaRPr lang="zh-CN" altLang="en-US" sz="1500" b="1">
              <a:solidFill>
                <a:schemeClr val="tx2"/>
              </a:solidFill>
              <a:cs typeface="+mn-lt"/>
            </a:endParaRPr>
          </a:p>
        </p:txBody>
      </p:sp>
      <p:grpSp>
        <p:nvGrpSpPr>
          <p:cNvPr id="112" name="组合 111"/>
          <p:cNvGrpSpPr/>
          <p:nvPr/>
        </p:nvGrpSpPr>
        <p:grpSpPr>
          <a:xfrm>
            <a:off x="4291965" y="5217160"/>
            <a:ext cx="3606800" cy="539115"/>
            <a:chOff x="6759" y="8216"/>
            <a:chExt cx="5680" cy="849"/>
          </a:xfrm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grpSpPr>
        <p:sp>
          <p:nvSpPr>
            <p:cNvPr id="76" name="任意多边形 75"/>
            <p:cNvSpPr/>
            <p:nvPr>
              <p:custDataLst>
                <p:tags r:id="rId68"/>
              </p:custDataLst>
            </p:nvPr>
          </p:nvSpPr>
          <p:spPr>
            <a:xfrm>
              <a:off x="6759" y="8216"/>
              <a:ext cx="5680" cy="849"/>
            </a:xfrm>
            <a:custGeom>
              <a:avLst/>
              <a:gdLst>
                <a:gd name="sw" fmla="*/ 1 w 5679"/>
                <a:gd name="sh" fmla="*/ 1 h 849"/>
                <a:gd name="mins" fmla="min sw sh"/>
                <a:gd name="dsw" fmla="+- 0 sw mins"/>
                <a:gd name="dsh" fmla="+- 0 sh mins"/>
                <a:gd name="p0x0" fmla="*/ 300 w 5679"/>
                <a:gd name="p0y0" fmla="*/ 0 h 849"/>
                <a:gd name="p0x1" fmla="*/ 5379 w 5679"/>
                <a:gd name="p0y1" fmla="*/ 0 h 849"/>
                <a:gd name="p0x2" fmla="*/ 5545 w 5679"/>
                <a:gd name="p0y2" fmla="*/ 0 h 849"/>
                <a:gd name="p0x3" fmla="*/ 5679 w 5679"/>
                <a:gd name="p0y3" fmla="*/ 134 h 849"/>
                <a:gd name="p0x4" fmla="*/ 5679 w 5679"/>
                <a:gd name="p0y4" fmla="*/ 300 h 849"/>
                <a:gd name="p0x5" fmla="*/ 5679 w 5679"/>
                <a:gd name="p0y5" fmla="*/ 549 h 849"/>
                <a:gd name="p0x6" fmla="*/ 5679 w 5679"/>
                <a:gd name="p0y6" fmla="*/ 714 h 849"/>
                <a:gd name="p0x7" fmla="*/ 5545 w 5679"/>
                <a:gd name="p0y7" fmla="*/ 849 h 849"/>
                <a:gd name="p0x8" fmla="*/ 5379 w 5679"/>
                <a:gd name="p0y8" fmla="*/ 849 h 849"/>
                <a:gd name="p0x9" fmla="*/ 300 w 5679"/>
                <a:gd name="p0y9" fmla="*/ 849 h 849"/>
                <a:gd name="p0x10" fmla="*/ 134 w 5679"/>
                <a:gd name="p0y10" fmla="*/ 849 h 849"/>
                <a:gd name="p0x11" fmla="*/ 0 w 5679"/>
                <a:gd name="p0y11" fmla="*/ 714 h 849"/>
                <a:gd name="p0x12" fmla="*/ 0 w 5679"/>
                <a:gd name="p0y12" fmla="*/ 549 h 849"/>
                <a:gd name="p0x13" fmla="*/ 0 w 5679"/>
                <a:gd name="p0y13" fmla="*/ 300 h 849"/>
                <a:gd name="p0x14" fmla="*/ 0 w 5679"/>
                <a:gd name="p0y14" fmla="*/ 134 h 849"/>
                <a:gd name="p0x15" fmla="*/ 134 w 5679"/>
                <a:gd name="p0y15" fmla="*/ 0 h 849"/>
                <a:gd name="p0x16" fmla="*/ 300 w 5679"/>
                <a:gd name="p0y16" fmla="*/ 0 h 84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7843"/>
                  </a:srgbClr>
                </a:gs>
                <a:gs pos="100000">
                  <a:srgbClr val="FFFFFF">
                    <a:alpha val="72157"/>
                  </a:srgbClr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任意多边形 76"/>
            <p:cNvSpPr/>
            <p:nvPr>
              <p:custDataLst>
                <p:tags r:id="rId69"/>
              </p:custDataLst>
            </p:nvPr>
          </p:nvSpPr>
          <p:spPr>
            <a:xfrm>
              <a:off x="6945" y="8216"/>
              <a:ext cx="5407" cy="99"/>
            </a:xfrm>
            <a:custGeom>
              <a:avLst/>
              <a:gdLst>
                <a:gd name="sw" fmla="*/ 1 w 5407"/>
                <a:gd name="sh" fmla="*/ 1 h 98"/>
                <a:gd name="mins" fmla="min sw sh"/>
                <a:gd name="dsw" fmla="+- 0 sw mins"/>
                <a:gd name="dsh" fmla="+- 0 sh mins"/>
                <a:gd name="p0x0" fmla="*/ 114 w 5407"/>
                <a:gd name="p0y0" fmla="*/ 0 h 98"/>
                <a:gd name="p0x1" fmla="*/ 5194 w 5407"/>
                <a:gd name="p0y1" fmla="*/ 0 h 98"/>
                <a:gd name="p0x2" fmla="*/ 5277 w 5407"/>
                <a:gd name="p0y2" fmla="*/ 0 h 98"/>
                <a:gd name="p0x3" fmla="*/ 5352 w 5407"/>
                <a:gd name="p0y3" fmla="*/ 33 h 98"/>
                <a:gd name="p0x4" fmla="*/ 5407 w 5407"/>
                <a:gd name="p0y4" fmla="*/ 87 h 98"/>
                <a:gd name="p0x5" fmla="*/ 5396 w 5407"/>
                <a:gd name="p0y5" fmla="*/ 98 h 98"/>
                <a:gd name="p0x6" fmla="*/ 5344 w 5407"/>
                <a:gd name="p0y6" fmla="*/ 46 h 98"/>
                <a:gd name="p0x7" fmla="*/ 5273 w 5407"/>
                <a:gd name="p0y7" fmla="*/ 15 h 98"/>
                <a:gd name="p0x8" fmla="*/ 5194 w 5407"/>
                <a:gd name="p0y8" fmla="*/ 15 h 98"/>
                <a:gd name="p0x9" fmla="*/ 114 w 5407"/>
                <a:gd name="p0y9" fmla="*/ 15 h 98"/>
                <a:gd name="p0x10" fmla="*/ 80 w 5407"/>
                <a:gd name="p0y10" fmla="*/ 15 h 98"/>
                <a:gd name="p0x11" fmla="*/ 47 w 5407"/>
                <a:gd name="p0y11" fmla="*/ 22 h 98"/>
                <a:gd name="p0x12" fmla="*/ 17 w 5407"/>
                <a:gd name="p0y12" fmla="*/ 36 h 98"/>
                <a:gd name="p0x13" fmla="*/ 0 w 5407"/>
                <a:gd name="p0y13" fmla="*/ 22 h 98"/>
                <a:gd name="p0x14" fmla="*/ 0 w 5407"/>
                <a:gd name="p0y14" fmla="*/ 22 h 98"/>
                <a:gd name="p0x15" fmla="*/ 35 w 5407"/>
                <a:gd name="p0y15" fmla="*/ 8 h 98"/>
                <a:gd name="p0x16" fmla="*/ 74 w 5407"/>
                <a:gd name="p0y16" fmla="*/ 0 h 98"/>
                <a:gd name="p0x17" fmla="*/ 114 w 5407"/>
                <a:gd name="p0y17" fmla="*/ 0 h 9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任意多边形 77"/>
            <p:cNvSpPr/>
            <p:nvPr>
              <p:custDataLst>
                <p:tags r:id="rId70"/>
              </p:custDataLst>
            </p:nvPr>
          </p:nvSpPr>
          <p:spPr>
            <a:xfrm>
              <a:off x="12341" y="8304"/>
              <a:ext cx="98" cy="674"/>
            </a:xfrm>
            <a:custGeom>
              <a:avLst/>
              <a:gdLst>
                <a:gd name="sw" fmla="*/ 1 w 98"/>
                <a:gd name="sh" fmla="*/ 1 h 673"/>
                <a:gd name="mins" fmla="min sw sh"/>
                <a:gd name="dsw" fmla="+- 0 sw mins"/>
                <a:gd name="dsh" fmla="+- 0 sh mins"/>
                <a:gd name="p0x0" fmla="*/ 98 w 98"/>
                <a:gd name="p0y0" fmla="*/ 212 h 673"/>
                <a:gd name="p0x1" fmla="*/ 98 w 98"/>
                <a:gd name="p0y1" fmla="*/ 461 h 673"/>
                <a:gd name="p0x2" fmla="*/ 98 w 98"/>
                <a:gd name="p0y2" fmla="*/ 543 h 673"/>
                <a:gd name="p0x3" fmla="*/ 64 w 98"/>
                <a:gd name="p0y3" fmla="*/ 618 h 673"/>
                <a:gd name="p0x4" fmla="*/ 10 w 98"/>
                <a:gd name="p0y4" fmla="*/ 673 h 673"/>
                <a:gd name="p0x5" fmla="*/ 0 w 98"/>
                <a:gd name="p0y5" fmla="*/ 662 h 673"/>
                <a:gd name="p0x6" fmla="*/ 51 w 98"/>
                <a:gd name="p0y6" fmla="*/ 611 h 673"/>
                <a:gd name="p0x7" fmla="*/ 83 w 98"/>
                <a:gd name="p0y7" fmla="*/ 539 h 673"/>
                <a:gd name="p0x8" fmla="*/ 83 w 98"/>
                <a:gd name="p0y8" fmla="*/ 461 h 673"/>
                <a:gd name="p0x9" fmla="*/ 83 w 98"/>
                <a:gd name="p0y9" fmla="*/ 212 h 673"/>
                <a:gd name="p0x10" fmla="*/ 83 w 98"/>
                <a:gd name="p0y10" fmla="*/ 133 h 673"/>
                <a:gd name="p0x11" fmla="*/ 51 w 98"/>
                <a:gd name="p0y11" fmla="*/ 62 h 673"/>
                <a:gd name="p0x12" fmla="*/ 0 w 98"/>
                <a:gd name="p0y12" fmla="*/ 10 h 673"/>
                <a:gd name="p0x13" fmla="*/ 10 w 98"/>
                <a:gd name="p0y13" fmla="*/ 0 h 673"/>
                <a:gd name="p0x14" fmla="*/ 64 w 98"/>
                <a:gd name="p0y14" fmla="*/ 54 h 673"/>
                <a:gd name="p0x15" fmla="*/ 98 w 98"/>
                <a:gd name="p0y15" fmla="*/ 129 h 673"/>
                <a:gd name="p0x16" fmla="*/ 98 w 98"/>
                <a:gd name="p0y16" fmla="*/ 212 h 67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任意多边形 78"/>
            <p:cNvSpPr/>
            <p:nvPr>
              <p:custDataLst>
                <p:tags r:id="rId71"/>
              </p:custDataLst>
            </p:nvPr>
          </p:nvSpPr>
          <p:spPr>
            <a:xfrm>
              <a:off x="6945" y="8967"/>
              <a:ext cx="5407" cy="98"/>
            </a:xfrm>
            <a:custGeom>
              <a:avLst/>
              <a:gdLst>
                <a:gd name="sw" fmla="*/ 1 w 5406"/>
                <a:gd name="sh" fmla="*/ 1 h 98"/>
                <a:gd name="mins" fmla="min sw sh"/>
                <a:gd name="dsw" fmla="+- 0 sw mins"/>
                <a:gd name="dsh" fmla="+- 0 sh mins"/>
                <a:gd name="p0x0" fmla="*/ 5194 w 5406"/>
                <a:gd name="p0y0" fmla="*/ 98 h 98"/>
                <a:gd name="p0x1" fmla="*/ 114 w 5406"/>
                <a:gd name="p0y1" fmla="*/ 98 h 98"/>
                <a:gd name="p0x2" fmla="*/ 74 w 5406"/>
                <a:gd name="p0y2" fmla="*/ 98 h 98"/>
                <a:gd name="p0x3" fmla="*/ 35 w 5406"/>
                <a:gd name="p0y3" fmla="*/ 90 h 98"/>
                <a:gd name="p0x4" fmla="*/ 0 w 5406"/>
                <a:gd name="p0y4" fmla="*/ 75 h 98"/>
                <a:gd name="p0x5" fmla="*/ 17 w 5406"/>
                <a:gd name="p0y5" fmla="*/ 61 h 98"/>
                <a:gd name="p0x6" fmla="*/ 17 w 5406"/>
                <a:gd name="p0y6" fmla="*/ 61 h 98"/>
                <a:gd name="p0x7" fmla="*/ 47 w 5406"/>
                <a:gd name="p0y7" fmla="*/ 75 h 98"/>
                <a:gd name="p0x8" fmla="*/ 80 w 5406"/>
                <a:gd name="p0y8" fmla="*/ 83 h 98"/>
                <a:gd name="p0x9" fmla="*/ 114 w 5406"/>
                <a:gd name="p0y9" fmla="*/ 83 h 98"/>
                <a:gd name="p0x10" fmla="*/ 5194 w 5406"/>
                <a:gd name="p0y10" fmla="*/ 83 h 98"/>
                <a:gd name="p0x11" fmla="*/ 5273 w 5406"/>
                <a:gd name="p0y11" fmla="*/ 83 h 98"/>
                <a:gd name="p0x12" fmla="*/ 5344 w 5406"/>
                <a:gd name="p0y12" fmla="*/ 51 h 98"/>
                <a:gd name="p0x13" fmla="*/ 5396 w 5406"/>
                <a:gd name="p0y13" fmla="*/ 0 h 98"/>
                <a:gd name="p0x14" fmla="*/ 5406 w 5406"/>
                <a:gd name="p0y14" fmla="*/ 10 h 98"/>
                <a:gd name="p0x15" fmla="*/ 5352 w 5406"/>
                <a:gd name="p0y15" fmla="*/ 64 h 98"/>
                <a:gd name="p0x16" fmla="*/ 5277 w 5406"/>
                <a:gd name="p0y16" fmla="*/ 98 h 98"/>
                <a:gd name="p0x17" fmla="*/ 5194 w 5406"/>
                <a:gd name="p0y17" fmla="*/ 98 h 9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任意多边形 79"/>
            <p:cNvSpPr/>
            <p:nvPr>
              <p:custDataLst>
                <p:tags r:id="rId72"/>
              </p:custDataLst>
            </p:nvPr>
          </p:nvSpPr>
          <p:spPr>
            <a:xfrm>
              <a:off x="6759" y="8239"/>
              <a:ext cx="203" cy="804"/>
            </a:xfrm>
            <a:custGeom>
              <a:avLst/>
              <a:gdLst>
                <a:gd name="sw" fmla="*/ 1 w 202"/>
                <a:gd name="sh" fmla="*/ 1 h 803"/>
                <a:gd name="mins" fmla="min sw sh"/>
                <a:gd name="dsw" fmla="+- 0 sw mins"/>
                <a:gd name="dsh" fmla="+- 0 sh mins"/>
                <a:gd name="p0x0" fmla="*/ 0 w 202"/>
                <a:gd name="p0y0" fmla="*/ 526 h 803"/>
                <a:gd name="p0x1" fmla="*/ 0 w 202"/>
                <a:gd name="p0y1" fmla="*/ 277 h 803"/>
                <a:gd name="p0x2" fmla="*/ 0 w 202"/>
                <a:gd name="p0y2" fmla="*/ 152 h 803"/>
                <a:gd name="p0x3" fmla="*/ 76 w 202"/>
                <a:gd name="p0y3" fmla="*/ 45 h 803"/>
                <a:gd name="p0x4" fmla="*/ 185 w 202"/>
                <a:gd name="p0y4" fmla="*/ 0 h 803"/>
                <a:gd name="p0x5" fmla="*/ 202 w 202"/>
                <a:gd name="p0y5" fmla="*/ 13 h 803"/>
                <a:gd name="p0x6" fmla="*/ 202 w 202"/>
                <a:gd name="p0y6" fmla="*/ 13 h 803"/>
                <a:gd name="p0x7" fmla="*/ 109 w 202"/>
                <a:gd name="p0y7" fmla="*/ 56 h 803"/>
                <a:gd name="p0x8" fmla="*/ 45 w 202"/>
                <a:gd name="p0y8" fmla="*/ 158 h 803"/>
                <a:gd name="p0x9" fmla="*/ 45 w 202"/>
                <a:gd name="p0y9" fmla="*/ 277 h 803"/>
                <a:gd name="p0x10" fmla="*/ 45 w 202"/>
                <a:gd name="p0y10" fmla="*/ 526 h 803"/>
                <a:gd name="p0x11" fmla="*/ 45 w 202"/>
                <a:gd name="p0y11" fmla="*/ 644 h 803"/>
                <a:gd name="p0x12" fmla="*/ 109 w 202"/>
                <a:gd name="p0y12" fmla="*/ 746 h 803"/>
                <a:gd name="p0x13" fmla="*/ 202 w 202"/>
                <a:gd name="p0y13" fmla="*/ 789 h 803"/>
                <a:gd name="p0x14" fmla="*/ 185 w 202"/>
                <a:gd name="p0y14" fmla="*/ 803 h 803"/>
                <a:gd name="p0x15" fmla="*/ 185 w 202"/>
                <a:gd name="p0y15" fmla="*/ 803 h 803"/>
                <a:gd name="p0x16" fmla="*/ 76 w 202"/>
                <a:gd name="p0y16" fmla="*/ 758 h 803"/>
                <a:gd name="p0x17" fmla="*/ 0 w 202"/>
                <a:gd name="p0y17" fmla="*/ 651 h 803"/>
                <a:gd name="p0x18" fmla="*/ 0 w 202"/>
                <a:gd name="p0y18" fmla="*/ 526 h 80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>
                <a:alpha val="38039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2" name="任意多边形 81"/>
          <p:cNvSpPr/>
          <p:nvPr>
            <p:custDataLst>
              <p:tags r:id="rId73"/>
            </p:custDataLst>
          </p:nvPr>
        </p:nvSpPr>
        <p:spPr>
          <a:xfrm>
            <a:off x="4434840" y="535368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3" name="图片 82" descr="a2ef6088-a675-11f1-9577-b22dae881a06"/>
          <p:cNvPicPr/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 l="-400" t="-177" r="400" b="177"/>
          <a:stretch>
            <a:fillRect/>
          </a:stretch>
        </p:blipFill>
        <p:spPr>
          <a:xfrm>
            <a:off x="4491990" y="5410835"/>
            <a:ext cx="152400" cy="152400"/>
          </a:xfrm>
          <a:prstGeom prst="rect">
            <a:avLst/>
          </a:prstGeom>
        </p:spPr>
      </p:pic>
      <p:sp>
        <p:nvSpPr>
          <p:cNvPr id="86" name="文本框 85"/>
          <p:cNvSpPr txBox="1"/>
          <p:nvPr>
            <p:custDataLst>
              <p:tags r:id="rId77"/>
            </p:custDataLst>
          </p:nvPr>
        </p:nvSpPr>
        <p:spPr>
          <a:xfrm>
            <a:off x="4778349" y="5361099"/>
            <a:ext cx="120491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chemeClr val="tx2"/>
                </a:solidFill>
                <a:cs typeface="+mn-lt"/>
              </a:rPr>
              <a:t>⑤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 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效果提升</a:t>
            </a:r>
            <a:endParaRPr lang="zh-CN" altLang="en-US" sz="1500" b="1">
              <a:solidFill>
                <a:schemeClr val="tx2"/>
              </a:solidFill>
              <a:cs typeface="+mn-lt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8013065" y="5217160"/>
            <a:ext cx="3606800" cy="539115"/>
            <a:chOff x="12619" y="8216"/>
            <a:chExt cx="5680" cy="849"/>
          </a:xfrm>
          <a:effectLst>
            <a:outerShdw blurRad="457200" dist="76200" dir="5399999" algn="ctr" rotWithShape="0">
              <a:schemeClr val="accent1">
                <a:alpha val="10196"/>
              </a:schemeClr>
            </a:outerShdw>
          </a:effectLst>
        </p:grpSpPr>
        <p:sp>
          <p:nvSpPr>
            <p:cNvPr id="87" name="任意多边形 86"/>
            <p:cNvSpPr/>
            <p:nvPr>
              <p:custDataLst>
                <p:tags r:id="rId78"/>
              </p:custDataLst>
            </p:nvPr>
          </p:nvSpPr>
          <p:spPr>
            <a:xfrm>
              <a:off x="12619" y="8216"/>
              <a:ext cx="5680" cy="849"/>
            </a:xfrm>
            <a:custGeom>
              <a:avLst/>
              <a:gdLst>
                <a:gd name="sw" fmla="*/ 1 w 5679"/>
                <a:gd name="sh" fmla="*/ 1 h 849"/>
                <a:gd name="mins" fmla="min sw sh"/>
                <a:gd name="dsw" fmla="+- 0 sw mins"/>
                <a:gd name="dsh" fmla="+- 0 sh mins"/>
                <a:gd name="p0x0" fmla="*/ 300 w 5679"/>
                <a:gd name="p0y0" fmla="*/ 0 h 849"/>
                <a:gd name="p0x1" fmla="*/ 5379 w 5679"/>
                <a:gd name="p0y1" fmla="*/ 0 h 849"/>
                <a:gd name="p0x2" fmla="*/ 5545 w 5679"/>
                <a:gd name="p0y2" fmla="*/ 0 h 849"/>
                <a:gd name="p0x3" fmla="*/ 5679 w 5679"/>
                <a:gd name="p0y3" fmla="*/ 134 h 849"/>
                <a:gd name="p0x4" fmla="*/ 5679 w 5679"/>
                <a:gd name="p0y4" fmla="*/ 300 h 849"/>
                <a:gd name="p0x5" fmla="*/ 5679 w 5679"/>
                <a:gd name="p0y5" fmla="*/ 549 h 849"/>
                <a:gd name="p0x6" fmla="*/ 5679 w 5679"/>
                <a:gd name="p0y6" fmla="*/ 714 h 849"/>
                <a:gd name="p0x7" fmla="*/ 5545 w 5679"/>
                <a:gd name="p0y7" fmla="*/ 849 h 849"/>
                <a:gd name="p0x8" fmla="*/ 5379 w 5679"/>
                <a:gd name="p0y8" fmla="*/ 849 h 849"/>
                <a:gd name="p0x9" fmla="*/ 300 w 5679"/>
                <a:gd name="p0y9" fmla="*/ 849 h 849"/>
                <a:gd name="p0x10" fmla="*/ 134 w 5679"/>
                <a:gd name="p0y10" fmla="*/ 849 h 849"/>
                <a:gd name="p0x11" fmla="*/ 0 w 5679"/>
                <a:gd name="p0y11" fmla="*/ 714 h 849"/>
                <a:gd name="p0x12" fmla="*/ 0 w 5679"/>
                <a:gd name="p0y12" fmla="*/ 549 h 849"/>
                <a:gd name="p0x13" fmla="*/ 0 w 5679"/>
                <a:gd name="p0y13" fmla="*/ 300 h 849"/>
                <a:gd name="p0x14" fmla="*/ 0 w 5679"/>
                <a:gd name="p0y14" fmla="*/ 134 h 849"/>
                <a:gd name="p0x15" fmla="*/ 134 w 5679"/>
                <a:gd name="p0y15" fmla="*/ 0 h 849"/>
                <a:gd name="p0x16" fmla="*/ 300 w 5679"/>
                <a:gd name="p0y16" fmla="*/ 0 h 84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7843"/>
                  </a:srgbClr>
                </a:gs>
                <a:gs pos="100000">
                  <a:srgbClr val="FFFFFF">
                    <a:alpha val="72157"/>
                  </a:srgbClr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任意多边形 87"/>
            <p:cNvSpPr/>
            <p:nvPr>
              <p:custDataLst>
                <p:tags r:id="rId79"/>
              </p:custDataLst>
            </p:nvPr>
          </p:nvSpPr>
          <p:spPr>
            <a:xfrm>
              <a:off x="12805" y="8216"/>
              <a:ext cx="5407" cy="99"/>
            </a:xfrm>
            <a:custGeom>
              <a:avLst/>
              <a:gdLst>
                <a:gd name="sw" fmla="*/ 1 w 5407"/>
                <a:gd name="sh" fmla="*/ 1 h 98"/>
                <a:gd name="mins" fmla="min sw sh"/>
                <a:gd name="dsw" fmla="+- 0 sw mins"/>
                <a:gd name="dsh" fmla="+- 0 sh mins"/>
                <a:gd name="p0x0" fmla="*/ 114 w 5407"/>
                <a:gd name="p0y0" fmla="*/ 0 h 98"/>
                <a:gd name="p0x1" fmla="*/ 5194 w 5407"/>
                <a:gd name="p0y1" fmla="*/ 0 h 98"/>
                <a:gd name="p0x2" fmla="*/ 5277 w 5407"/>
                <a:gd name="p0y2" fmla="*/ 0 h 98"/>
                <a:gd name="p0x3" fmla="*/ 5352 w 5407"/>
                <a:gd name="p0y3" fmla="*/ 33 h 98"/>
                <a:gd name="p0x4" fmla="*/ 5407 w 5407"/>
                <a:gd name="p0y4" fmla="*/ 87 h 98"/>
                <a:gd name="p0x5" fmla="*/ 5396 w 5407"/>
                <a:gd name="p0y5" fmla="*/ 98 h 98"/>
                <a:gd name="p0x6" fmla="*/ 5344 w 5407"/>
                <a:gd name="p0y6" fmla="*/ 46 h 98"/>
                <a:gd name="p0x7" fmla="*/ 5273 w 5407"/>
                <a:gd name="p0y7" fmla="*/ 15 h 98"/>
                <a:gd name="p0x8" fmla="*/ 5194 w 5407"/>
                <a:gd name="p0y8" fmla="*/ 15 h 98"/>
                <a:gd name="p0x9" fmla="*/ 114 w 5407"/>
                <a:gd name="p0y9" fmla="*/ 15 h 98"/>
                <a:gd name="p0x10" fmla="*/ 80 w 5407"/>
                <a:gd name="p0y10" fmla="*/ 15 h 98"/>
                <a:gd name="p0x11" fmla="*/ 47 w 5407"/>
                <a:gd name="p0y11" fmla="*/ 22 h 98"/>
                <a:gd name="p0x12" fmla="*/ 17 w 5407"/>
                <a:gd name="p0y12" fmla="*/ 36 h 98"/>
                <a:gd name="p0x13" fmla="*/ 0 w 5407"/>
                <a:gd name="p0y13" fmla="*/ 22 h 98"/>
                <a:gd name="p0x14" fmla="*/ 0 w 5407"/>
                <a:gd name="p0y14" fmla="*/ 22 h 98"/>
                <a:gd name="p0x15" fmla="*/ 35 w 5407"/>
                <a:gd name="p0y15" fmla="*/ 8 h 98"/>
                <a:gd name="p0x16" fmla="*/ 74 w 5407"/>
                <a:gd name="p0y16" fmla="*/ 0 h 98"/>
                <a:gd name="p0x17" fmla="*/ 114 w 5407"/>
                <a:gd name="p0y17" fmla="*/ 0 h 9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任意多边形 88"/>
            <p:cNvSpPr/>
            <p:nvPr>
              <p:custDataLst>
                <p:tags r:id="rId80"/>
              </p:custDataLst>
            </p:nvPr>
          </p:nvSpPr>
          <p:spPr>
            <a:xfrm>
              <a:off x="18201" y="8304"/>
              <a:ext cx="98" cy="674"/>
            </a:xfrm>
            <a:custGeom>
              <a:avLst/>
              <a:gdLst>
                <a:gd name="sw" fmla="*/ 1 w 98"/>
                <a:gd name="sh" fmla="*/ 1 h 673"/>
                <a:gd name="mins" fmla="min sw sh"/>
                <a:gd name="dsw" fmla="+- 0 sw mins"/>
                <a:gd name="dsh" fmla="+- 0 sh mins"/>
                <a:gd name="p0x0" fmla="*/ 98 w 98"/>
                <a:gd name="p0y0" fmla="*/ 212 h 673"/>
                <a:gd name="p0x1" fmla="*/ 98 w 98"/>
                <a:gd name="p0y1" fmla="*/ 461 h 673"/>
                <a:gd name="p0x2" fmla="*/ 98 w 98"/>
                <a:gd name="p0y2" fmla="*/ 543 h 673"/>
                <a:gd name="p0x3" fmla="*/ 64 w 98"/>
                <a:gd name="p0y3" fmla="*/ 618 h 673"/>
                <a:gd name="p0x4" fmla="*/ 10 w 98"/>
                <a:gd name="p0y4" fmla="*/ 673 h 673"/>
                <a:gd name="p0x5" fmla="*/ 0 w 98"/>
                <a:gd name="p0y5" fmla="*/ 662 h 673"/>
                <a:gd name="p0x6" fmla="*/ 51 w 98"/>
                <a:gd name="p0y6" fmla="*/ 611 h 673"/>
                <a:gd name="p0x7" fmla="*/ 83 w 98"/>
                <a:gd name="p0y7" fmla="*/ 539 h 673"/>
                <a:gd name="p0x8" fmla="*/ 83 w 98"/>
                <a:gd name="p0y8" fmla="*/ 461 h 673"/>
                <a:gd name="p0x9" fmla="*/ 83 w 98"/>
                <a:gd name="p0y9" fmla="*/ 212 h 673"/>
                <a:gd name="p0x10" fmla="*/ 83 w 98"/>
                <a:gd name="p0y10" fmla="*/ 133 h 673"/>
                <a:gd name="p0x11" fmla="*/ 51 w 98"/>
                <a:gd name="p0y11" fmla="*/ 62 h 673"/>
                <a:gd name="p0x12" fmla="*/ 0 w 98"/>
                <a:gd name="p0y12" fmla="*/ 10 h 673"/>
                <a:gd name="p0x13" fmla="*/ 10 w 98"/>
                <a:gd name="p0y13" fmla="*/ 0 h 673"/>
                <a:gd name="p0x14" fmla="*/ 64 w 98"/>
                <a:gd name="p0y14" fmla="*/ 54 h 673"/>
                <a:gd name="p0x15" fmla="*/ 98 w 98"/>
                <a:gd name="p0y15" fmla="*/ 129 h 673"/>
                <a:gd name="p0x16" fmla="*/ 98 w 98"/>
                <a:gd name="p0y16" fmla="*/ 212 h 67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任意多边形 89"/>
            <p:cNvSpPr/>
            <p:nvPr>
              <p:custDataLst>
                <p:tags r:id="rId81"/>
              </p:custDataLst>
            </p:nvPr>
          </p:nvSpPr>
          <p:spPr>
            <a:xfrm>
              <a:off x="12805" y="8967"/>
              <a:ext cx="5407" cy="98"/>
            </a:xfrm>
            <a:custGeom>
              <a:avLst/>
              <a:gdLst>
                <a:gd name="sw" fmla="*/ 1 w 5406"/>
                <a:gd name="sh" fmla="*/ 1 h 98"/>
                <a:gd name="mins" fmla="min sw sh"/>
                <a:gd name="dsw" fmla="+- 0 sw mins"/>
                <a:gd name="dsh" fmla="+- 0 sh mins"/>
                <a:gd name="p0x0" fmla="*/ 5194 w 5406"/>
                <a:gd name="p0y0" fmla="*/ 98 h 98"/>
                <a:gd name="p0x1" fmla="*/ 114 w 5406"/>
                <a:gd name="p0y1" fmla="*/ 98 h 98"/>
                <a:gd name="p0x2" fmla="*/ 74 w 5406"/>
                <a:gd name="p0y2" fmla="*/ 98 h 98"/>
                <a:gd name="p0x3" fmla="*/ 35 w 5406"/>
                <a:gd name="p0y3" fmla="*/ 90 h 98"/>
                <a:gd name="p0x4" fmla="*/ 0 w 5406"/>
                <a:gd name="p0y4" fmla="*/ 75 h 98"/>
                <a:gd name="p0x5" fmla="*/ 17 w 5406"/>
                <a:gd name="p0y5" fmla="*/ 61 h 98"/>
                <a:gd name="p0x6" fmla="*/ 17 w 5406"/>
                <a:gd name="p0y6" fmla="*/ 61 h 98"/>
                <a:gd name="p0x7" fmla="*/ 47 w 5406"/>
                <a:gd name="p0y7" fmla="*/ 75 h 98"/>
                <a:gd name="p0x8" fmla="*/ 80 w 5406"/>
                <a:gd name="p0y8" fmla="*/ 83 h 98"/>
                <a:gd name="p0x9" fmla="*/ 114 w 5406"/>
                <a:gd name="p0y9" fmla="*/ 83 h 98"/>
                <a:gd name="p0x10" fmla="*/ 5194 w 5406"/>
                <a:gd name="p0y10" fmla="*/ 83 h 98"/>
                <a:gd name="p0x11" fmla="*/ 5273 w 5406"/>
                <a:gd name="p0y11" fmla="*/ 83 h 98"/>
                <a:gd name="p0x12" fmla="*/ 5344 w 5406"/>
                <a:gd name="p0y12" fmla="*/ 51 h 98"/>
                <a:gd name="p0x13" fmla="*/ 5396 w 5406"/>
                <a:gd name="p0y13" fmla="*/ 0 h 98"/>
                <a:gd name="p0x14" fmla="*/ 5406 w 5406"/>
                <a:gd name="p0y14" fmla="*/ 10 h 98"/>
                <a:gd name="p0x15" fmla="*/ 5352 w 5406"/>
                <a:gd name="p0y15" fmla="*/ 64 h 98"/>
                <a:gd name="p0x16" fmla="*/ 5277 w 5406"/>
                <a:gd name="p0y16" fmla="*/ 98 h 98"/>
                <a:gd name="p0x17" fmla="*/ 5194 w 5406"/>
                <a:gd name="p0y17" fmla="*/ 98 h 9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任意多边形 90"/>
            <p:cNvSpPr/>
            <p:nvPr>
              <p:custDataLst>
                <p:tags r:id="rId82"/>
              </p:custDataLst>
            </p:nvPr>
          </p:nvSpPr>
          <p:spPr>
            <a:xfrm>
              <a:off x="12619" y="8239"/>
              <a:ext cx="203" cy="804"/>
            </a:xfrm>
            <a:custGeom>
              <a:avLst/>
              <a:gdLst>
                <a:gd name="sw" fmla="*/ 1 w 202"/>
                <a:gd name="sh" fmla="*/ 1 h 803"/>
                <a:gd name="mins" fmla="min sw sh"/>
                <a:gd name="dsw" fmla="+- 0 sw mins"/>
                <a:gd name="dsh" fmla="+- 0 sh mins"/>
                <a:gd name="p0x0" fmla="*/ 0 w 202"/>
                <a:gd name="p0y0" fmla="*/ 526 h 803"/>
                <a:gd name="p0x1" fmla="*/ 0 w 202"/>
                <a:gd name="p0y1" fmla="*/ 277 h 803"/>
                <a:gd name="p0x2" fmla="*/ 0 w 202"/>
                <a:gd name="p0y2" fmla="*/ 152 h 803"/>
                <a:gd name="p0x3" fmla="*/ 76 w 202"/>
                <a:gd name="p0y3" fmla="*/ 45 h 803"/>
                <a:gd name="p0x4" fmla="*/ 185 w 202"/>
                <a:gd name="p0y4" fmla="*/ 0 h 803"/>
                <a:gd name="p0x5" fmla="*/ 202 w 202"/>
                <a:gd name="p0y5" fmla="*/ 13 h 803"/>
                <a:gd name="p0x6" fmla="*/ 202 w 202"/>
                <a:gd name="p0y6" fmla="*/ 13 h 803"/>
                <a:gd name="p0x7" fmla="*/ 109 w 202"/>
                <a:gd name="p0y7" fmla="*/ 56 h 803"/>
                <a:gd name="p0x8" fmla="*/ 45 w 202"/>
                <a:gd name="p0y8" fmla="*/ 158 h 803"/>
                <a:gd name="p0x9" fmla="*/ 45 w 202"/>
                <a:gd name="p0y9" fmla="*/ 277 h 803"/>
                <a:gd name="p0x10" fmla="*/ 45 w 202"/>
                <a:gd name="p0y10" fmla="*/ 526 h 803"/>
                <a:gd name="p0x11" fmla="*/ 45 w 202"/>
                <a:gd name="p0y11" fmla="*/ 644 h 803"/>
                <a:gd name="p0x12" fmla="*/ 109 w 202"/>
                <a:gd name="p0y12" fmla="*/ 746 h 803"/>
                <a:gd name="p0x13" fmla="*/ 202 w 202"/>
                <a:gd name="p0y13" fmla="*/ 789 h 803"/>
                <a:gd name="p0x14" fmla="*/ 185 w 202"/>
                <a:gd name="p0y14" fmla="*/ 803 h 803"/>
                <a:gd name="p0x15" fmla="*/ 185 w 202"/>
                <a:gd name="p0y15" fmla="*/ 803 h 803"/>
                <a:gd name="p0x16" fmla="*/ 76 w 202"/>
                <a:gd name="p0y16" fmla="*/ 758 h 803"/>
                <a:gd name="p0x17" fmla="*/ 0 w 202"/>
                <a:gd name="p0y17" fmla="*/ 651 h 803"/>
                <a:gd name="p0x18" fmla="*/ 0 w 202"/>
                <a:gd name="p0y18" fmla="*/ 526 h 803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chemeClr val="accent1">
                <a:alpha val="38039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3" name="任意多边形 92"/>
          <p:cNvSpPr/>
          <p:nvPr>
            <p:custDataLst>
              <p:tags r:id="rId83"/>
            </p:custDataLst>
          </p:nvPr>
        </p:nvSpPr>
        <p:spPr>
          <a:xfrm>
            <a:off x="8155940" y="535368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>
              <a:lumMod val="16268"/>
              <a:lumOff val="83732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4" name="图片 93" descr="a2ef5f82-a675-11f1-9577-b22dae881a06"/>
          <p:cNvPicPr/>
          <p:nvPr>
            <p:custDataLst>
              <p:tags r:id="rId84"/>
            </p:custDataLst>
          </p:nvPr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 l="-383" t="-177" r="383" b="177"/>
          <a:stretch>
            <a:fillRect/>
          </a:stretch>
        </p:blipFill>
        <p:spPr>
          <a:xfrm>
            <a:off x="8213090" y="5410835"/>
            <a:ext cx="152400" cy="152400"/>
          </a:xfrm>
          <a:prstGeom prst="rect">
            <a:avLst/>
          </a:prstGeom>
        </p:spPr>
      </p:pic>
      <p:sp>
        <p:nvSpPr>
          <p:cNvPr id="97" name="文本框 96"/>
          <p:cNvSpPr txBox="1"/>
          <p:nvPr>
            <p:custDataLst>
              <p:tags r:id="rId87"/>
            </p:custDataLst>
          </p:nvPr>
        </p:nvSpPr>
        <p:spPr>
          <a:xfrm>
            <a:off x="8499424" y="5361099"/>
            <a:ext cx="211439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chemeClr val="tx2"/>
                </a:solidFill>
                <a:cs typeface="+mn-lt"/>
              </a:rPr>
              <a:t>④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 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修知识库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/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话术</a:t>
            </a:r>
            <a:r>
              <a:rPr lang="en-US" altLang="zh-CN" sz="1500" b="1">
                <a:solidFill>
                  <a:schemeClr val="tx2"/>
                </a:solidFill>
                <a:cs typeface="+mn-lt"/>
              </a:rPr>
              <a:t>/</a:t>
            </a:r>
            <a:r>
              <a:rPr lang="zh-CN" altLang="en-US" sz="1500" b="1">
                <a:solidFill>
                  <a:schemeClr val="tx2"/>
                </a:solidFill>
                <a:cs typeface="+mn-lt"/>
              </a:rPr>
              <a:t>策略</a:t>
            </a:r>
            <a:endParaRPr lang="zh-CN" altLang="en-US" sz="1500" b="1">
              <a:solidFill>
                <a:schemeClr val="tx2"/>
              </a:solidFill>
              <a:cs typeface="+mn-lt"/>
            </a:endParaRPr>
          </a:p>
        </p:txBody>
      </p:sp>
      <p:sp>
        <p:nvSpPr>
          <p:cNvPr id="98" name="任意多边形 97"/>
          <p:cNvSpPr/>
          <p:nvPr>
            <p:custDataLst>
              <p:tags r:id="rId88"/>
            </p:custDataLst>
          </p:nvPr>
        </p:nvSpPr>
        <p:spPr>
          <a:xfrm>
            <a:off x="5724525" y="4788535"/>
            <a:ext cx="742950" cy="742950"/>
          </a:xfrm>
          <a:custGeom>
            <a:avLst/>
            <a:gdLst>
              <a:gd name="sw" fmla="*/ 1 w 1170"/>
              <a:gd name="sh" fmla="*/ 1 h 1170"/>
              <a:gd name="mins" fmla="min sw sh"/>
              <a:gd name="dsw" fmla="+- 0 sw mins"/>
              <a:gd name="dsh" fmla="+- 0 sh mins"/>
              <a:gd name="p0x0" fmla="*/ 585 w 1170"/>
              <a:gd name="p0y0" fmla="*/ 0 h 1170"/>
              <a:gd name="p0x1" fmla="*/ 908 w 1170"/>
              <a:gd name="p0y1" fmla="*/ 0 h 1170"/>
              <a:gd name="p0x2" fmla="*/ 1170 w 1170"/>
              <a:gd name="p0y2" fmla="*/ 261 h 1170"/>
              <a:gd name="p0x3" fmla="*/ 1170 w 1170"/>
              <a:gd name="p0y3" fmla="*/ 585 h 1170"/>
              <a:gd name="p0x4" fmla="*/ 1170 w 1170"/>
              <a:gd name="p0y4" fmla="*/ 908 h 1170"/>
              <a:gd name="p0x5" fmla="*/ 908 w 1170"/>
              <a:gd name="p0y5" fmla="*/ 1170 h 1170"/>
              <a:gd name="p0x6" fmla="*/ 585 w 1170"/>
              <a:gd name="p0y6" fmla="*/ 1170 h 1170"/>
              <a:gd name="p0x7" fmla="*/ 261 w 1170"/>
              <a:gd name="p0y7" fmla="*/ 1170 h 1170"/>
              <a:gd name="p0x8" fmla="*/ 0 w 1170"/>
              <a:gd name="p0y8" fmla="*/ 908 h 1170"/>
              <a:gd name="p0x9" fmla="*/ 0 w 1170"/>
              <a:gd name="p0y9" fmla="*/ 585 h 1170"/>
              <a:gd name="p0x10" fmla="*/ 0 w 1170"/>
              <a:gd name="p0y10" fmla="*/ 261 h 1170"/>
              <a:gd name="p0x11" fmla="*/ 261 w 1170"/>
              <a:gd name="p0y11" fmla="*/ 0 h 1170"/>
              <a:gd name="p0x12" fmla="*/ 585 w 1170"/>
              <a:gd name="p0y12" fmla="*/ 0 h 117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sx="112821" sy="112821" algn="ctr" rotWithShape="0">
              <a:schemeClr val="accent1">
                <a:lumMod val="16268"/>
                <a:lumOff val="83732"/>
                <a:alpha val="10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9" name="文本框 98"/>
          <p:cNvSpPr txBox="1"/>
          <p:nvPr>
            <p:custDataLst>
              <p:tags r:id="rId89"/>
            </p:custDataLst>
          </p:nvPr>
        </p:nvSpPr>
        <p:spPr>
          <a:xfrm>
            <a:off x="5715000" y="5060315"/>
            <a:ext cx="762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chemeClr val="accent1">
                    <a:lumMod val="0"/>
                    <a:lumOff val="100000"/>
                  </a:schemeClr>
                </a:solidFill>
                <a:cs typeface="+mn-lt"/>
              </a:rPr>
              <a:t>迭代飞轮</a:t>
            </a:r>
            <a:endParaRPr sz="1200" b="1">
              <a:solidFill>
                <a:schemeClr val="accent1">
                  <a:lumMod val="0"/>
                  <a:lumOff val="100000"/>
                </a:schemeClr>
              </a:solidFill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8801100" y="-685800"/>
            <a:ext cx="4000500" cy="4000500"/>
          </a:xfrm>
          <a:custGeom>
            <a:avLst/>
            <a:gdLst>
              <a:gd name="sw" fmla="*/ 1 w 6300"/>
              <a:gd name="sh" fmla="*/ 1 h 6300"/>
              <a:gd name="mins" fmla="min sw sh"/>
              <a:gd name="dsw" fmla="+- 0 sw mins"/>
              <a:gd name="dsh" fmla="+- 0 sh mins"/>
              <a:gd name="p0x0" fmla="*/ 3150 w 6300"/>
              <a:gd name="p0y0" fmla="*/ 0 h 6300"/>
              <a:gd name="p0x1" fmla="*/ 4889 w 6300"/>
              <a:gd name="p0y1" fmla="*/ 0 h 6300"/>
              <a:gd name="p0x2" fmla="*/ 6300 w 6300"/>
              <a:gd name="p0y2" fmla="*/ 1410 h 6300"/>
              <a:gd name="p0x3" fmla="*/ 6300 w 6300"/>
              <a:gd name="p0y3" fmla="*/ 3150 h 6300"/>
              <a:gd name="p0x4" fmla="*/ 6300 w 6300"/>
              <a:gd name="p0y4" fmla="*/ 4889 h 6300"/>
              <a:gd name="p0x5" fmla="*/ 4889 w 6300"/>
              <a:gd name="p0y5" fmla="*/ 6300 h 6300"/>
              <a:gd name="p0x6" fmla="*/ 3150 w 6300"/>
              <a:gd name="p0y6" fmla="*/ 6300 h 6300"/>
              <a:gd name="p0x7" fmla="*/ 1410 w 6300"/>
              <a:gd name="p0y7" fmla="*/ 6300 h 6300"/>
              <a:gd name="p0x8" fmla="*/ 0 w 6300"/>
              <a:gd name="p0y8" fmla="*/ 4889 h 6300"/>
              <a:gd name="p0x9" fmla="*/ 0 w 6300"/>
              <a:gd name="p0y9" fmla="*/ 3150 h 6300"/>
              <a:gd name="p0x10" fmla="*/ 0 w 6300"/>
              <a:gd name="p0y10" fmla="*/ 1410 h 6300"/>
              <a:gd name="p0x11" fmla="*/ 1410 w 6300"/>
              <a:gd name="p0y11" fmla="*/ 0 h 6300"/>
              <a:gd name="p0x12" fmla="*/ 3150 w 6300"/>
              <a:gd name="p0y12" fmla="*/ 0 h 63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571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4"/>
            </p:custDataLst>
          </p:nvPr>
        </p:nvSpPr>
        <p:spPr>
          <a:xfrm>
            <a:off x="-365125" y="3977005"/>
            <a:ext cx="3428365" cy="3429000"/>
          </a:xfrm>
          <a:custGeom>
            <a:avLst/>
            <a:gdLst>
              <a:gd name="sw" fmla="*/ 1 w 5400"/>
              <a:gd name="sh" fmla="*/ 1 h 5400"/>
              <a:gd name="mins" fmla="min sw sh"/>
              <a:gd name="dsw" fmla="+- 0 sw mins"/>
              <a:gd name="dsh" fmla="+- 0 sh mins"/>
              <a:gd name="p0x0" fmla="*/ 2700 w 5400"/>
              <a:gd name="p0y0" fmla="*/ 0 h 5400"/>
              <a:gd name="p0x1" fmla="*/ 4191 w 5400"/>
              <a:gd name="p0y1" fmla="*/ 0 h 5400"/>
              <a:gd name="p0x2" fmla="*/ 5400 w 5400"/>
              <a:gd name="p0y2" fmla="*/ 1208 h 5400"/>
              <a:gd name="p0x3" fmla="*/ 5400 w 5400"/>
              <a:gd name="p0y3" fmla="*/ 2700 h 5400"/>
              <a:gd name="p0x4" fmla="*/ 5400 w 5400"/>
              <a:gd name="p0y4" fmla="*/ 4191 h 5400"/>
              <a:gd name="p0x5" fmla="*/ 4191 w 5400"/>
              <a:gd name="p0y5" fmla="*/ 5400 h 5400"/>
              <a:gd name="p0x6" fmla="*/ 2700 w 5400"/>
              <a:gd name="p0y6" fmla="*/ 5400 h 5400"/>
              <a:gd name="p0x7" fmla="*/ 1208 w 5400"/>
              <a:gd name="p0y7" fmla="*/ 5400 h 5400"/>
              <a:gd name="p0x8" fmla="*/ 0 w 5400"/>
              <a:gd name="p0y8" fmla="*/ 4191 h 5400"/>
              <a:gd name="p0x9" fmla="*/ 0 w 5400"/>
              <a:gd name="p0y9" fmla="*/ 2700 h 5400"/>
              <a:gd name="p0x10" fmla="*/ 0 w 5400"/>
              <a:gd name="p0y10" fmla="*/ 1208 h 5400"/>
              <a:gd name="p0x11" fmla="*/ 1208 w 5400"/>
              <a:gd name="p0y11" fmla="*/ 0 h 5400"/>
              <a:gd name="p0x12" fmla="*/ 2700 w 5400"/>
              <a:gd name="p0y12" fmla="*/ 0 h 54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  <a:effectLst>
            <a:softEdge rad="47625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809625" y="1400699"/>
            <a:ext cx="129123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lang="en-US" sz="1050" b="1" spc="315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AI </a:t>
            </a:r>
            <a:r>
              <a:rPr lang="zh-CN" sz="1050" b="1" spc="315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客服进化论</a:t>
            </a:r>
            <a:endParaRPr lang="zh-CN" sz="1050" b="1" spc="315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666750" y="1849326"/>
            <a:ext cx="3306070" cy="1398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>
                <a:solidFill>
                  <a:srgbClr val="1B3A5C"/>
                </a:solidFill>
                <a:latin typeface="+mj-lt"/>
                <a:ea typeface="+mj-ea"/>
                <a:cs typeface="+mj-lt"/>
              </a:rPr>
              <a:t>让客服只做</a:t>
            </a:r>
            <a:r>
              <a:rPr sz="4200" b="1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</a:rPr>
              <a:t>A</a:t>
            </a:r>
            <a:endParaRPr sz="4200" b="1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</a:endParaRPr>
          </a:p>
          <a:p>
            <a:pPr algn="l">
              <a:lnSpc>
                <a:spcPct val="104000"/>
              </a:lnSpc>
            </a:pPr>
            <a:r>
              <a:rPr lang="en-US" sz="4200" b="1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I</a:t>
            </a:r>
            <a:r>
              <a:rPr lang="zh-CN" altLang="en-US" sz="4200" b="1">
                <a:solidFill>
                  <a:srgbClr val="1A73E8"/>
                </a:solidFill>
                <a:latin typeface="MiSans Demibold" panose="00000700000000000000" charset="-122"/>
                <a:ea typeface="MiSans Demibold" panose="00000700000000000000" charset="-122"/>
                <a:cs typeface="MiSans Demibold" panose="00000700000000000000" charset="-122"/>
              </a:rPr>
              <a:t>做不了的事</a:t>
            </a:r>
            <a:endParaRPr lang="zh-CN" altLang="en-US" sz="4200" b="1">
              <a:solidFill>
                <a:srgbClr val="1A73E8"/>
              </a:solidFill>
              <a:latin typeface="MiSans Demibold" panose="00000700000000000000" charset="-122"/>
              <a:ea typeface="MiSans Demibold" panose="00000700000000000000" charset="-122"/>
              <a:cs typeface="MiSans Demibold" panose="00000700000000000000" charset="-122"/>
            </a:endParaRPr>
          </a:p>
        </p:txBody>
      </p:sp>
      <p:sp>
        <p:nvSpPr>
          <p:cNvPr id="9" name="矩形 8"/>
          <p:cNvSpPr/>
          <p:nvPr>
            <p:custDataLst>
              <p:tags r:id="rId9"/>
            </p:custDataLst>
          </p:nvPr>
        </p:nvSpPr>
        <p:spPr>
          <a:xfrm>
            <a:off x="666750" y="3557905"/>
            <a:ext cx="5705475" cy="9525"/>
          </a:xfrm>
          <a:prstGeom prst="rect">
            <a:avLst/>
          </a:prstGeom>
          <a:solidFill>
            <a:schemeClr val="accent1">
              <a:alpha val="16078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666750" y="3887676"/>
            <a:ext cx="3572323" cy="10143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2400" spc="48">
                <a:solidFill>
                  <a:srgbClr val="4A6B8A"/>
                </a:solidFill>
                <a:cs typeface="+mn-lt"/>
              </a:rPr>
              <a:t>不是替代客服，</a:t>
            </a:r>
            <a:endParaRPr sz="2400" spc="48">
              <a:solidFill>
                <a:srgbClr val="4A6B8A"/>
              </a:solidFill>
              <a:cs typeface="+mn-lt"/>
            </a:endParaRPr>
          </a:p>
          <a:p>
            <a:pPr algn="l">
              <a:lnSpc>
                <a:spcPct val="133000"/>
              </a:lnSpc>
            </a:pPr>
            <a:r>
              <a:rPr sz="2400" spc="48">
                <a:solidFill>
                  <a:srgbClr val="4A6B8A"/>
                </a:solidFill>
                <a:cs typeface="+mn-lt"/>
              </a:rPr>
              <a:t>是让客服只做有温度的事</a:t>
            </a:r>
            <a:endParaRPr sz="2400" spc="48">
              <a:solidFill>
                <a:srgbClr val="4A6B8A"/>
              </a:solidFill>
              <a:cs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666750" y="5138214"/>
            <a:ext cx="517818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把</a:t>
            </a:r>
            <a:r>
              <a:rPr lang="en-US" altLang="zh-CN" sz="1500" spc="30">
                <a:solidFill>
                  <a:srgbClr val="4A6B8A"/>
                </a:solidFill>
                <a:cs typeface="+mn-lt"/>
              </a:rPr>
              <a:t>60%</a:t>
            </a: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的重复问题交给</a:t>
            </a:r>
            <a:r>
              <a:rPr lang="en-US" altLang="zh-CN" sz="1500" spc="30">
                <a:solidFill>
                  <a:srgbClr val="4A6B8A"/>
                </a:solidFill>
                <a:cs typeface="+mn-lt"/>
              </a:rPr>
              <a:t>AI</a:t>
            </a: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，让</a:t>
            </a:r>
            <a:r>
              <a:rPr lang="en-US" altLang="zh-CN" sz="1500" spc="30">
                <a:solidFill>
                  <a:srgbClr val="4A6B8A"/>
                </a:solidFill>
                <a:cs typeface="+mn-lt"/>
              </a:rPr>
              <a:t>20</a:t>
            </a: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人的团队干出</a:t>
            </a:r>
            <a:r>
              <a:rPr lang="en-US" altLang="zh-CN" sz="1500" spc="30">
                <a:solidFill>
                  <a:srgbClr val="4A6B8A"/>
                </a:solidFill>
                <a:cs typeface="+mn-lt"/>
              </a:rPr>
              <a:t>35</a:t>
            </a:r>
            <a:r>
              <a:rPr lang="zh-CN" altLang="en-US" sz="1500" spc="30">
                <a:solidFill>
                  <a:srgbClr val="4A6B8A"/>
                </a:solidFill>
                <a:cs typeface="+mn-lt"/>
              </a:rPr>
              <a:t>人的活</a:t>
            </a:r>
            <a:endParaRPr lang="zh-CN" altLang="en-US" sz="1500" spc="30">
              <a:solidFill>
                <a:srgbClr val="4A6B8A"/>
              </a:solidFill>
              <a:cs typeface="+mn-lt"/>
            </a:endParaRPr>
          </a:p>
        </p:txBody>
      </p:sp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 rot="2700000">
            <a:off x="666115" y="1464945"/>
            <a:ext cx="4826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13"/>
            </p:custDataLst>
          </p:nvPr>
        </p:nvSpPr>
        <p:spPr>
          <a:xfrm>
            <a:off x="2062480" y="1483995"/>
            <a:ext cx="228600" cy="9525"/>
          </a:xfrm>
          <a:prstGeom prst="rect">
            <a:avLst/>
          </a:prstGeom>
          <a:solidFill>
            <a:schemeClr val="accent1">
              <a:alpha val="50001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WM_TEMPLATE_SUBCATEGORY" val="31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i"/>
  <p:tag name="KSO_WM_UNIT_INDEX" val="61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i"/>
  <p:tag name="KSO_WM_UNIT_INDEX" val="63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i"/>
  <p:tag name="KSO_WM_UNIT_INDEX" val="65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i"/>
  <p:tag name="KSO_WM_UNIT_INDEX" val="69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i"/>
  <p:tag name="KSO_WM_UNIT_INDEX" val="71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i"/>
  <p:tag name="KSO_WM_UNIT_INDEX" val="73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heme/theme1.xml><?xml version="1.0" encoding="utf-8"?>
<a:theme xmlns:a="http://schemas.openxmlformats.org/drawingml/2006/main" name="1_WPS">
  <a:themeElements>
    <a:clrScheme name="">
      <a:dk1>
        <a:srgbClr val="FFFFFF"/>
      </a:dk1>
      <a:lt1>
        <a:srgbClr val="FFFFFF"/>
      </a:lt1>
      <a:dk2>
        <a:srgbClr val="1B3A5C"/>
      </a:dk2>
      <a:lt2>
        <a:srgbClr val="F0F4FA"/>
      </a:lt2>
      <a:accent1>
        <a:srgbClr val="1A73E8"/>
      </a:accent1>
      <a:accent2>
        <a:srgbClr val="00A8C8"/>
      </a:accent2>
      <a:accent3>
        <a:srgbClr val="6C5CE7"/>
      </a:accent3>
      <a:accent4>
        <a:srgbClr val="F2994A"/>
      </a:accent4>
      <a:accent5>
        <a:srgbClr val="27AE60"/>
      </a:accent5>
      <a:accent6>
        <a:srgbClr val="EB5757"/>
      </a:accent6>
      <a:hlink>
        <a:srgbClr val="FFFFFF"/>
      </a:hlink>
      <a:folHlink>
        <a:srgbClr val="FFFFFF"/>
      </a:folHlink>
    </a:clrScheme>
    <a:fontScheme name="">
      <a:majorFont>
        <a:latin typeface="MiSans Demibold"/>
        <a:ea typeface="MiSans Demibold"/>
        <a:cs typeface=""/>
      </a:majorFont>
      <a:minorFont>
        <a:latin typeface="MiSans Normal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5577</Words>
  <Application>WPS 演示</Application>
  <PresentationFormat>宽屏</PresentationFormat>
  <Paragraphs>1096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Arial</vt:lpstr>
      <vt:lpstr>宋体</vt:lpstr>
      <vt:lpstr>Wingdings</vt:lpstr>
      <vt:lpstr>MiSans Demibold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 </cp:lastModifiedBy>
  <dcterms:created xsi:type="dcterms:W3CDTF">2026-09-02T02:27:22Z</dcterms:created>
  <dcterms:modified xsi:type="dcterms:W3CDTF">2026-09-02T02:27:22Z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2052-12.9.0.25368</vt:lpwstr>
  </property>
  <property fmtid="{D5CDD505-2E9C-101B-9397-08002B2CF9AE}" pid="3" name="ICV">
    <vt:lpwstr>552DCA839430DDC58989976AE52F5E19_41</vt:lpwstr>
  </property>
  <property fmtid="{D5CDD505-2E9C-101B-9397-08002B2CF9AE}" pid="4" name="intentionCode">
    <vt:lpwstr>wps_wpp_generate_html_ppt_doc</vt:lpwstr>
  </property>
  <property fmtid="{D5CDD505-2E9C-101B-9397-08002B2CF9AE}" pid="5" name="KSOAIPPTCode">
    <vt:lpwstr>Pq4OMwB6r/+1rsiJgI/HAXYXfqCsidKbVr1SR5ZMsUD0S+91Hw8ppZoLCHDtXs9jt+oKNOBGh0B462bzJv0zqydbQAAGJBE2eooTn6VD682mt8eMHpD3zGO37fM3JYoW2AnCC50VpTd+xvJPi7PTy+OPyP469cNWxUCkut57Ash0hQ3yX/FItdEGKkrsCInrQhhbpifnhEYnZzNF1Zuwb1E7CXPry/EBqC/sk42UXfSRT+DiEX39nVLxGw3TLATOzI1tebdIXER7pzpdvrkUiMQ2IYW+OSX6o+NtSrzhbbb5fb3xyMPoG9JpYZz3Vwxmk5G7k3SauFEPHcBBasc/Iw==</vt:lpwstr>
  </property>
</Properties>
</file>